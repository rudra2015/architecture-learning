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5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49" y="-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2E8F0"/>
                </a:solidFill>
                <a:latin typeface="Arial"/>
              </a:rPr>
              <a:t>p95 latency by optimisation phase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(ms)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B8-46B8-8BB3-D756B1CA2ABE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B8-46B8-8BB3-D756B1CA2ABE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B8-46B8-8BB3-D756B1CA2ABE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B8-46B8-8BB3-D756B1CA2A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+ Parallel</c:v>
                </c:pt>
                <c:pt idx="2">
                  <c:v>+ Caching</c:v>
                </c:pt>
                <c:pt idx="3">
                  <c:v>+ gRPC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850</c:v>
                </c:pt>
                <c:pt idx="1">
                  <c:v>380</c:v>
                </c:pt>
                <c:pt idx="2">
                  <c:v>260</c:v>
                </c:pt>
                <c:pt idx="3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B8-46B8-8BB3-D756B1CA2A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6350" cap="flat">
              <a:solidFill>
                <a:srgbClr val="3141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C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98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an architecture briefing, not a tuning checklist. The through-line is that most enterprise latency is structural — how we sequence calls, where we place state, and which failures we let propagate. All numbers are illustrative of a dashboard aggregation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message: we are not asking for more infrastructure. The roadmap is sequenced deliberately — parallelism and caching return the most latency for the least risk, resilience patterns come once traffic patterns change. Outcome figures are the targets we would hold ourselves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shape of most enterprise aggregation endpoints. Note the two separate problems: the wall-clock latency, and the thread held hostage. They need different fixes — parallelism for the first, isolation and async for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highest-return change we can make. Caveats matter more than the pattern: independence must be verified, the executor must be dedicated, and each branch needs its own timeout and fallback or you have simply moved the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mode this prevents is the classic cascading outage: one slow dependency consumes the shared pool, and endpoints that never touch that dependency start timing out. Pool sizing is the part teams get wrong — it is a function of the dependency, not of our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tiering is about blast radius as much as latency. L1 is fast but per-instance and inconsistent across pods; L2 is shared and consistent but adds a network hop. Event-driven refresh is what lets us hold a long TTL on data that changes rarely but must be right when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artefact I would actually take to a design review. The conversation it forces — how stale can this be before someone is harmed — is more valuable than the caching technology we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discipline here is deciding what genuinely belongs off the request path. Teams over-apply this and end up with a distributed system where nobody can answer 'did it happen?'. Idempotency and a dead-letter strategy are non-negotiable prerequisites.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payload and serialisation numbers are where the win comes from on chatty internal paths — HTTP/2 multiplexing matters most when one aggregation makes many calls. Do not let this become a mandate; the counterpoint box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argument to leadership is consistency and audit, not cleverness. Resilience config scattered across 30 repos cannot be reasoned about during an incident. Resilience4j or equivalent underneath — the SDK is the opinionated wrapper and the metrics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fallback. A breaker without a defined fallback just converts a timeout into a 503 faster. The design work is deciding, per dependency, what a degraded-but-useful response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NGINX-plus-gateway split is worth defending: edge concerns (TLS, static, raw connection handling) belong in something built for connections; API concerns (auth, quota, versioning) belong in something built for policy. The Zuul point usually lands well with architects who have lived through a blocking filter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right, then down. The key claim: no single pattern here is novel — the value is that they compose, and that observability is a first-class rail rather than an afterthought bolted on during the first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in the room that these are illustrative. The credible version of this slide is our own baseline plus a target — which is why the closing note is about measurement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sequencing point. The ask is not a platform programme — it is permission to instrument one endpoint and prove the first pattern, with the roadmap as the direction of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 •  ENGINEERING LEADERSHIP BRIEFING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Latency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Design Patterns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high-scale enterprise microservices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1248156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1248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APIs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61972" y="3703320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61972" y="3703320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Cache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3703320"/>
            <a:ext cx="1248156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0" y="3703320"/>
            <a:ext cx="1248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Kafka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5212" y="370332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5212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Isolation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95144" y="4160520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95144" y="4160520"/>
            <a:ext cx="1714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Patterns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37660" y="4160520"/>
            <a:ext cx="1248156" cy="347472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37660" y="4160520"/>
            <a:ext cx="1248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Engineering Directors · Principal Engineers · Solution Architects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1937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based on a banking dashboard aggregation workload.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1417320"/>
            <a:ext cx="3611880" cy="4023360"/>
          </a:xfrm>
          <a:prstGeom prst="roundRect">
            <a:avLst>
              <a:gd name="adj" fmla="val 1519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75320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p95 RESPONSE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66960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 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75320" y="23957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7532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2862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75320" y="3172968"/>
            <a:ext cx="804672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079992" y="3172968"/>
            <a:ext cx="2304288" cy="274320"/>
          </a:xfrm>
          <a:prstGeom prst="roundRect">
            <a:avLst>
              <a:gd name="adj" fmla="val 20000"/>
            </a:avLst>
          </a:prstGeom>
          <a:solidFill>
            <a:srgbClr val="2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75320" y="3794760"/>
            <a:ext cx="3108960" cy="0"/>
          </a:xfrm>
          <a:prstGeom prst="line">
            <a:avLst/>
          </a:prstGeom>
          <a:noFill/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7532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5400" dirty="0"/>
          </a:p>
        </p:txBody>
      </p:sp>
      <p:sp>
        <p:nvSpPr>
          <p:cNvPr id="33" name="Text 31"/>
          <p:cNvSpPr/>
          <p:nvPr/>
        </p:nvSpPr>
        <p:spPr>
          <a:xfrm>
            <a:off x="827532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removed without adding a single server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our latency is architectural, not infrastructural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recurring patterns account for the majority of p95 on aggregation endpoints.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86400" cy="3520440"/>
          </a:xfrm>
          <a:prstGeom prst="roundRect">
            <a:avLst>
              <a:gd name="adj" fmla="val 1558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— where the time goes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2103120"/>
            <a:ext cx="310896" cy="310896"/>
          </a:xfrm>
          <a:prstGeom prst="ellipse">
            <a:avLst/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99" y="2190171"/>
            <a:ext cx="136794" cy="1367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20756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downstream calls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98448" y="2276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widget waits for the previous one to finish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41248" y="2651760"/>
            <a:ext cx="310896" cy="310896"/>
          </a:xfrm>
          <a:prstGeom prst="ellipse">
            <a:avLst/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9" y="2738811"/>
            <a:ext cx="136794" cy="1367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624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blocking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298448" y="2825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threads held idle for the full fan-out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41248" y="3200400"/>
            <a:ext cx="310896" cy="310896"/>
          </a:xfrm>
          <a:prstGeom prst="ellipse">
            <a:avLst/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99" y="3287451"/>
            <a:ext cx="136794" cy="1367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172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cache tier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298448" y="33741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re-derives data that rarely changes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41248" y="3749040"/>
            <a:ext cx="310896" cy="310896"/>
          </a:xfrm>
          <a:prstGeom prst="ellipse">
            <a:avLst/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299" y="3836091"/>
            <a:ext cx="136794" cy="1367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37216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JSON payloads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298448" y="39227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and transfer cost on every internal hop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41248" y="4297680"/>
            <a:ext cx="310896" cy="310896"/>
          </a:xfrm>
          <a:prstGeom prst="ellipse">
            <a:avLst/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299" y="4384731"/>
            <a:ext cx="136794" cy="1367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42702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service calls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298448" y="44714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profile fetched three times per page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309360" y="1481328"/>
            <a:ext cx="5330952" cy="3520440"/>
          </a:xfrm>
          <a:prstGeom prst="roundRect">
            <a:avLst>
              <a:gd name="adj" fmla="val 1558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6583680" y="1691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 — measurable outcomes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583680" y="2121408"/>
            <a:ext cx="4782312" cy="566928"/>
          </a:xfrm>
          <a:prstGeom prst="roundRect">
            <a:avLst>
              <a:gd name="adj" fmla="val 8065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6784848" y="21214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p95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869680" y="21214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ms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829800" y="2121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14984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ms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6583680" y="2779776"/>
            <a:ext cx="4782312" cy="566928"/>
          </a:xfrm>
          <a:prstGeom prst="roundRect">
            <a:avLst>
              <a:gd name="adj" fmla="val 8065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6784848" y="27797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ratio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8869680" y="27797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9829800" y="277977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149840" y="277977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6583680" y="3438144"/>
            <a:ext cx="4782312" cy="566928"/>
          </a:xfrm>
          <a:prstGeom prst="roundRect">
            <a:avLst>
              <a:gd name="adj" fmla="val 8065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6784848" y="34381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payload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8869680" y="34381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9829800" y="343814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10149840" y="343814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Protobuf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6583680" y="4096512"/>
            <a:ext cx="4782312" cy="566928"/>
          </a:xfrm>
          <a:prstGeom prst="roundRect">
            <a:avLst>
              <a:gd name="adj" fmla="val 8065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9"/>
          <p:cNvSpPr/>
          <p:nvPr/>
        </p:nvSpPr>
        <p:spPr>
          <a:xfrm>
            <a:off x="6784848" y="40965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8869680" y="4096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9829800" y="409651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10149840" y="40965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566928" y="5138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ROADMAP</a:t>
            </a:r>
            <a:endParaRPr lang="en-US" sz="950" dirty="0"/>
          </a:p>
        </p:txBody>
      </p:sp>
      <p:sp>
        <p:nvSpPr>
          <p:cNvPr id="51" name="Shape 44"/>
          <p:cNvSpPr/>
          <p:nvPr/>
        </p:nvSpPr>
        <p:spPr>
          <a:xfrm>
            <a:off x="548640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3A1A1A"/>
          </a:solidFill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5"/>
          <p:cNvSpPr/>
          <p:nvPr/>
        </p:nvSpPr>
        <p:spPr>
          <a:xfrm>
            <a:off x="548640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1833372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47"/>
          <p:cNvSpPr/>
          <p:nvPr/>
        </p:nvSpPr>
        <p:spPr>
          <a:xfrm>
            <a:off x="1947672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8"/>
          <p:cNvSpPr/>
          <p:nvPr/>
        </p:nvSpPr>
        <p:spPr>
          <a:xfrm>
            <a:off x="1947672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3232404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0"/>
          <p:cNvSpPr/>
          <p:nvPr/>
        </p:nvSpPr>
        <p:spPr>
          <a:xfrm>
            <a:off x="3346704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1"/>
          <p:cNvSpPr/>
          <p:nvPr/>
        </p:nvSpPr>
        <p:spPr>
          <a:xfrm>
            <a:off x="3346704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4631436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3"/>
          <p:cNvSpPr/>
          <p:nvPr/>
        </p:nvSpPr>
        <p:spPr>
          <a:xfrm>
            <a:off x="4745736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4"/>
          <p:cNvSpPr/>
          <p:nvPr/>
        </p:nvSpPr>
        <p:spPr>
          <a:xfrm>
            <a:off x="4745736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6030468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56"/>
          <p:cNvSpPr/>
          <p:nvPr/>
        </p:nvSpPr>
        <p:spPr>
          <a:xfrm>
            <a:off x="6144768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7"/>
          <p:cNvSpPr/>
          <p:nvPr/>
        </p:nvSpPr>
        <p:spPr>
          <a:xfrm>
            <a:off x="6144768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7429500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59"/>
          <p:cNvSpPr/>
          <p:nvPr/>
        </p:nvSpPr>
        <p:spPr>
          <a:xfrm>
            <a:off x="7543800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0"/>
          <p:cNvSpPr/>
          <p:nvPr/>
        </p:nvSpPr>
        <p:spPr>
          <a:xfrm>
            <a:off x="7543800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8828532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2"/>
          <p:cNvSpPr/>
          <p:nvPr/>
        </p:nvSpPr>
        <p:spPr>
          <a:xfrm>
            <a:off x="8942832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3"/>
          <p:cNvSpPr/>
          <p:nvPr/>
        </p:nvSpPr>
        <p:spPr>
          <a:xfrm>
            <a:off x="8942832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71" name="Shape 64"/>
          <p:cNvSpPr/>
          <p:nvPr/>
        </p:nvSpPr>
        <p:spPr>
          <a:xfrm>
            <a:off x="10227564" y="5769864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5"/>
          <p:cNvSpPr/>
          <p:nvPr/>
        </p:nvSpPr>
        <p:spPr>
          <a:xfrm>
            <a:off x="10341864" y="5440680"/>
            <a:ext cx="1271016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66"/>
          <p:cNvSpPr/>
          <p:nvPr/>
        </p:nvSpPr>
        <p:spPr>
          <a:xfrm>
            <a:off x="10341864" y="54406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aggregation: latency is the sum of every hop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calls four domain services one after another on a single request thread.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200400" cy="3246120"/>
          </a:xfrm>
          <a:prstGeom prst="roundRect">
            <a:avLst>
              <a:gd name="adj" fmla="val 1714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path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2651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388413"/>
            <a:ext cx="26517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48840" y="2670048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292608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962656"/>
            <a:ext cx="2651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211373"/>
            <a:ext cx="26517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routing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48840" y="3493008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2651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Service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034333"/>
            <a:ext cx="26517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then, one at a time: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1481328"/>
            <a:ext cx="7616952" cy="3246120"/>
          </a:xfrm>
          <a:prstGeom prst="roundRect">
            <a:avLst>
              <a:gd name="adj" fmla="val 169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0" y="1691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timeline — one request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850 ms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97680" y="21488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2176272"/>
            <a:ext cx="1369448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2176272"/>
            <a:ext cx="1369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25694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4368" y="2596896"/>
            <a:ext cx="1513601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44368" y="2596896"/>
            <a:ext cx="15136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29900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7969" y="3017520"/>
            <a:ext cx="1585677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957969" y="3017520"/>
            <a:ext cx="15856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0" y="34107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43647" y="3438144"/>
            <a:ext cx="1657753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543647" y="3438144"/>
            <a:ext cx="16577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3913632"/>
            <a:ext cx="6126480" cy="0"/>
          </a:xfrm>
          <a:prstGeom prst="line">
            <a:avLst/>
          </a:prstGeom>
          <a:noFill/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0" y="3950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835640" y="39502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ms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97680" y="42611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thread is blocked for the entire 850 ms — it does no work, it only waits.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919472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77240" y="50474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is additive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7240" y="5303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widget adds its full round-trip to p95.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4919472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26280" y="50474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sit idle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26280" y="5303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threads exhaust under load even at low CPU.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4919472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75320" y="50474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is total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275320" y="5303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dependency stalls the whole page.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60533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77240" y="605332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parallel: a banking dashboard or a Netflix home page — one screen, many independent domain reads.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01 · PARALLEL EXECUTION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out independent calls; wait once, not four times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four calls have no data dependency between them, sequencing them is a self-inflicted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and aggregate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688336"/>
            <a:ext cx="141732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94111"/>
            <a:ext cx="14173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63240" y="2084832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63240" y="2084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980944"/>
            <a:ext cx="731520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63240" y="26517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6324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980944"/>
            <a:ext cx="731520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063240" y="321868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63240" y="32186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980944"/>
            <a:ext cx="731520" cy="466344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63240" y="378561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063240" y="37856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980944"/>
            <a:ext cx="731520" cy="1033272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26280" y="2651760"/>
            <a:ext cx="914400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26280" y="26517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2313432"/>
            <a:ext cx="128016" cy="667512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70832" y="2880360"/>
            <a:ext cx="128016" cy="100584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370832" y="3447288"/>
            <a:ext cx="128016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70832" y="4014216"/>
            <a:ext cx="128016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4160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CompletableFuture.allOf(...).join()   ·   or Reactor Mono.zip(...)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481328"/>
            <a:ext cx="5696712" cy="3200400"/>
          </a:xfrm>
          <a:prstGeom prst="roundRect">
            <a:avLst>
              <a:gd name="adj" fmla="val 1714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99632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timeline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1832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230 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99632" y="2103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2130552"/>
            <a:ext cx="817581" cy="237744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840173" y="21305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9632" y="24871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2514600"/>
            <a:ext cx="903642" cy="237744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926234" y="2514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2871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9440" y="2898648"/>
            <a:ext cx="946673" cy="237744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969265" y="2898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9632" y="32552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3282696"/>
            <a:ext cx="989704" cy="237744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012296" y="32826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ms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39144" y="2048256"/>
            <a:ext cx="0" cy="1554480"/>
          </a:xfrm>
          <a:prstGeom prst="line">
            <a:avLst/>
          </a:prstGeom>
          <a:noFill/>
          <a:ln w="1270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199632" y="3703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clock = slowest call, not the sum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99632" y="4023360"/>
            <a:ext cx="5184648" cy="502920"/>
          </a:xfrm>
          <a:prstGeom prst="roundRect">
            <a:avLst>
              <a:gd name="adj" fmla="val 9091"/>
            </a:avLst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99632" y="402336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 ms → 230 ms   ·   73% reduction, same infrastructure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4892040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77240" y="50200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independent calls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77240" y="5276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data dependency stays sequential.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4892040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26280" y="50200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its own executor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26280" y="5276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fan-out on the common ForkJoinPool.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0" y="4892040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275320" y="50200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per branch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275320" y="5276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branch must degrade, not extend, the response.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60533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77240" y="605332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60–80% latency reduction on aggregation endpoints · better CPU utilisation · perceived responsiveness improves immediately.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02 · THREAD ISOLATION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pools per dependency — the bulkhead pattern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pool means one sick dependency can take down every endpoint that shares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657600" cy="3977640"/>
          </a:xfrm>
          <a:prstGeom prst="roundRect">
            <a:avLst>
              <a:gd name="adj" fmla="val 1500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pools, two jobs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handler pool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/ Netty threads that accept HTTP requests. Sized for concurrency of incoming traffic. Should never block on I/O.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client pools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pool per downstream dependency. Sized from that dependency's latency and throughput, not from traffic volume.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3200400" cy="1097280"/>
          </a:xfrm>
          <a:prstGeom prst="roundRect">
            <a:avLst>
              <a:gd name="adj" fmla="val 4167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4251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 principle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4988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Compartmentalise resources so a flood in one compartment cannot sink the ship.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481328"/>
            <a:ext cx="7205472" cy="3977640"/>
          </a:xfrm>
          <a:prstGeom prst="roundRect">
            <a:avLst>
              <a:gd name="adj" fmla="val 1379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in practice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1709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is degraded — only its pool saturates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672084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request handler pool   ·   200 threads   ·   non-blocking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28432" y="2596896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0" y="2889504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0" y="28895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Service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28432" y="3383280"/>
            <a:ext cx="0" cy="384048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1B263B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3877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4096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threads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 use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4562856"/>
            <a:ext cx="1188720" cy="100584"/>
          </a:xfrm>
          <a:prstGeom prst="roundRect">
            <a:avLst>
              <a:gd name="adj" fmla="val 45455"/>
            </a:avLst>
          </a:prstGeom>
          <a:solidFill>
            <a:srgbClr val="2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4562856"/>
            <a:ext cx="475488" cy="100584"/>
          </a:xfrm>
          <a:prstGeom prst="roundRect">
            <a:avLst>
              <a:gd name="adj" fmla="val 4545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028432" y="3383280"/>
            <a:ext cx="0" cy="384048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73368" y="3785616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1B263B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73368" y="3877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73368" y="4096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threads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73368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 use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56248" y="4562856"/>
            <a:ext cx="1188720" cy="100584"/>
          </a:xfrm>
          <a:prstGeom prst="roundRect">
            <a:avLst>
              <a:gd name="adj" fmla="val 45455"/>
            </a:avLst>
          </a:prstGeom>
          <a:solidFill>
            <a:srgbClr val="2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56248" y="4562856"/>
            <a:ext cx="356616" cy="100584"/>
          </a:xfrm>
          <a:prstGeom prst="roundRect">
            <a:avLst>
              <a:gd name="adj" fmla="val 4545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028432" y="3383280"/>
            <a:ext cx="832104" cy="384048"/>
          </a:xfrm>
          <a:prstGeom prst="line">
            <a:avLst/>
          </a:prstGeom>
          <a:noFill/>
          <a:ln w="15875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083296" y="3785616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3A1A1A"/>
          </a:solidFill>
          <a:ln w="177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083296" y="3877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83296" y="4096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threads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83296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 use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66176" y="4562856"/>
            <a:ext cx="1188720" cy="100584"/>
          </a:xfrm>
          <a:prstGeom prst="roundRect">
            <a:avLst>
              <a:gd name="adj" fmla="val 45455"/>
            </a:avLst>
          </a:prstGeom>
          <a:solidFill>
            <a:srgbClr val="2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66176" y="4562856"/>
            <a:ext cx="1188720" cy="100584"/>
          </a:xfrm>
          <a:prstGeom prst="roundRect">
            <a:avLst>
              <a:gd name="adj" fmla="val 45455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028432" y="3383280"/>
            <a:ext cx="2542032" cy="384048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9793224" y="3785616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1B263B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9793224" y="3877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pool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93224" y="4096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threads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793224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use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76104" y="4562856"/>
            <a:ext cx="1188720" cy="100584"/>
          </a:xfrm>
          <a:prstGeom prst="roundRect">
            <a:avLst>
              <a:gd name="adj" fmla="val 45455"/>
            </a:avLst>
          </a:prstGeom>
          <a:solidFill>
            <a:srgbClr val="2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9976104" y="4562856"/>
            <a:ext cx="356616" cy="100584"/>
          </a:xfrm>
          <a:prstGeom prst="roundRect">
            <a:avLst>
              <a:gd name="adj" fmla="val 4545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663440" y="493776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requests queue and fail fast. Profile, Account and Card keep serving — the page degrades, it does not go down.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60533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77240" y="605332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rule of thumb: threads ≈ target throughput (req/s) × p99 latency (s), plus headroom. Re-derive it whenever the dependency's SLA changes.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03 · MULTI-LEVEL CACHE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from the closest tier that can still be correct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in-process for hot keys, L2 distributed for shared state, origin only when both miss.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965960"/>
          </a:xfrm>
          <a:prstGeom prst="roundRect">
            <a:avLst>
              <a:gd name="adj" fmla="val 2791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52344" y="2322576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72968" y="196596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72968" y="2002536"/>
            <a:ext cx="182880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2336841"/>
            <a:ext cx="1828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72968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56632" y="2322576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77256" y="196596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B26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77256" y="2002536"/>
            <a:ext cx="182880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Caffeine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77256" y="2336841"/>
            <a:ext cx="1828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77256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60920" y="2322576"/>
            <a:ext cx="36576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81544" y="196596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B26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81544" y="2002536"/>
            <a:ext cx="182880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Redis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81544" y="2336841"/>
            <a:ext cx="1828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81544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65208" y="2322576"/>
            <a:ext cx="36576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085832" y="196596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85832" y="2002536"/>
            <a:ext cx="182880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85832" y="2336841"/>
            <a:ext cx="1828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85832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 TARGET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1627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≈ 60%   ·   L2 ≈ 25%   ·   origin ≈ 15%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11880"/>
            <a:ext cx="2660904" cy="2240280"/>
          </a:xfrm>
          <a:prstGeom prst="roundRect">
            <a:avLst>
              <a:gd name="adj" fmla="val 2449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77240" y="3822192"/>
            <a:ext cx="384048" cy="384048"/>
          </a:xfrm>
          <a:prstGeom prst="ellipse">
            <a:avLst/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" y="3929725"/>
            <a:ext cx="168981" cy="168981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772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aside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77240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through the cache; on miss, load from origin and populate. The application owns the contract, not the cache.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364992" y="3611880"/>
            <a:ext cx="2660904" cy="2240280"/>
          </a:xfrm>
          <a:prstGeom prst="roundRect">
            <a:avLst>
              <a:gd name="adj" fmla="val 2449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3593592" y="3822192"/>
            <a:ext cx="384048" cy="384048"/>
          </a:xfrm>
          <a:prstGeom prst="ellipse">
            <a:avLst/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125" y="3929725"/>
            <a:ext cx="168981" cy="168981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593592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3593592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cached until first requested. Cheap to run, but the first user pays and cold starts hurt.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6181344" y="3611880"/>
            <a:ext cx="2660904" cy="2240280"/>
          </a:xfrm>
          <a:prstGeom prst="roundRect">
            <a:avLst>
              <a:gd name="adj" fmla="val 2449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>
            <a:off x="6409944" y="3822192"/>
            <a:ext cx="384048" cy="384048"/>
          </a:xfrm>
          <a:prstGeom prst="ellipse">
            <a:avLst/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477" y="3929725"/>
            <a:ext cx="168981" cy="168981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409944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warming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6409944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known-hot keys at startup or on a schedule so peak traffic never hits a cold cache.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8997696" y="3611880"/>
            <a:ext cx="2660904" cy="2240280"/>
          </a:xfrm>
          <a:prstGeom prst="roundRect">
            <a:avLst>
              <a:gd name="adj" fmla="val 2449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3"/>
          <p:cNvSpPr/>
          <p:nvPr/>
        </p:nvSpPr>
        <p:spPr>
          <a:xfrm>
            <a:off x="9226296" y="3822192"/>
            <a:ext cx="384048" cy="384048"/>
          </a:xfrm>
          <a:prstGeom prst="ellipse">
            <a:avLst/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829" y="3929725"/>
            <a:ext cx="168981" cy="168981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226296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refresh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9226296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event invalidates or repopulates the key. Removes the trade-off between TTL and freshness.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548640" y="60533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7"/>
          <p:cNvSpPr/>
          <p:nvPr/>
        </p:nvSpPr>
        <p:spPr>
          <a:xfrm>
            <a:off x="777240" y="605332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cache the read, never the decision. Anything that authorises, prices, or moves money reads from source of truth.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03 · CACHE POLICY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is a business decision, not a tuning parameter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cached entity needs an explicit owner, a stated staleness tolerance, and an invalidation trigger.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1091672" cy="384048"/>
          </a:xfrm>
          <a:prstGeom prst="rect">
            <a:avLst/>
          </a:prstGeom>
          <a:solidFill>
            <a:srgbClr val="2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0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89520" y="1536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VALUE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993392"/>
            <a:ext cx="11091672" cy="713232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11091672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19933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1854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0" y="21854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99339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aside + event refresh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199339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rare and always arrive as a domain event.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11091672" cy="713232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11091672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27432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content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29352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0" y="2935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7432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aside + warming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27432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Campaign-driven; an hour of staleness is commercially acceptable.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493008"/>
            <a:ext cx="11091672" cy="713232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1091672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7240" y="34930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0" y="368503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0" y="36850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4930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TTL, read-through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349300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tolerate seconds, not minutes. Bounded staleness only.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242816"/>
            <a:ext cx="11091672" cy="713232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48640" y="4956048"/>
            <a:ext cx="11091672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77240" y="424281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0" y="4434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0" y="4434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2428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older pages only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89520" y="424281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is volatile; archived pages are immutable and cheap to hold.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992624"/>
            <a:ext cx="11091672" cy="713232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8640" y="5705856"/>
            <a:ext cx="11091672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7240" y="4992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transfers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0" y="51846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57600" y="5184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4992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 source of truth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89520" y="499262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and auditability outrank latency, without exception.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815584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77240" y="5971032"/>
            <a:ext cx="347472" cy="347472"/>
          </a:xfrm>
          <a:prstGeom prst="ellipse">
            <a:avLst/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" y="6068324"/>
            <a:ext cx="152888" cy="152888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280160" y="581558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no entity enters the cache without a named owner and a documented staleness tolerance. Review the table each quarter — TTLs rot as the business changes.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04 · ASYNCHRONOUS 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fast, finish the rest off the request 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Notification, analytics and audit do not need to complete before the user gets a response.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synchronous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822960" cy="384048"/>
          </a:xfrm>
          <a:prstGeom prst="roundRect">
            <a:avLst>
              <a:gd name="adj" fmla="val 9524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27632" y="1965960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27632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9504" y="1965960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89504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51376" y="196596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51376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24505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waits 900 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481328"/>
            <a:ext cx="5696712" cy="1417320"/>
          </a:xfrm>
          <a:prstGeom prst="roundRect">
            <a:avLst>
              <a:gd name="adj" fmla="val 387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event-driven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965960"/>
            <a:ext cx="822960" cy="384048"/>
          </a:xfrm>
          <a:prstGeom prst="roundRect">
            <a:avLst>
              <a:gd name="adj" fmla="val 9524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7220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22592" y="1965960"/>
            <a:ext cx="320040" cy="384048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06640" y="1965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66760" y="1965960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66760" y="1965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process independently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2450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waits 120 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090672"/>
            <a:ext cx="6949440" cy="2697480"/>
          </a:xfrm>
          <a:prstGeom prst="roundRect">
            <a:avLst>
              <a:gd name="adj" fmla="val 2034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724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flow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397764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4014216"/>
            <a:ext cx="155448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4319991"/>
            <a:ext cx="155448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32304" y="4306824"/>
            <a:ext cx="38404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871216" y="3703320"/>
            <a:ext cx="1417320" cy="1234440"/>
          </a:xfrm>
          <a:prstGeom prst="roundRect">
            <a:avLst>
              <a:gd name="adj" fmla="val 3704"/>
            </a:avLst>
          </a:prstGeom>
          <a:solidFill>
            <a:srgbClr val="3A2A0C"/>
          </a:solidFill>
          <a:ln w="203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871216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71216" y="4206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orders.v1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customer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0" y="3712464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0" y="37124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43400" y="4315968"/>
            <a:ext cx="621792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029200" y="4169664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029200" y="4169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4315968"/>
            <a:ext cx="621792" cy="45720"/>
          </a:xfrm>
          <a:prstGeom prst="line">
            <a:avLst/>
          </a:prstGeom>
          <a:noFill/>
          <a:ln w="15875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029200" y="4626864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29200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43400" y="4315968"/>
            <a:ext cx="621792" cy="502920"/>
          </a:xfrm>
          <a:prstGeom prst="line">
            <a:avLst/>
          </a:prstGeom>
          <a:noFill/>
          <a:ln w="15875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22960" y="5138928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consumer group commits its own offset — a slow consumer never blocks the others.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0" y="3090672"/>
            <a:ext cx="3867912" cy="2697480"/>
          </a:xfrm>
          <a:prstGeom prst="roundRect">
            <a:avLst>
              <a:gd name="adj" fmla="val 2034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001000" y="3273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gain — and owe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001000" y="363931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Decoupling: producers ship without consumer release coordination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and dead-letter handling become infrastructure, not code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traffic spikes — the topic is the buffer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01000" y="4800600"/>
            <a:ext cx="3383280" cy="0"/>
          </a:xfrm>
          <a:prstGeom prst="line">
            <a:avLst/>
          </a:prstGeom>
          <a:noFill/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001000" y="49011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cost: eventual consistency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01000" y="51389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must be idempotent, and the UI must be honest about what is confirmed versus what is in flight.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60533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77240" y="605332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if a failure in this work should fail the user's request, it is not async work. Payment capture is synchronous; the receipt email is not.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05 · TRANSPORT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at the edge, gRPC between our own services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contracts optimise for reach and debuggability; internal hops optimise for latency.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035040" cy="3063240"/>
          </a:xfrm>
          <a:prstGeom prst="roundRect">
            <a:avLst>
              <a:gd name="adj" fmla="val 1791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boundary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143000" cy="548640"/>
          </a:xfrm>
          <a:prstGeom prst="roundRect">
            <a:avLst>
              <a:gd name="adj" fmla="val 833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2926080"/>
            <a:ext cx="38404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83080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2651760"/>
            <a:ext cx="1188720" cy="548640"/>
          </a:xfrm>
          <a:prstGeom prst="roundRect">
            <a:avLst>
              <a:gd name="adj" fmla="val 833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41448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75888" y="2926080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087368" y="265176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087368" y="2651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2487168"/>
            <a:ext cx="44988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06240" y="2231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boundary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32120" y="208483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32120" y="20848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58384" y="2926080"/>
            <a:ext cx="118872" cy="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32120" y="263347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32120" y="26334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58384" y="2926080"/>
            <a:ext cx="118872" cy="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532120" y="318211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32120" y="31821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58384" y="2926080"/>
            <a:ext cx="118872" cy="45720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532120" y="373075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32120" y="373075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58384" y="2926080"/>
            <a:ext cx="118872" cy="100584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74920" y="4224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/ HTTP2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" y="3611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two contracts: JSON stays on the public side of the boundary, Protobuf on ours. Clients are unaffected by the change.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1481328"/>
            <a:ext cx="4782312" cy="3063240"/>
          </a:xfrm>
          <a:prstGeom prst="roundRect">
            <a:avLst>
              <a:gd name="adj" fmla="val 179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086600" y="16642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time actually goes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052560" y="2011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241280" y="2011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86600" y="2286000"/>
            <a:ext cx="434340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086600" y="2313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52560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241280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multiplexed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86600" y="2715768"/>
            <a:ext cx="434340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086600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52560" y="2743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text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241280" y="2743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binary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86600" y="3145536"/>
            <a:ext cx="434340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086600" y="3172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5256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KB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24128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86600" y="3575304"/>
            <a:ext cx="434340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086600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52560" y="3602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241280" y="3602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86600" y="4005072"/>
            <a:ext cx="434340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86600" y="40325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052560" y="4032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OpenAPI, optional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241280" y="4032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IDL, enforced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086600" y="40416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bidirectional streaming, built-in deadlines, and generated clients in every language we run.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" y="4736592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1B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04672" y="5029200"/>
            <a:ext cx="402336" cy="402336"/>
          </a:xfrm>
          <a:prstGeom prst="ellipse">
            <a:avLst/>
          </a:prstGeom>
          <a:solidFill>
            <a:srgbClr val="3A2A0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6" y="5141854"/>
            <a:ext cx="177028" cy="17702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371600" y="48646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REST internally is still the right call</a:t>
            </a:r>
            <a:endParaRPr lang="en-US" sz="1150" dirty="0"/>
          </a:p>
        </p:txBody>
      </p:sp>
      <p:sp>
        <p:nvSpPr>
          <p:cNvPr id="62" name="Text 59"/>
          <p:cNvSpPr/>
          <p:nvPr/>
        </p:nvSpPr>
        <p:spPr>
          <a:xfrm>
            <a:off x="137160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call volume where the latency win is noise · consumers outside our build toolchain · debuggability matters more than milliseconds · browser clients without a proxy layer. gRPC is an optimisation with a real operational cost — apply it where the traffic justifies 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06 · RESILIENCE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SDK, seven guarantees, every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implemented per team drifts. Implemented once as a platform capability, it is auditable.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858000" cy="4297680"/>
          </a:xfrm>
          <a:prstGeom prst="roundRect">
            <a:avLst>
              <a:gd name="adj" fmla="val 127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call path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71600" y="205740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  ·   business logic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2551176"/>
            <a:ext cx="0" cy="21945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807208"/>
            <a:ext cx="5212080" cy="1572768"/>
          </a:xfrm>
          <a:prstGeom prst="roundRect">
            <a:avLst>
              <a:gd name="adj" fmla="val 3488"/>
            </a:avLst>
          </a:prstGeom>
          <a:solidFill>
            <a:srgbClr val="1B263B"/>
          </a:solidFill>
          <a:ln w="228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0" y="2898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Resilience SDK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36192" y="324612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36192" y="324612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79776" y="324612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79776" y="324612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0" y="324612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23360" y="324612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66944" y="324612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66944" y="324612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Bulkhead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536192" y="374904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536192" y="374904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79776" y="374904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79776" y="374904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23360" y="3749040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111C33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023360" y="374904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77640" y="4416552"/>
            <a:ext cx="0" cy="21945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371600" y="4672584"/>
            <a:ext cx="5212080" cy="411480"/>
          </a:xfrm>
          <a:prstGeom prst="roundRect">
            <a:avLst>
              <a:gd name="adj" fmla="val 11111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371600" y="467258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gRPC client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77640" y="512064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371600" y="5358384"/>
            <a:ext cx="5212080" cy="411480"/>
          </a:xfrm>
          <a:prstGeom prst="roundRect">
            <a:avLst>
              <a:gd name="adj" fmla="val 11111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371600" y="535838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service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148132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90956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909560" y="199339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→ Bulkhead → Circuit breaker → Retry → Timeout → Fallback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0956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inside the breaker, not outside it — otherwise retries keep an unhealthy dependency saturated and the breaker never sees a clean signal.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80960" y="3822192"/>
            <a:ext cx="3959352" cy="1956816"/>
          </a:xfrm>
          <a:prstGeom prst="roundRect">
            <a:avLst>
              <a:gd name="adj" fmla="val 2804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909560" y="4005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SDK, not a library page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909560" y="4334256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safe; overrides are explicit and reviewed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lives in one place — tune without a code release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emits the same metrics and trace spans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upgrade path when a CVE lands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06 · CIRCUIT BREAKER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fast, recover deliberately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breaker converts a slow, resource-consuming failure into a fast, cheap, well-understood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7223760" cy="3291840"/>
          </a:xfrm>
          <a:prstGeom prst="roundRect">
            <a:avLst>
              <a:gd name="adj" fmla="val 166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670048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B26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flows normally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2670048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B263B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54680" y="27980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immediately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2670048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B26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94960" y="27980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with N calls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3104388"/>
            <a:ext cx="402336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23160" y="22860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3104388"/>
            <a:ext cx="402336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22860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975104"/>
            <a:ext cx="0" cy="694944"/>
          </a:xfrm>
          <a:prstGeom prst="line">
            <a:avLst/>
          </a:prstGeom>
          <a:noFill/>
          <a:ln w="177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023360" y="1975104"/>
            <a:ext cx="2240280" cy="0"/>
          </a:xfrm>
          <a:prstGeom prst="line">
            <a:avLst/>
          </a:prstGeom>
          <a:noFill/>
          <a:ln w="177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023360" y="1975104"/>
            <a:ext cx="0" cy="694944"/>
          </a:xfrm>
          <a:prstGeom prst="line">
            <a:avLst/>
          </a:prstGeom>
          <a:noFill/>
          <a:ln w="1778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069080" y="17190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fails → re-open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3538728"/>
            <a:ext cx="0" cy="384048"/>
          </a:xfrm>
          <a:prstGeom prst="line">
            <a:avLst/>
          </a:prstGeom>
          <a:noFill/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783080" y="3922776"/>
            <a:ext cx="4480560" cy="0"/>
          </a:xfrm>
          <a:prstGeom prst="line">
            <a:avLst/>
          </a:prstGeom>
          <a:noFill/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783080" y="3538728"/>
            <a:ext cx="0" cy="384048"/>
          </a:xfrm>
          <a:prstGeom prst="line">
            <a:avLst/>
          </a:prstGeom>
          <a:noFill/>
          <a:ln w="17780">
            <a:solidFill>
              <a:srgbClr val="22C55E"/>
            </a:solidFill>
            <a:prstDash val="solid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26080" y="3959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succeed → close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" y="43159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OPEN, the fallback serves the response — cached last-known-good, a reduced widget, or an honest empty state.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1481328"/>
            <a:ext cx="3593592" cy="3291840"/>
          </a:xfrm>
          <a:prstGeom prst="roundRect">
            <a:avLst>
              <a:gd name="adj" fmla="val 1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75320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configuration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75320" y="2029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0" y="2029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calls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75320" y="2359152"/>
            <a:ext cx="310896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75320" y="2459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threshold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0" y="24597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75320" y="2788920"/>
            <a:ext cx="310896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7532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Slow-call threshold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0" y="2889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 / 60%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75320" y="3218688"/>
            <a:ext cx="310896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275320" y="3319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duration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58400" y="33192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75320" y="3648456"/>
            <a:ext cx="310896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27532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Half-open probes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5840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calls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75320" y="4078224"/>
            <a:ext cx="310896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275320" y="4178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calls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0" y="4178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275320" y="4507992"/>
            <a:ext cx="3108960" cy="10973"/>
          </a:xfrm>
          <a:prstGeom prst="rect">
            <a:avLst/>
          </a:prstGeom>
          <a:solidFill>
            <a:srgbClr val="314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275320" y="4206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per dependency. A breaker inherited from another service's traffic profile will trip wrongly.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4956048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1B26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04672" y="5193792"/>
            <a:ext cx="402336" cy="402336"/>
          </a:xfrm>
          <a:prstGeom prst="ellipse">
            <a:avLst/>
          </a:prstGeom>
          <a:solidFill>
            <a:srgbClr val="1435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6" y="5306446"/>
            <a:ext cx="177028" cy="17702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371600" y="5074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Recommendation Service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1371600" y="53309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degrades under load and it is not business-critical. Breaker opens after 10 failures in 20 calls; the dashboard falls back to a curated static list. Page latency stays at 220 ms and the user never sees an error — they see slightly less personalised content.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at the edge, API Gateway behind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with different jobs — conflating them is why gateway configs become unmaintainable.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508760"/>
          </a:xfrm>
          <a:prstGeom prst="roundRect">
            <a:avLst>
              <a:gd name="adj" fmla="val 3636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partner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15184" y="2267712"/>
            <a:ext cx="38404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054096" y="1828800"/>
            <a:ext cx="3200400" cy="868680"/>
          </a:xfrm>
          <a:prstGeom prst="roundRect">
            <a:avLst>
              <a:gd name="adj" fmla="val 526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54096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45536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L7 load balancing, static assets, DDoS absorption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2267712"/>
            <a:ext cx="38404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748272" y="182880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B263B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4827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39712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 policy and cross-cutting concerns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46336" y="2267712"/>
            <a:ext cx="38404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985248" y="182880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985248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76688" y="2212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31821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RESPONSIBILITIES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9300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49808" y="369417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62" y="3806830"/>
            <a:ext cx="177028" cy="1770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80160" y="349300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64992" y="349300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566160" y="369417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814" y="3806830"/>
            <a:ext cx="177028" cy="1770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096512" y="349300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81344" y="349300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6382512" y="369417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166" y="3806830"/>
            <a:ext cx="177028" cy="17702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12864" y="349300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997696" y="349300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9198864" y="369417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1518" y="3806830"/>
            <a:ext cx="177028" cy="17702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729216" y="349300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48640" y="445312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462" y="4766950"/>
            <a:ext cx="177028" cy="17702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280160" y="44531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3364992" y="445312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3566160" y="465429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8814" y="4766950"/>
            <a:ext cx="177028" cy="17702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096512" y="44531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6181344" y="445312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0"/>
          <p:cNvSpPr/>
          <p:nvPr/>
        </p:nvSpPr>
        <p:spPr>
          <a:xfrm>
            <a:off x="6382512" y="465429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166" y="4766950"/>
            <a:ext cx="177028" cy="17702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912864" y="44531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8997696" y="4453128"/>
            <a:ext cx="2660904" cy="804672"/>
          </a:xfrm>
          <a:prstGeom prst="roundRect">
            <a:avLst>
              <a:gd name="adj" fmla="val 5682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3"/>
          <p:cNvSpPr/>
          <p:nvPr/>
        </p:nvSpPr>
        <p:spPr>
          <a:xfrm>
            <a:off x="9198864" y="465429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1518" y="4766950"/>
            <a:ext cx="177028" cy="17702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729216" y="44531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548640" y="54864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B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6"/>
          <p:cNvSpPr/>
          <p:nvPr/>
        </p:nvSpPr>
        <p:spPr>
          <a:xfrm>
            <a:off x="804672" y="5596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vs. implementation</a:t>
            </a:r>
            <a:endParaRPr lang="en-US" sz="1150" dirty="0"/>
          </a:p>
        </p:txBody>
      </p:sp>
      <p:sp>
        <p:nvSpPr>
          <p:cNvPr id="57" name="Text 47"/>
          <p:cNvSpPr/>
          <p:nvPr/>
        </p:nvSpPr>
        <p:spPr>
          <a:xfrm>
            <a:off x="804672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Gateway" is the pattern: a single policy enforcement point in front of many services. Zuul, Spring Cloud Gateway, Kong and APIM are implementations of it. Choose on operational fit — filter model, async support, ecosystem — not on the label. Zuul 1's blocking filter chain is precisely the thread-blocking problem from slide 03, moved to the edge.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optimised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in one picture — and every hop instrumented.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70432" cy="475488"/>
          </a:xfrm>
          <a:prstGeom prst="roundRect">
            <a:avLst>
              <a:gd name="adj" fmla="val 9615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73936" y="1810512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93392" y="1572768"/>
            <a:ext cx="1170432" cy="475488"/>
          </a:xfrm>
          <a:prstGeom prst="roundRect">
            <a:avLst>
              <a:gd name="adj" fmla="val 9615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93392" y="15727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10512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19856" y="1572768"/>
            <a:ext cx="1417320" cy="475488"/>
          </a:xfrm>
          <a:prstGeom prst="roundRect">
            <a:avLst>
              <a:gd name="adj" fmla="val 9615"/>
            </a:avLst>
          </a:prstGeom>
          <a:solidFill>
            <a:srgbClr val="1B263B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19856" y="15727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73752" y="1810512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93208" y="1572768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93208" y="1609344"/>
            <a:ext cx="160020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93208" y="1820022"/>
            <a:ext cx="16002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78040" y="1389888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78040" y="1389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810512"/>
            <a:ext cx="365760" cy="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78040" y="1920240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78040" y="1920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1810512"/>
            <a:ext cx="365760" cy="32004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78040" y="2450592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178040" y="24505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1810512"/>
            <a:ext cx="365760" cy="850392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178040" y="2980944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78040" y="29809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1810512"/>
            <a:ext cx="365760" cy="1380744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693408" y="3310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93208" y="239572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93208" y="23957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Caffeine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93208" y="2926080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93208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Redis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88736" y="2066544"/>
            <a:ext cx="0" cy="292608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888736" y="2816352"/>
            <a:ext cx="0" cy="914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915400" y="178308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1B263B"/>
          </a:solidFill>
          <a:ln w="1778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915400" y="18745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915400" y="2286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· Postgres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595360" y="219456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993392" y="2331720"/>
            <a:ext cx="2788920" cy="1051560"/>
          </a:xfrm>
          <a:prstGeom prst="roundRect">
            <a:avLst>
              <a:gd name="adj" fmla="val 4348"/>
            </a:avLst>
          </a:prstGeom>
          <a:solidFill>
            <a:srgbClr val="111C33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157984" y="24323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 every outbound call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57984" y="2706624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157984" y="27066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26664" y="2706624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026664" y="27066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895344" y="2706624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895344" y="27066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57984" y="3017520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157984" y="30175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Bulkhead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26664" y="3017520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026664" y="30175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895344" y="3017520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1B263B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895344" y="30175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993392" y="3794760"/>
            <a:ext cx="8156448" cy="457200"/>
          </a:xfrm>
          <a:prstGeom prst="roundRect">
            <a:avLst>
              <a:gd name="adj" fmla="val 10000"/>
            </a:avLst>
          </a:prstGeom>
          <a:solidFill>
            <a:srgbClr val="3A2A0C"/>
          </a:solidFill>
          <a:ln w="203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993392" y="3794760"/>
            <a:ext cx="8156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 ·  event backbone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63840" y="3401568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993392" y="461772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993392" y="4617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24912" y="4279392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703320" y="461772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703320" y="4617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434840" y="4279392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413248" y="461772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413248" y="4617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44768" y="4279392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123176" y="461772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B26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123176" y="4617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854696" y="4279392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10378440" y="1371600"/>
            <a:ext cx="1261872" cy="3648456"/>
          </a:xfrm>
          <a:prstGeom prst="roundRect">
            <a:avLst>
              <a:gd name="adj" fmla="val 4348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10378440" y="151790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OBSERV-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kern="0" spc="8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515600" y="2121408"/>
            <a:ext cx="987552" cy="438912"/>
          </a:xfrm>
          <a:prstGeom prst="roundRect">
            <a:avLst>
              <a:gd name="adj" fmla="val 10417"/>
            </a:avLst>
          </a:prstGeom>
          <a:solidFill>
            <a:srgbClr val="1B263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10515600" y="212140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0515600" y="2651760"/>
            <a:ext cx="987552" cy="438912"/>
          </a:xfrm>
          <a:prstGeom prst="roundRect">
            <a:avLst>
              <a:gd name="adj" fmla="val 10417"/>
            </a:avLst>
          </a:prstGeom>
          <a:solidFill>
            <a:srgbClr val="1B263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10515600" y="265176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515600" y="3182112"/>
            <a:ext cx="987552" cy="438912"/>
          </a:xfrm>
          <a:prstGeom prst="roundRect">
            <a:avLst>
              <a:gd name="adj" fmla="val 10417"/>
            </a:avLst>
          </a:prstGeom>
          <a:solidFill>
            <a:srgbClr val="1B263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10515600" y="318211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metrics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0515600" y="3712464"/>
            <a:ext cx="987552" cy="438912"/>
          </a:xfrm>
          <a:prstGeom prst="roundRect">
            <a:avLst>
              <a:gd name="adj" fmla="val 10417"/>
            </a:avLst>
          </a:prstGeom>
          <a:solidFill>
            <a:srgbClr val="1B263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10515600" y="371246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515600" y="4242816"/>
            <a:ext cx="987552" cy="438912"/>
          </a:xfrm>
          <a:prstGeom prst="roundRect">
            <a:avLst>
              <a:gd name="adj" fmla="val 10417"/>
            </a:avLst>
          </a:prstGeom>
          <a:solidFill>
            <a:srgbClr val="1B263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10515600" y="424281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alerting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66928" y="3246120"/>
            <a:ext cx="1234440" cy="1773936"/>
          </a:xfrm>
          <a:prstGeom prst="roundRect">
            <a:avLst>
              <a:gd name="adj" fmla="val 4444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566928" y="33649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13232" y="370332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896112" y="36576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13232" y="3968496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896112" y="39227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13232" y="423367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896112" y="418795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13232" y="449884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896112" y="445312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13232" y="47640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896112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66928" y="5230368"/>
            <a:ext cx="2660904" cy="621792"/>
          </a:xfrm>
          <a:prstGeom prst="roundRect">
            <a:avLst>
              <a:gd name="adj" fmla="val 7353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731520" y="5294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31520" y="5504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calls, 1 wait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3383280" y="5230368"/>
            <a:ext cx="2660904" cy="621792"/>
          </a:xfrm>
          <a:prstGeom prst="roundRect">
            <a:avLst>
              <a:gd name="adj" fmla="val 7353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3547872" y="5294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ratio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547872" y="5504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6199632" y="5230368"/>
            <a:ext cx="2660904" cy="621792"/>
          </a:xfrm>
          <a:prstGeom prst="roundRect">
            <a:avLst>
              <a:gd name="adj" fmla="val 7353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6364224" y="5294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transport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364224" y="5504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/ Protobuf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9015984" y="5230368"/>
            <a:ext cx="2660904" cy="621792"/>
          </a:xfrm>
          <a:prstGeom prst="roundRect">
            <a:avLst>
              <a:gd name="adj" fmla="val 7353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9180576" y="5294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Breakers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9180576" y="5504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dependency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RESULTS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roadmap is worth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for a dashboard aggregation workload; validate against your own baseline before committing.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60904" cy="1965960"/>
          </a:xfrm>
          <a:prstGeom prst="roundRect">
            <a:avLst>
              <a:gd name="adj" fmla="val 279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P95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ms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faster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1481328"/>
            <a:ext cx="2660904" cy="1965960"/>
          </a:xfrm>
          <a:prstGeom prst="roundRect">
            <a:avLst>
              <a:gd name="adj" fmla="val 279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6160" y="1645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6616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fewer origin reads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481328"/>
            <a:ext cx="2660904" cy="1965960"/>
          </a:xfrm>
          <a:prstGeom prst="roundRect">
            <a:avLst>
              <a:gd name="adj" fmla="val 279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82512" y="1645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PAYLOAD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82512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Protobuf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82512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smaller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97696" y="1481328"/>
            <a:ext cx="2660904" cy="1965960"/>
          </a:xfrm>
          <a:prstGeom prst="roundRect">
            <a:avLst>
              <a:gd name="adj" fmla="val 2791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98864" y="1645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98864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988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98864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less downtime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6766560" cy="2240280"/>
          </a:xfrm>
          <a:prstGeom prst="roundRect">
            <a:avLst>
              <a:gd name="adj" fmla="val 2449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7" name="Chart 0"/>
          <p:cNvGraphicFramePr/>
          <p:nvPr/>
        </p:nvGraphicFramePr>
        <p:xfrm>
          <a:off x="685800" y="3703320"/>
          <a:ext cx="6492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7589520" y="3611880"/>
            <a:ext cx="4050792" cy="2240280"/>
          </a:xfrm>
          <a:prstGeom prst="roundRect">
            <a:avLst>
              <a:gd name="adj" fmla="val 2449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818120" y="3767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Second-order effects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818120" y="4114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headroom recovered — deferred infrastructure spend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thread-exhaustion incidents; shorter MTTR when they occur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Degraded-mode responses replace hard failures during dependency outages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budgets become a design input, not a post-incident finding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60533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77240" y="605332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optimise: establish the baseline in Dynatrace first, then attribute each delta to a specific change. Unattributed wins get argued away.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01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principles to design against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require new infrastructure. All of them require deliberate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746504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" y="1859158"/>
            <a:ext cx="177028" cy="1770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45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Parallelise independent work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25880" y="1901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calls have no data dependency, running them in sequence is a defect.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7240" y="2679192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94" y="2791846"/>
            <a:ext cx="177028" cy="1770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578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with an explicit policy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325880" y="2834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needs an owner, a TTL rationale, and an invalidation trigger.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401568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77240" y="3611880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894" y="3724534"/>
            <a:ext cx="177028" cy="1770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511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non-critical work off the request path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325880" y="3767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fast; complete notification, analytics and audit asynchronously.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8640" y="4334256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77240" y="4544568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894" y="4657222"/>
            <a:ext cx="177028" cy="1770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4439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gRPC where the traffic justifies it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325880" y="47000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 internal hops. Keep REST at the public boundary.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309360" y="1536192"/>
            <a:ext cx="5330952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537960" y="1746504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614" y="1859158"/>
            <a:ext cx="177028" cy="1770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86600" y="16459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resources per dependency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7086600" y="19019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pools mean one sick service degrades one feature, not the platform.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309360" y="2468880"/>
            <a:ext cx="5330952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537960" y="2679192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0614" y="2791846"/>
            <a:ext cx="177028" cy="1770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86600" y="2578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downstream systems by default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7086600" y="2834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Timeout, breaker, fallback — shipped as platform capability, not per team.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309360" y="3401568"/>
            <a:ext cx="5330952" cy="82296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537960" y="3611880"/>
            <a:ext cx="402336" cy="402336"/>
          </a:xfrm>
          <a:prstGeom prst="ellipse">
            <a:avLst/>
          </a:prstGeom>
          <a:solidFill>
            <a:srgbClr val="1B26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0614" y="3724534"/>
            <a:ext cx="177028" cy="17702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86600" y="35112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everything, attribute every gain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7086600" y="37673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baseline and tracing, optimisation is opinion.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309360" y="4334256"/>
            <a:ext cx="5330952" cy="1682496"/>
          </a:xfrm>
          <a:prstGeom prst="roundRect">
            <a:avLst>
              <a:gd name="adj" fmla="val 3261"/>
            </a:avLst>
          </a:prstGeom>
          <a:solidFill>
            <a:srgbClr val="1B26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3"/>
          <p:cNvSpPr/>
          <p:nvPr/>
        </p:nvSpPr>
        <p:spPr>
          <a:xfrm>
            <a:off x="6537960" y="4498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start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6537960" y="482803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one aggregation endpoint, prove the parallel-execution win, then extend the pattern. Sequencing beats scope — a measured 70% on one endpoint buys more support than a platform proposal.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54864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is a design outcome, not an infrastructure problem.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2997</Words>
  <Application>Microsoft Office PowerPoint</Application>
  <PresentationFormat>Widescreen</PresentationFormat>
  <Paragraphs>501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&amp; Latency Optimization Design Patterns</dc:title>
  <dc:subject>PptxGenJS Presentation</dc:subject>
  <dc:creator>Rudra</dc:creator>
  <cp:lastModifiedBy>Rudra Mitra</cp:lastModifiedBy>
  <cp:revision>2</cp:revision>
  <dcterms:created xsi:type="dcterms:W3CDTF">2026-07-30T04:58:52Z</dcterms:created>
  <dcterms:modified xsi:type="dcterms:W3CDTF">2026-07-30T05:01:33Z</dcterms:modified>
</cp:coreProperties>
</file>