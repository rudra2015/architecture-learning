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version leads entirely with what's implemented. The three not-yet-started patterns are named once here and detailed once at the close — nowhere else — so the middle of the deck stays focused on real, working improvements.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 patterns were evaluated across the architecture audit and the frontend/edge review; eight are applied and three are recommended next. The three recommended are named once here and get their own slide at the end rather than being scattered through the middle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summary slide people will screenshot. It only lists the six patterns detailed in this deck — the three recommended additions live solely on the closing slide, by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highest-value pattern from the original patterns discussion, and it's live. Walk the diagram top to bottom: request, fan-out, the slowest call sets the ceiling, then one combined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 in the middle is the point: a hit skips the origin call entirely. Worth saying out loud that the two TTLs (1 min vs 5 min) reflect how fast each data type actually changes, not an arbitrary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shows the full path is instrumented, which is real and valuable. The gap noted below it — frontend-only RED coverage — is honest and sets up why 'measure the backend too' belongs on a future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dashed side branch is the point of the diagram: background work is decoupled from the response, not sequenced before it. Analytics and audit — named in the gap box — are the next candidates for the same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branching shape as the caching diagram — deliberately, since a circuit breaker is the same idea applied to failure instead of freshness. The 'page renders either way' box at the bottom is the whole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is the simplest chain in the deck on purpose — the point being made is the separation itself, which is already correct. The gap is policy consistency across the three gateways, not the layering.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are frontend/edge-layer wins from the LCP optimisation work — separate from the nine backend architecture patterns audited elsewhere in this deck, which is why they're presented on their own slide rather than folded into the pattern numbering.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here is that good tracking already exists — it's just scoped to LCP. The recommendation is deliberately low-effort: extend what's there rather than build something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Bulkhead is flagged as the natural starting point since it extends work already in flight on the resilience slide. The other two are real but lower urgency — in-process caching is cheap and additive, gRPC is explicitly deferred.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note if asked: this deck intentionally leads with what's implemented and consolidates the three not-yet-started patterns into one slide near the end, rather than spreading gap-focused content through the middle.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1B4F8C"/>
          </a:solidFill>
          <a:ln/>
        </p:spPr>
      </p:sp>
      <p:sp>
        <p:nvSpPr>
          <p:cNvPr id="3" name="Text 1"/>
          <p:cNvSpPr/>
          <p:nvPr/>
        </p:nvSpPr>
        <p:spPr>
          <a:xfrm>
            <a:off x="548640" y="6519672"/>
            <a:ext cx="4572000" cy="256032"/>
          </a:xfrm>
          <a:prstGeom prst="rect">
            <a:avLst/>
          </a:prstGeom>
          <a:noFill/>
          <a:ln/>
        </p:spPr>
        <p:txBody>
          <a:bodyPr wrap="square" lIns="0" tIns="0" rIns="0" bIns="0" rtlCol="0" anchor="ctr"/>
          <a:lstStyle/>
          <a:p>
            <a:pPr indent="0" marL="0">
              <a:buNone/>
            </a:pPr>
            <a:r>
              <a:rPr lang="en-US" sz="850" spc="100" kern="0" dirty="0">
                <a:solidFill>
                  <a:srgbClr val="94A3B8"/>
                </a:solidFill>
                <a:latin typeface="Calibri" pitchFamily="34" charset="0"/>
                <a:ea typeface="Calibri" pitchFamily="34" charset="-122"/>
                <a:cs typeface="Calibri" pitchFamily="34" charset="-120"/>
              </a:rPr>
              <a:t>ACCOUNT HOME PERFORMANCE PROGRAM</a:t>
            </a:r>
            <a:endParaRPr lang="en-US" sz="850" dirty="0"/>
          </a:p>
        </p:txBody>
      </p:sp>
      <p:sp>
        <p:nvSpPr>
          <p:cNvPr id="4" name="Text 2"/>
          <p:cNvSpPr/>
          <p:nvPr/>
        </p:nvSpPr>
        <p:spPr>
          <a:xfrm>
            <a:off x="640080" y="1234440"/>
            <a:ext cx="7315200" cy="274320"/>
          </a:xfrm>
          <a:prstGeom prst="rect">
            <a:avLst/>
          </a:prstGeom>
          <a:noFill/>
          <a:ln/>
        </p:spPr>
        <p:txBody>
          <a:bodyPr wrap="square" lIns="0" tIns="0" rIns="0" bIns="0" rtlCol="0" anchor="ctr"/>
          <a:lstStyle/>
          <a:p>
            <a:pPr indent="0" marL="0">
              <a:buNone/>
            </a:pPr>
            <a:r>
              <a:rPr lang="en-US" sz="1200" b="1" spc="220" kern="0" dirty="0">
                <a:solidFill>
                  <a:srgbClr val="1B4F8C"/>
                </a:solidFill>
                <a:latin typeface="Arial" pitchFamily="34" charset="0"/>
                <a:ea typeface="Arial" pitchFamily="34" charset="-122"/>
                <a:cs typeface="Arial" pitchFamily="34" charset="-120"/>
              </a:rPr>
              <a:t>ACCOUNT HOME  ·  PERFORMANCE PROGRAM UPDATE</a:t>
            </a:r>
            <a:endParaRPr lang="en-US" sz="1200" dirty="0"/>
          </a:p>
        </p:txBody>
      </p:sp>
      <p:sp>
        <p:nvSpPr>
          <p:cNvPr id="5" name="Text 3"/>
          <p:cNvSpPr/>
          <p:nvPr/>
        </p:nvSpPr>
        <p:spPr>
          <a:xfrm>
            <a:off x="621792" y="1600200"/>
            <a:ext cx="6949440" cy="1554480"/>
          </a:xfrm>
          <a:prstGeom prst="rect">
            <a:avLst/>
          </a:prstGeom>
          <a:noFill/>
          <a:ln/>
        </p:spPr>
        <p:txBody>
          <a:bodyPr wrap="square" lIns="0" tIns="0" rIns="0" bIns="0" rtlCol="0" anchor="ctr"/>
          <a:lstStyle/>
          <a:p>
            <a:pPr indent="0" marL="0">
              <a:lnSpc>
                <a:spcPts val="4000"/>
              </a:lnSpc>
              <a:buNone/>
            </a:pPr>
            <a:r>
              <a:rPr lang="en-US" sz="3400" b="1" dirty="0">
                <a:solidFill>
                  <a:srgbClr val="0B2545"/>
                </a:solidFill>
                <a:latin typeface="Arial" pitchFamily="34" charset="0"/>
                <a:ea typeface="Arial" pitchFamily="34" charset="-122"/>
                <a:cs typeface="Arial" pitchFamily="34" charset="-120"/>
              </a:rPr>
              <a:t>Performance Improvements —</a:t>
            </a:r>
            <a:endParaRPr lang="en-US" sz="3400" dirty="0"/>
          </a:p>
          <a:p>
            <a:pPr indent="0" marL="0">
              <a:lnSpc>
                <a:spcPts val="4000"/>
              </a:lnSpc>
              <a:buNone/>
            </a:pPr>
            <a:r>
              <a:rPr lang="en-US" sz="3400" b="1" dirty="0">
                <a:solidFill>
                  <a:srgbClr val="0B2545"/>
                </a:solidFill>
                <a:latin typeface="Arial" pitchFamily="34" charset="0"/>
                <a:ea typeface="Arial" pitchFamily="34" charset="-122"/>
                <a:cs typeface="Arial" pitchFamily="34" charset="-120"/>
              </a:rPr>
              <a:t>What We've Implemented</a:t>
            </a:r>
            <a:endParaRPr lang="en-US" sz="3400" dirty="0"/>
          </a:p>
        </p:txBody>
      </p:sp>
      <p:sp>
        <p:nvSpPr>
          <p:cNvPr id="6" name="Text 4"/>
          <p:cNvSpPr/>
          <p:nvPr/>
        </p:nvSpPr>
        <p:spPr>
          <a:xfrm>
            <a:off x="640080" y="3127248"/>
            <a:ext cx="6949440" cy="329184"/>
          </a:xfrm>
          <a:prstGeom prst="rect">
            <a:avLst/>
          </a:prstGeom>
          <a:noFill/>
          <a:ln/>
        </p:spPr>
        <p:txBody>
          <a:bodyPr wrap="square" lIns="0" tIns="0" rIns="0" bIns="0" rtlCol="0" anchor="ctr"/>
          <a:lstStyle/>
          <a:p>
            <a:pPr indent="0" marL="0">
              <a:buNone/>
            </a:pPr>
            <a:r>
              <a:rPr lang="en-US" sz="1500" dirty="0">
                <a:solidFill>
                  <a:srgbClr val="27364B"/>
                </a:solidFill>
                <a:latin typeface="Calibri" pitchFamily="34" charset="0"/>
                <a:ea typeface="Calibri" pitchFamily="34" charset="-122"/>
                <a:cs typeface="Calibri" pitchFamily="34" charset="-120"/>
              </a:rPr>
              <a:t>my.tiaa.org Account Home</a:t>
            </a:r>
            <a:endParaRPr lang="en-US" sz="1500" dirty="0"/>
          </a:p>
        </p:txBody>
      </p:sp>
      <p:sp>
        <p:nvSpPr>
          <p:cNvPr id="7" name="Text 5"/>
          <p:cNvSpPr/>
          <p:nvPr/>
        </p:nvSpPr>
        <p:spPr>
          <a:xfrm>
            <a:off x="640080" y="3456432"/>
            <a:ext cx="6766560" cy="50292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Eight performance patterns are live today. Each is shown with how it works and the improvement it delivers.</a:t>
            </a:r>
            <a:endParaRPr lang="en-US" sz="1200" dirty="0"/>
          </a:p>
        </p:txBody>
      </p:sp>
      <p:sp>
        <p:nvSpPr>
          <p:cNvPr id="8" name="Shape 6"/>
          <p:cNvSpPr/>
          <p:nvPr/>
        </p:nvSpPr>
        <p:spPr>
          <a:xfrm>
            <a:off x="640080" y="4160520"/>
            <a:ext cx="1508760" cy="365760"/>
          </a:xfrm>
          <a:prstGeom prst="roundRect">
            <a:avLst>
              <a:gd name="adj" fmla="val 50000"/>
            </a:avLst>
          </a:prstGeom>
          <a:solidFill>
            <a:srgbClr val="E7F5EC"/>
          </a:solidFill>
          <a:ln w="12700">
            <a:solidFill>
              <a:srgbClr val="1E8449"/>
            </a:solidFill>
            <a:prstDash val="solid"/>
          </a:ln>
        </p:spPr>
      </p:sp>
      <p:sp>
        <p:nvSpPr>
          <p:cNvPr id="9" name="Shape 7"/>
          <p:cNvSpPr/>
          <p:nvPr/>
        </p:nvSpPr>
        <p:spPr>
          <a:xfrm>
            <a:off x="768096" y="4297680"/>
            <a:ext cx="91440" cy="91440"/>
          </a:xfrm>
          <a:prstGeom prst="ellipse">
            <a:avLst/>
          </a:prstGeom>
          <a:solidFill>
            <a:srgbClr val="1E8449"/>
          </a:solidFill>
          <a:ln/>
        </p:spPr>
      </p:sp>
      <p:sp>
        <p:nvSpPr>
          <p:cNvPr id="10" name="Text 8"/>
          <p:cNvSpPr/>
          <p:nvPr/>
        </p:nvSpPr>
        <p:spPr>
          <a:xfrm>
            <a:off x="914400" y="4160520"/>
            <a:ext cx="1234440" cy="365760"/>
          </a:xfrm>
          <a:prstGeom prst="rect">
            <a:avLst/>
          </a:prstGeom>
          <a:noFill/>
          <a:ln/>
        </p:spPr>
        <p:txBody>
          <a:bodyPr wrap="square" lIns="0" tIns="0" rIns="0" bIns="0" rtlCol="0" anchor="ctr"/>
          <a:lstStyle/>
          <a:p>
            <a:pPr indent="0" marL="0">
              <a:buNone/>
            </a:pPr>
            <a:r>
              <a:rPr lang="en-US" sz="1000" b="1" dirty="0">
                <a:solidFill>
                  <a:srgbClr val="27364B"/>
                </a:solidFill>
                <a:latin typeface="Calibri" pitchFamily="34" charset="0"/>
                <a:ea typeface="Calibri" pitchFamily="34" charset="-122"/>
                <a:cs typeface="Calibri" pitchFamily="34" charset="-120"/>
              </a:rPr>
              <a:t>Applied</a:t>
            </a:r>
            <a:endParaRPr lang="en-US" sz="1000" dirty="0"/>
          </a:p>
        </p:txBody>
      </p:sp>
      <p:sp>
        <p:nvSpPr>
          <p:cNvPr id="11" name="Text 9"/>
          <p:cNvSpPr/>
          <p:nvPr/>
        </p:nvSpPr>
        <p:spPr>
          <a:xfrm>
            <a:off x="640080" y="4754880"/>
            <a:ext cx="6583680" cy="36576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Evidence sourced directly from Confluence — Architecture Decision docs, Cache Implementation, and Performance Analysis pages.</a:t>
            </a:r>
            <a:endParaRPr lang="en-US" sz="1000" dirty="0"/>
          </a:p>
        </p:txBody>
      </p:sp>
      <p:sp>
        <p:nvSpPr>
          <p:cNvPr id="12" name="Text 10"/>
          <p:cNvSpPr/>
          <p:nvPr/>
        </p:nvSpPr>
        <p:spPr>
          <a:xfrm>
            <a:off x="640080" y="5989320"/>
            <a:ext cx="365760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August 2026</a:t>
            </a:r>
            <a:endParaRPr lang="en-US" sz="1100" dirty="0"/>
          </a:p>
        </p:txBody>
      </p:sp>
      <p:sp>
        <p:nvSpPr>
          <p:cNvPr id="13" name="Shape 11"/>
          <p:cNvSpPr/>
          <p:nvPr/>
        </p:nvSpPr>
        <p:spPr>
          <a:xfrm>
            <a:off x="8001000" y="1600200"/>
            <a:ext cx="3611880" cy="4160520"/>
          </a:xfrm>
          <a:prstGeom prst="roundRect">
            <a:avLst>
              <a:gd name="adj" fmla="val 1519"/>
            </a:avLst>
          </a:prstGeom>
          <a:solidFill>
            <a:srgbClr val="F5F9FE"/>
          </a:solidFill>
          <a:ln w="12700">
            <a:solidFill>
              <a:srgbClr val="D9E2EC"/>
            </a:solidFill>
            <a:prstDash val="solid"/>
          </a:ln>
        </p:spPr>
      </p:sp>
      <p:sp>
        <p:nvSpPr>
          <p:cNvPr id="14" name="Text 12"/>
          <p:cNvSpPr/>
          <p:nvPr/>
        </p:nvSpPr>
        <p:spPr>
          <a:xfrm>
            <a:off x="8275320" y="1847088"/>
            <a:ext cx="3108960" cy="237744"/>
          </a:xfrm>
          <a:prstGeom prst="rect">
            <a:avLst/>
          </a:prstGeom>
          <a:noFill/>
          <a:ln/>
        </p:spPr>
        <p:txBody>
          <a:bodyPr wrap="square" lIns="0" tIns="0" rIns="0" bIns="0" rtlCol="0" anchor="ctr"/>
          <a:lstStyle/>
          <a:p>
            <a:pPr indent="0" marL="0">
              <a:buNone/>
            </a:pPr>
            <a:r>
              <a:rPr lang="en-US" sz="950" b="1" spc="160" kern="0" dirty="0">
                <a:solidFill>
                  <a:srgbClr val="5B6472"/>
                </a:solidFill>
                <a:latin typeface="Arial" pitchFamily="34" charset="0"/>
                <a:ea typeface="Arial" pitchFamily="34" charset="-122"/>
                <a:cs typeface="Arial" pitchFamily="34" charset="-120"/>
              </a:rPr>
              <a:t>8 PATTERNS APPLIED</a:t>
            </a:r>
            <a:endParaRPr lang="en-US" sz="950" dirty="0"/>
          </a:p>
        </p:txBody>
      </p:sp>
      <p:sp>
        <p:nvSpPr>
          <p:cNvPr id="15" name="Shape 13"/>
          <p:cNvSpPr/>
          <p:nvPr/>
        </p:nvSpPr>
        <p:spPr>
          <a:xfrm>
            <a:off x="8275320" y="2194560"/>
            <a:ext cx="3063240" cy="777240"/>
          </a:xfrm>
          <a:prstGeom prst="roundRect">
            <a:avLst>
              <a:gd name="adj" fmla="val 7059"/>
            </a:avLst>
          </a:prstGeom>
          <a:solidFill>
            <a:srgbClr val="FFFFFF"/>
          </a:solidFill>
          <a:ln w="12700">
            <a:solidFill>
              <a:srgbClr val="D9E2EC"/>
            </a:solidFill>
            <a:prstDash val="solid"/>
          </a:ln>
        </p:spPr>
      </p:sp>
      <p:sp>
        <p:nvSpPr>
          <p:cNvPr id="16" name="Shape 14"/>
          <p:cNvSpPr/>
          <p:nvPr/>
        </p:nvSpPr>
        <p:spPr>
          <a:xfrm>
            <a:off x="8275320" y="2194560"/>
            <a:ext cx="73152" cy="777240"/>
          </a:xfrm>
          <a:prstGeom prst="roundRect">
            <a:avLst/>
          </a:prstGeom>
          <a:solidFill>
            <a:srgbClr val="1E8449"/>
          </a:solidFill>
          <a:ln/>
        </p:spPr>
      </p:sp>
      <p:sp>
        <p:nvSpPr>
          <p:cNvPr id="17" name="Text 15"/>
          <p:cNvSpPr/>
          <p:nvPr/>
        </p:nvSpPr>
        <p:spPr>
          <a:xfrm>
            <a:off x="8503920" y="2267712"/>
            <a:ext cx="822960" cy="621792"/>
          </a:xfrm>
          <a:prstGeom prst="rect">
            <a:avLst/>
          </a:prstGeom>
          <a:noFill/>
          <a:ln/>
        </p:spPr>
        <p:txBody>
          <a:bodyPr wrap="square" lIns="0" tIns="0" rIns="0" bIns="0" rtlCol="0" anchor="ctr"/>
          <a:lstStyle/>
          <a:p>
            <a:pPr indent="0" marL="0">
              <a:buNone/>
            </a:pPr>
            <a:r>
              <a:rPr lang="en-US" sz="3000" b="1" dirty="0">
                <a:solidFill>
                  <a:srgbClr val="1E8449"/>
                </a:solidFill>
                <a:latin typeface="Arial" pitchFamily="34" charset="0"/>
                <a:ea typeface="Arial" pitchFamily="34" charset="-122"/>
                <a:cs typeface="Arial" pitchFamily="34" charset="-120"/>
              </a:rPr>
              <a:t>8</a:t>
            </a:r>
            <a:endParaRPr lang="en-US" sz="3000" dirty="0"/>
          </a:p>
        </p:txBody>
      </p:sp>
      <p:sp>
        <p:nvSpPr>
          <p:cNvPr id="18" name="Text 16"/>
          <p:cNvSpPr/>
          <p:nvPr/>
        </p:nvSpPr>
        <p:spPr>
          <a:xfrm>
            <a:off x="9326880" y="2194560"/>
            <a:ext cx="1920240" cy="777240"/>
          </a:xfrm>
          <a:prstGeom prst="rect">
            <a:avLst/>
          </a:prstGeom>
          <a:noFill/>
          <a:ln/>
        </p:spPr>
        <p:txBody>
          <a:bodyPr wrap="square" lIns="0" tIns="0" rIns="0" bIns="0" rtlCol="0" anchor="ctr"/>
          <a:lstStyle/>
          <a:p>
            <a:pPr indent="0" marL="0">
              <a:buNone/>
            </a:pPr>
            <a:r>
              <a:rPr lang="en-US" sz="1300" b="1" dirty="0">
                <a:solidFill>
                  <a:srgbClr val="27364B"/>
                </a:solidFill>
                <a:latin typeface="Calibri" pitchFamily="34" charset="0"/>
                <a:ea typeface="Calibri" pitchFamily="34" charset="-122"/>
                <a:cs typeface="Calibri" pitchFamily="34" charset="-120"/>
              </a:rPr>
              <a:t>Applied</a:t>
            </a:r>
            <a:endParaRPr lang="en-US" sz="1300" dirty="0"/>
          </a:p>
        </p:txBody>
      </p:sp>
      <p:sp>
        <p:nvSpPr>
          <p:cNvPr id="19" name="Shape 17"/>
          <p:cNvSpPr/>
          <p:nvPr/>
        </p:nvSpPr>
        <p:spPr>
          <a:xfrm>
            <a:off x="8275320" y="3090672"/>
            <a:ext cx="3063240" cy="777240"/>
          </a:xfrm>
          <a:prstGeom prst="roundRect">
            <a:avLst>
              <a:gd name="adj" fmla="val 7059"/>
            </a:avLst>
          </a:prstGeom>
          <a:solidFill>
            <a:srgbClr val="FFFFFF"/>
          </a:solidFill>
          <a:ln w="12700">
            <a:solidFill>
              <a:srgbClr val="D9E2EC"/>
            </a:solidFill>
            <a:prstDash val="solid"/>
          </a:ln>
        </p:spPr>
      </p:sp>
      <p:sp>
        <p:nvSpPr>
          <p:cNvPr id="20" name="Shape 18"/>
          <p:cNvSpPr/>
          <p:nvPr/>
        </p:nvSpPr>
        <p:spPr>
          <a:xfrm>
            <a:off x="8275320" y="3090672"/>
            <a:ext cx="73152" cy="777240"/>
          </a:xfrm>
          <a:prstGeom prst="roundRect">
            <a:avLst/>
          </a:prstGeom>
          <a:solidFill>
            <a:srgbClr val="B03A2E"/>
          </a:solidFill>
          <a:ln/>
        </p:spPr>
      </p:sp>
      <p:sp>
        <p:nvSpPr>
          <p:cNvPr id="21" name="Text 19"/>
          <p:cNvSpPr/>
          <p:nvPr/>
        </p:nvSpPr>
        <p:spPr>
          <a:xfrm>
            <a:off x="8503920" y="3163824"/>
            <a:ext cx="822960" cy="621792"/>
          </a:xfrm>
          <a:prstGeom prst="rect">
            <a:avLst/>
          </a:prstGeom>
          <a:noFill/>
          <a:ln/>
        </p:spPr>
        <p:txBody>
          <a:bodyPr wrap="square" lIns="0" tIns="0" rIns="0" bIns="0" rtlCol="0" anchor="ctr"/>
          <a:lstStyle/>
          <a:p>
            <a:pPr indent="0" marL="0">
              <a:buNone/>
            </a:pPr>
            <a:r>
              <a:rPr lang="en-US" sz="3000" b="1" dirty="0">
                <a:solidFill>
                  <a:srgbClr val="B03A2E"/>
                </a:solidFill>
                <a:latin typeface="Arial" pitchFamily="34" charset="0"/>
                <a:ea typeface="Arial" pitchFamily="34" charset="-122"/>
                <a:cs typeface="Arial" pitchFamily="34" charset="-120"/>
              </a:rPr>
              <a:t>3</a:t>
            </a:r>
            <a:endParaRPr lang="en-US" sz="3000" dirty="0"/>
          </a:p>
        </p:txBody>
      </p:sp>
      <p:sp>
        <p:nvSpPr>
          <p:cNvPr id="22" name="Text 20"/>
          <p:cNvSpPr/>
          <p:nvPr/>
        </p:nvSpPr>
        <p:spPr>
          <a:xfrm>
            <a:off x="9326880" y="3090672"/>
            <a:ext cx="1920240" cy="777240"/>
          </a:xfrm>
          <a:prstGeom prst="rect">
            <a:avLst/>
          </a:prstGeom>
          <a:noFill/>
          <a:ln/>
        </p:spPr>
        <p:txBody>
          <a:bodyPr wrap="square" lIns="0" tIns="0" rIns="0" bIns="0" rtlCol="0" anchor="ctr"/>
          <a:lstStyle/>
          <a:p>
            <a:pPr indent="0" marL="0">
              <a:buNone/>
            </a:pPr>
            <a:r>
              <a:rPr lang="en-US" sz="1300" b="1" dirty="0">
                <a:solidFill>
                  <a:srgbClr val="27364B"/>
                </a:solidFill>
                <a:latin typeface="Calibri" pitchFamily="34" charset="0"/>
                <a:ea typeface="Calibri" pitchFamily="34" charset="-122"/>
                <a:cs typeface="Calibri" pitchFamily="34" charset="-120"/>
              </a:rPr>
              <a:t>Recommended next</a:t>
            </a:r>
            <a:endParaRPr lang="en-US" sz="1300" dirty="0"/>
          </a:p>
        </p:txBody>
      </p:sp>
      <p:sp>
        <p:nvSpPr>
          <p:cNvPr id="23" name="Shape 21"/>
          <p:cNvSpPr/>
          <p:nvPr/>
        </p:nvSpPr>
        <p:spPr>
          <a:xfrm>
            <a:off x="8275320" y="4032504"/>
            <a:ext cx="3063240" cy="0"/>
          </a:xfrm>
          <a:prstGeom prst="line">
            <a:avLst/>
          </a:prstGeom>
          <a:noFill/>
          <a:ln w="12700">
            <a:solidFill>
              <a:srgbClr val="D9E2EC"/>
            </a:solidFill>
            <a:prstDash val="solid"/>
          </a:ln>
        </p:spPr>
      </p:sp>
      <p:sp>
        <p:nvSpPr>
          <p:cNvPr id="24" name="Text 22"/>
          <p:cNvSpPr/>
          <p:nvPr/>
        </p:nvSpPr>
        <p:spPr>
          <a:xfrm>
            <a:off x="8275320" y="4169664"/>
            <a:ext cx="3063240" cy="685800"/>
          </a:xfrm>
          <a:prstGeom prst="rect">
            <a:avLst/>
          </a:prstGeom>
          <a:noFill/>
          <a:ln/>
        </p:spPr>
        <p:txBody>
          <a:bodyPr wrap="square" lIns="0" tIns="0" rIns="0" bIns="0" rtlCol="0" anchor="ctr"/>
          <a:lstStyle/>
          <a:p>
            <a:pPr indent="0" marL="0">
              <a:buNone/>
            </a:pPr>
            <a:r>
              <a:rPr lang="en-US" sz="1050" i="1" dirty="0">
                <a:solidFill>
                  <a:srgbClr val="5B6472"/>
                </a:solidFill>
                <a:latin typeface="Calibri" pitchFamily="34" charset="0"/>
                <a:ea typeface="Calibri" pitchFamily="34" charset="-122"/>
                <a:cs typeface="Calibri" pitchFamily="34" charset="-120"/>
              </a:rPr>
              <a:t>Three further patterns are recommended for the roadmap — see the closing slide.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1B4F8C"/>
          </a:solidFill>
          <a:ln/>
        </p:spPr>
      </p:sp>
      <p:sp>
        <p:nvSpPr>
          <p:cNvPr id="3" name="Text 1"/>
          <p:cNvSpPr/>
          <p:nvPr/>
        </p:nvSpPr>
        <p:spPr>
          <a:xfrm>
            <a:off x="11155680" y="6519672"/>
            <a:ext cx="822960" cy="256032"/>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02 / 13</a:t>
            </a:r>
            <a:endParaRPr lang="en-US" sz="950" dirty="0"/>
          </a:p>
        </p:txBody>
      </p:sp>
      <p:sp>
        <p:nvSpPr>
          <p:cNvPr id="4" name="Text 2"/>
          <p:cNvSpPr/>
          <p:nvPr/>
        </p:nvSpPr>
        <p:spPr>
          <a:xfrm>
            <a:off x="548640" y="6519672"/>
            <a:ext cx="4572000" cy="256032"/>
          </a:xfrm>
          <a:prstGeom prst="rect">
            <a:avLst/>
          </a:prstGeom>
          <a:noFill/>
          <a:ln/>
        </p:spPr>
        <p:txBody>
          <a:bodyPr wrap="square" lIns="0" tIns="0" rIns="0" bIns="0" rtlCol="0" anchor="ctr"/>
          <a:lstStyle/>
          <a:p>
            <a:pPr indent="0" marL="0">
              <a:buNone/>
            </a:pPr>
            <a:r>
              <a:rPr lang="en-US" sz="850" spc="100" kern="0" dirty="0">
                <a:solidFill>
                  <a:srgbClr val="94A3B8"/>
                </a:solidFill>
                <a:latin typeface="Calibri" pitchFamily="34" charset="0"/>
                <a:ea typeface="Calibri" pitchFamily="34" charset="-122"/>
                <a:cs typeface="Calibri" pitchFamily="34" charset="-120"/>
              </a:rPr>
              <a:t>ACCOUNT HOME PERFORMANCE PROGRAM</a:t>
            </a:r>
            <a:endParaRPr lang="en-US" sz="850" dirty="0"/>
          </a:p>
        </p:txBody>
      </p:sp>
      <p:sp>
        <p:nvSpPr>
          <p:cNvPr id="5" name="Text 3"/>
          <p:cNvSpPr/>
          <p:nvPr/>
        </p:nvSpPr>
        <p:spPr>
          <a:xfrm>
            <a:off x="566928" y="310896"/>
            <a:ext cx="10607040" cy="237744"/>
          </a:xfrm>
          <a:prstGeom prst="rect">
            <a:avLst/>
          </a:prstGeom>
          <a:noFill/>
          <a:ln/>
        </p:spPr>
        <p:txBody>
          <a:bodyPr wrap="square" lIns="0" tIns="0" rIns="0" bIns="0" rtlCol="0" anchor="ctr"/>
          <a:lstStyle/>
          <a:p>
            <a:pPr indent="0" marL="0">
              <a:buNone/>
            </a:pPr>
            <a:r>
              <a:rPr lang="en-US" sz="1050" b="1" spc="220" kern="0" dirty="0">
                <a:solidFill>
                  <a:srgbClr val="1B4F8C"/>
                </a:solidFill>
                <a:latin typeface="Arial" pitchFamily="34" charset="0"/>
                <a:ea typeface="Arial" pitchFamily="34" charset="-122"/>
                <a:cs typeface="Arial" pitchFamily="34" charset="-120"/>
              </a:rPr>
              <a:t>EXECUTIVE SUMMARY</a:t>
            </a:r>
            <a:endParaRPr lang="en-US" sz="1050" dirty="0"/>
          </a:p>
        </p:txBody>
      </p:sp>
      <p:sp>
        <p:nvSpPr>
          <p:cNvPr id="6" name="Text 4"/>
          <p:cNvSpPr/>
          <p:nvPr/>
        </p:nvSpPr>
        <p:spPr>
          <a:xfrm>
            <a:off x="548640" y="530352"/>
            <a:ext cx="10881360" cy="502920"/>
          </a:xfrm>
          <a:prstGeom prst="rect">
            <a:avLst/>
          </a:prstGeom>
          <a:noFill/>
          <a:ln/>
        </p:spPr>
        <p:txBody>
          <a:bodyPr wrap="square" lIns="0" tIns="0" rIns="0" bIns="0" rtlCol="0" anchor="ctr"/>
          <a:lstStyle/>
          <a:p>
            <a:pPr indent="0" marL="0">
              <a:buNone/>
            </a:pPr>
            <a:r>
              <a:rPr lang="en-US" sz="2700" b="1" dirty="0">
                <a:solidFill>
                  <a:srgbClr val="0B2545"/>
                </a:solidFill>
                <a:latin typeface="Arial" pitchFamily="34" charset="0"/>
                <a:ea typeface="Arial" pitchFamily="34" charset="-122"/>
                <a:cs typeface="Arial" pitchFamily="34" charset="-120"/>
              </a:rPr>
              <a:t>Eight patterns are live on Account Home</a:t>
            </a:r>
            <a:endParaRPr lang="en-US" sz="2700" dirty="0"/>
          </a:p>
        </p:txBody>
      </p:sp>
      <p:sp>
        <p:nvSpPr>
          <p:cNvPr id="7" name="Text 5"/>
          <p:cNvSpPr/>
          <p:nvPr/>
        </p:nvSpPr>
        <p:spPr>
          <a:xfrm>
            <a:off x="566928" y="1033272"/>
            <a:ext cx="10789920" cy="292608"/>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Each delivers a specific, measurable improvement — detailed over the following slides.</a:t>
            </a:r>
            <a:endParaRPr lang="en-US" sz="1250" dirty="0"/>
          </a:p>
        </p:txBody>
      </p:sp>
      <p:sp>
        <p:nvSpPr>
          <p:cNvPr id="8" name="Shape 6"/>
          <p:cNvSpPr/>
          <p:nvPr/>
        </p:nvSpPr>
        <p:spPr>
          <a:xfrm>
            <a:off x="566928" y="1371600"/>
            <a:ext cx="11064240" cy="0"/>
          </a:xfrm>
          <a:prstGeom prst="line">
            <a:avLst/>
          </a:prstGeom>
          <a:noFill/>
          <a:ln w="12700">
            <a:solidFill>
              <a:srgbClr val="D9E2EC"/>
            </a:solidFill>
            <a:prstDash val="solid"/>
          </a:ln>
        </p:spPr>
      </p:sp>
      <p:sp>
        <p:nvSpPr>
          <p:cNvPr id="9" name="Shape 7"/>
          <p:cNvSpPr/>
          <p:nvPr/>
        </p:nvSpPr>
        <p:spPr>
          <a:xfrm>
            <a:off x="548640" y="1554480"/>
            <a:ext cx="6492240" cy="4160520"/>
          </a:xfrm>
          <a:prstGeom prst="roundRect">
            <a:avLst>
              <a:gd name="adj" fmla="val 1319"/>
            </a:avLst>
          </a:prstGeom>
          <a:solidFill>
            <a:srgbClr val="FFFFFF"/>
          </a:solidFill>
          <a:ln w="12700">
            <a:solidFill>
              <a:srgbClr val="D9E2EC"/>
            </a:solidFill>
            <a:prstDash val="solid"/>
          </a:ln>
        </p:spPr>
      </p:sp>
      <p:sp>
        <p:nvSpPr>
          <p:cNvPr id="10" name="Text 8"/>
          <p:cNvSpPr/>
          <p:nvPr/>
        </p:nvSpPr>
        <p:spPr>
          <a:xfrm>
            <a:off x="804672" y="1773936"/>
            <a:ext cx="5852160" cy="237744"/>
          </a:xfrm>
          <a:prstGeom prst="rect">
            <a:avLst/>
          </a:prstGeom>
          <a:noFill/>
          <a:ln/>
        </p:spPr>
        <p:txBody>
          <a:bodyPr wrap="square" lIns="0" tIns="0" rIns="0" bIns="0" rtlCol="0" anchor="ctr"/>
          <a:lstStyle/>
          <a:p>
            <a:pPr indent="0" marL="0">
              <a:buNone/>
            </a:pPr>
            <a:r>
              <a:rPr lang="en-US" sz="1000" b="1" spc="140" kern="0" dirty="0">
                <a:solidFill>
                  <a:srgbClr val="1B4F8C"/>
                </a:solidFill>
                <a:latin typeface="Arial" pitchFamily="34" charset="0"/>
                <a:ea typeface="Arial" pitchFamily="34" charset="-122"/>
                <a:cs typeface="Arial" pitchFamily="34" charset="-120"/>
              </a:rPr>
              <a:t>WHAT'S BEEN DONE</a:t>
            </a:r>
            <a:endParaRPr lang="en-US" sz="1000" dirty="0"/>
          </a:p>
        </p:txBody>
      </p:sp>
      <p:sp>
        <p:nvSpPr>
          <p:cNvPr id="11" name="Shape 9"/>
          <p:cNvSpPr/>
          <p:nvPr/>
        </p:nvSpPr>
        <p:spPr>
          <a:xfrm>
            <a:off x="804672" y="2103120"/>
            <a:ext cx="137160" cy="137160"/>
          </a:xfrm>
          <a:prstGeom prst="roundRect">
            <a:avLst>
              <a:gd name="adj" fmla="val 20000"/>
            </a:avLst>
          </a:prstGeom>
          <a:solidFill>
            <a:srgbClr val="1B4F8C"/>
          </a:solidFill>
          <a:ln/>
        </p:spPr>
      </p:sp>
      <p:sp>
        <p:nvSpPr>
          <p:cNvPr id="12" name="Text 10"/>
          <p:cNvSpPr/>
          <p:nvPr/>
        </p:nvSpPr>
        <p:spPr>
          <a:xfrm>
            <a:off x="1060704" y="2029968"/>
            <a:ext cx="5687568" cy="502920"/>
          </a:xfrm>
          <a:prstGeom prst="rect">
            <a:avLst/>
          </a:prstGeom>
          <a:noFill/>
          <a:ln/>
        </p:spPr>
        <p:txBody>
          <a:bodyPr wrap="square" lIns="0" tIns="0" rIns="0" bIns="0" rtlCol="0" anchor="t"/>
          <a:lstStyle/>
          <a:p>
            <a:pPr indent="0" marL="0">
              <a:lnSpc>
                <a:spcPts val="1600"/>
              </a:lnSpc>
              <a:buNone/>
            </a:pPr>
            <a:r>
              <a:rPr lang="en-US" sz="1200" dirty="0">
                <a:solidFill>
                  <a:srgbClr val="27364B"/>
                </a:solidFill>
                <a:latin typeface="Calibri" pitchFamily="34" charset="0"/>
                <a:ea typeface="Calibri" pitchFamily="34" charset="-122"/>
                <a:cs typeface="Calibri" pitchFamily="34" charset="-120"/>
              </a:rPr>
              <a:t>Downstream calls on the account view run in parallel rather than one after another, and Redis is confirmed in the stack via the shared ah-cache-manager library.</a:t>
            </a:r>
            <a:endParaRPr lang="en-US" sz="1200" dirty="0"/>
          </a:p>
        </p:txBody>
      </p:sp>
      <p:sp>
        <p:nvSpPr>
          <p:cNvPr id="13" name="Shape 11"/>
          <p:cNvSpPr/>
          <p:nvPr/>
        </p:nvSpPr>
        <p:spPr>
          <a:xfrm>
            <a:off x="804672" y="2739044"/>
            <a:ext cx="137160" cy="137160"/>
          </a:xfrm>
          <a:prstGeom prst="roundRect">
            <a:avLst>
              <a:gd name="adj" fmla="val 20000"/>
            </a:avLst>
          </a:prstGeom>
          <a:solidFill>
            <a:srgbClr val="1B4F8C"/>
          </a:solidFill>
          <a:ln/>
        </p:spPr>
      </p:sp>
      <p:sp>
        <p:nvSpPr>
          <p:cNvPr id="14" name="Text 12"/>
          <p:cNvSpPr/>
          <p:nvPr/>
        </p:nvSpPr>
        <p:spPr>
          <a:xfrm>
            <a:off x="1060704" y="2665892"/>
            <a:ext cx="5687568" cy="502920"/>
          </a:xfrm>
          <a:prstGeom prst="rect">
            <a:avLst/>
          </a:prstGeom>
          <a:noFill/>
          <a:ln/>
        </p:spPr>
        <p:txBody>
          <a:bodyPr wrap="square" lIns="0" tIns="0" rIns="0" bIns="0" rtlCol="0" anchor="t"/>
          <a:lstStyle/>
          <a:p>
            <a:pPr indent="0" marL="0">
              <a:lnSpc>
                <a:spcPts val="1600"/>
              </a:lnSpc>
              <a:buNone/>
            </a:pPr>
            <a:r>
              <a:rPr lang="en-US" sz="1200" dirty="0">
                <a:solidFill>
                  <a:srgbClr val="27364B"/>
                </a:solidFill>
                <a:latin typeface="Calibri" pitchFamily="34" charset="0"/>
                <a:ea typeface="Calibri" pitchFamily="34" charset="-122"/>
                <a:cs typeface="Calibri" pitchFamily="34" charset="-120"/>
              </a:rPr>
              <a:t>Non-critical work — preload and CoBrowse — already fires in the background instead of blocking the page.</a:t>
            </a:r>
            <a:endParaRPr lang="en-US" sz="1200" dirty="0"/>
          </a:p>
        </p:txBody>
      </p:sp>
      <p:sp>
        <p:nvSpPr>
          <p:cNvPr id="15" name="Shape 13"/>
          <p:cNvSpPr/>
          <p:nvPr/>
        </p:nvSpPr>
        <p:spPr>
          <a:xfrm>
            <a:off x="804672" y="3374967"/>
            <a:ext cx="137160" cy="137160"/>
          </a:xfrm>
          <a:prstGeom prst="roundRect">
            <a:avLst>
              <a:gd name="adj" fmla="val 20000"/>
            </a:avLst>
          </a:prstGeom>
          <a:solidFill>
            <a:srgbClr val="1B4F8C"/>
          </a:solidFill>
          <a:ln/>
        </p:spPr>
      </p:sp>
      <p:sp>
        <p:nvSpPr>
          <p:cNvPr id="16" name="Text 14"/>
          <p:cNvSpPr/>
          <p:nvPr/>
        </p:nvSpPr>
        <p:spPr>
          <a:xfrm>
            <a:off x="1060704" y="3301815"/>
            <a:ext cx="5687568" cy="502920"/>
          </a:xfrm>
          <a:prstGeom prst="rect">
            <a:avLst/>
          </a:prstGeom>
          <a:noFill/>
          <a:ln/>
        </p:spPr>
        <p:txBody>
          <a:bodyPr wrap="square" lIns="0" tIns="0" rIns="0" bIns="0" rtlCol="0" anchor="t"/>
          <a:lstStyle/>
          <a:p>
            <a:pPr indent="0" marL="0">
              <a:lnSpc>
                <a:spcPts val="1600"/>
              </a:lnSpc>
              <a:buNone/>
            </a:pPr>
            <a:r>
              <a:rPr lang="en-US" sz="1200" dirty="0">
                <a:solidFill>
                  <a:srgbClr val="27364B"/>
                </a:solidFill>
                <a:latin typeface="Calibri" pitchFamily="34" charset="0"/>
                <a:ea typeface="Calibri" pitchFamily="34" charset="-122"/>
                <a:cs typeface="Calibri" pitchFamily="34" charset="-120"/>
              </a:rPr>
              <a:t>Two circuit breakers are live, and Dynatrace instrumentation covers the request path end to end.</a:t>
            </a:r>
            <a:endParaRPr lang="en-US" sz="1200" dirty="0"/>
          </a:p>
        </p:txBody>
      </p:sp>
      <p:sp>
        <p:nvSpPr>
          <p:cNvPr id="17" name="Shape 15"/>
          <p:cNvSpPr/>
          <p:nvPr/>
        </p:nvSpPr>
        <p:spPr>
          <a:xfrm>
            <a:off x="804672" y="4010891"/>
            <a:ext cx="137160" cy="137160"/>
          </a:xfrm>
          <a:prstGeom prst="roundRect">
            <a:avLst>
              <a:gd name="adj" fmla="val 20000"/>
            </a:avLst>
          </a:prstGeom>
          <a:solidFill>
            <a:srgbClr val="1B4F8C"/>
          </a:solidFill>
          <a:ln/>
        </p:spPr>
      </p:sp>
      <p:sp>
        <p:nvSpPr>
          <p:cNvPr id="18" name="Text 16"/>
          <p:cNvSpPr/>
          <p:nvPr/>
        </p:nvSpPr>
        <p:spPr>
          <a:xfrm>
            <a:off x="1060704" y="3937739"/>
            <a:ext cx="5687568" cy="502920"/>
          </a:xfrm>
          <a:prstGeom prst="rect">
            <a:avLst/>
          </a:prstGeom>
          <a:noFill/>
          <a:ln/>
        </p:spPr>
        <p:txBody>
          <a:bodyPr wrap="square" lIns="0" tIns="0" rIns="0" bIns="0" rtlCol="0" anchor="t"/>
          <a:lstStyle/>
          <a:p>
            <a:pPr indent="0" marL="0">
              <a:lnSpc>
                <a:spcPts val="1600"/>
              </a:lnSpc>
              <a:buNone/>
            </a:pPr>
            <a:r>
              <a:rPr lang="en-US" sz="1200" dirty="0">
                <a:solidFill>
                  <a:srgbClr val="27364B"/>
                </a:solidFill>
                <a:latin typeface="Calibri" pitchFamily="34" charset="0"/>
                <a:ea typeface="Calibri" pitchFamily="34" charset="-122"/>
                <a:cs typeface="Calibri" pitchFamily="34" charset="-120"/>
              </a:rPr>
              <a:t>The Akamai CDN (edge cache) and Redis (application cache) are correctly kept as separate layers — a distinction this review specifically checked for.</a:t>
            </a:r>
            <a:endParaRPr lang="en-US" sz="1200" dirty="0"/>
          </a:p>
        </p:txBody>
      </p:sp>
      <p:sp>
        <p:nvSpPr>
          <p:cNvPr id="19" name="Shape 17"/>
          <p:cNvSpPr/>
          <p:nvPr/>
        </p:nvSpPr>
        <p:spPr>
          <a:xfrm>
            <a:off x="804672" y="4956048"/>
            <a:ext cx="5943600" cy="658368"/>
          </a:xfrm>
          <a:prstGeom prst="roundRect">
            <a:avLst>
              <a:gd name="adj" fmla="val 6944"/>
            </a:avLst>
          </a:prstGeom>
          <a:solidFill>
            <a:srgbClr val="E7F5EC"/>
          </a:solidFill>
          <a:ln w="12700">
            <a:solidFill>
              <a:srgbClr val="1E8449"/>
            </a:solidFill>
            <a:prstDash val="solid"/>
          </a:ln>
        </p:spPr>
      </p:sp>
      <p:sp>
        <p:nvSpPr>
          <p:cNvPr id="20" name="Text 18"/>
          <p:cNvSpPr/>
          <p:nvPr/>
        </p:nvSpPr>
        <p:spPr>
          <a:xfrm>
            <a:off x="969264" y="5038344"/>
            <a:ext cx="5614416" cy="201168"/>
          </a:xfrm>
          <a:prstGeom prst="rect">
            <a:avLst/>
          </a:prstGeom>
          <a:noFill/>
          <a:ln/>
        </p:spPr>
        <p:txBody>
          <a:bodyPr wrap="square" lIns="0" tIns="0" rIns="0" bIns="0" rtlCol="0" anchor="ctr"/>
          <a:lstStyle/>
          <a:p>
            <a:pPr indent="0" marL="0">
              <a:buNone/>
            </a:pPr>
            <a:r>
              <a:rPr lang="en-US" sz="950" b="1" spc="100" kern="0" dirty="0">
                <a:solidFill>
                  <a:srgbClr val="1E8449"/>
                </a:solidFill>
                <a:latin typeface="Arial" pitchFamily="34" charset="0"/>
                <a:ea typeface="Arial" pitchFamily="34" charset="-122"/>
                <a:cs typeface="Arial" pitchFamily="34" charset="-120"/>
              </a:rPr>
              <a:t>COMMON THREAD</a:t>
            </a:r>
            <a:endParaRPr lang="en-US" sz="950" dirty="0"/>
          </a:p>
        </p:txBody>
      </p:sp>
      <p:sp>
        <p:nvSpPr>
          <p:cNvPr id="21" name="Text 19"/>
          <p:cNvSpPr/>
          <p:nvPr/>
        </p:nvSpPr>
        <p:spPr>
          <a:xfrm>
            <a:off x="969264" y="5248656"/>
            <a:ext cx="5614416" cy="292608"/>
          </a:xfrm>
          <a:prstGeom prst="rect">
            <a:avLst/>
          </a:prstGeom>
          <a:noFill/>
          <a:ln/>
        </p:spPr>
        <p:txBody>
          <a:bodyPr wrap="square" lIns="0" tIns="0" rIns="0" bIns="0" rtlCol="0" anchor="t"/>
          <a:lstStyle/>
          <a:p>
            <a:pPr indent="0" marL="0">
              <a:lnSpc>
                <a:spcPts val="1450"/>
              </a:lnSpc>
              <a:buNone/>
            </a:pPr>
            <a:r>
              <a:rPr lang="en-US" sz="1080" dirty="0">
                <a:solidFill>
                  <a:srgbClr val="27364B"/>
                </a:solidFill>
                <a:latin typeface="Calibri" pitchFamily="34" charset="0"/>
                <a:ea typeface="Calibri" pitchFamily="34" charset="-122"/>
                <a:cs typeface="Calibri" pitchFamily="34" charset="-120"/>
              </a:rPr>
              <a:t>The patterns already in place share one theme: keep the user's request path short, and let everything else happen around it — in parallel, in cache, or in the background.</a:t>
            </a:r>
            <a:endParaRPr lang="en-US" sz="1080" dirty="0"/>
          </a:p>
        </p:txBody>
      </p:sp>
      <p:sp>
        <p:nvSpPr>
          <p:cNvPr id="22" name="Shape 20"/>
          <p:cNvSpPr/>
          <p:nvPr/>
        </p:nvSpPr>
        <p:spPr>
          <a:xfrm>
            <a:off x="7223760" y="1554480"/>
            <a:ext cx="4416552" cy="4160520"/>
          </a:xfrm>
          <a:prstGeom prst="roundRect">
            <a:avLst>
              <a:gd name="adj" fmla="val 1319"/>
            </a:avLst>
          </a:prstGeom>
          <a:solidFill>
            <a:srgbClr val="F5F9FE"/>
          </a:solidFill>
          <a:ln w="12700">
            <a:solidFill>
              <a:srgbClr val="D9E2EC"/>
            </a:solidFill>
            <a:prstDash val="solid"/>
          </a:ln>
        </p:spPr>
      </p:sp>
      <p:sp>
        <p:nvSpPr>
          <p:cNvPr id="23" name="Text 21"/>
          <p:cNvSpPr/>
          <p:nvPr/>
        </p:nvSpPr>
        <p:spPr>
          <a:xfrm>
            <a:off x="7479792" y="1773936"/>
            <a:ext cx="3931920" cy="237744"/>
          </a:xfrm>
          <a:prstGeom prst="rect">
            <a:avLst/>
          </a:prstGeom>
          <a:noFill/>
          <a:ln/>
        </p:spPr>
        <p:txBody>
          <a:bodyPr wrap="square" lIns="0" tIns="0" rIns="0" bIns="0" rtlCol="0" anchor="ctr"/>
          <a:lstStyle/>
          <a:p>
            <a:pPr indent="0" marL="0">
              <a:buNone/>
            </a:pPr>
            <a:r>
              <a:rPr lang="en-US" sz="1000" b="1" spc="140" kern="0" dirty="0">
                <a:solidFill>
                  <a:srgbClr val="1B4F8C"/>
                </a:solidFill>
                <a:latin typeface="Arial" pitchFamily="34" charset="0"/>
                <a:ea typeface="Arial" pitchFamily="34" charset="-122"/>
                <a:cs typeface="Arial" pitchFamily="34" charset="-120"/>
              </a:rPr>
              <a:t>STATUS</a:t>
            </a:r>
            <a:endParaRPr lang="en-US" sz="1000" dirty="0"/>
          </a:p>
        </p:txBody>
      </p:sp>
      <p:sp>
        <p:nvSpPr>
          <p:cNvPr id="24" name="Shape 22"/>
          <p:cNvSpPr/>
          <p:nvPr/>
        </p:nvSpPr>
        <p:spPr>
          <a:xfrm>
            <a:off x="7479792" y="2103120"/>
            <a:ext cx="3913632" cy="841248"/>
          </a:xfrm>
          <a:prstGeom prst="roundRect">
            <a:avLst>
              <a:gd name="adj" fmla="val 6522"/>
            </a:avLst>
          </a:prstGeom>
          <a:solidFill>
            <a:srgbClr val="FFFFFF"/>
          </a:solidFill>
          <a:ln w="12700">
            <a:solidFill>
              <a:srgbClr val="D9E2EC"/>
            </a:solidFill>
            <a:prstDash val="solid"/>
          </a:ln>
        </p:spPr>
      </p:sp>
      <p:sp>
        <p:nvSpPr>
          <p:cNvPr id="25" name="Shape 23"/>
          <p:cNvSpPr/>
          <p:nvPr/>
        </p:nvSpPr>
        <p:spPr>
          <a:xfrm>
            <a:off x="7479792" y="2103120"/>
            <a:ext cx="73152" cy="841248"/>
          </a:xfrm>
          <a:prstGeom prst="roundRect">
            <a:avLst/>
          </a:prstGeom>
          <a:solidFill>
            <a:srgbClr val="1E8449"/>
          </a:solidFill>
          <a:ln/>
        </p:spPr>
      </p:sp>
      <p:sp>
        <p:nvSpPr>
          <p:cNvPr id="26" name="Text 24"/>
          <p:cNvSpPr/>
          <p:nvPr/>
        </p:nvSpPr>
        <p:spPr>
          <a:xfrm>
            <a:off x="7699248" y="2176272"/>
            <a:ext cx="640080" cy="457200"/>
          </a:xfrm>
          <a:prstGeom prst="rect">
            <a:avLst/>
          </a:prstGeom>
          <a:noFill/>
          <a:ln/>
        </p:spPr>
        <p:txBody>
          <a:bodyPr wrap="square" lIns="0" tIns="0" rIns="0" bIns="0" rtlCol="0" anchor="ctr"/>
          <a:lstStyle/>
          <a:p>
            <a:pPr indent="0" marL="0">
              <a:buNone/>
            </a:pPr>
            <a:r>
              <a:rPr lang="en-US" sz="2200" b="1" dirty="0">
                <a:solidFill>
                  <a:srgbClr val="1E8449"/>
                </a:solidFill>
                <a:latin typeface="Arial" pitchFamily="34" charset="0"/>
                <a:ea typeface="Arial" pitchFamily="34" charset="-122"/>
                <a:cs typeface="Arial" pitchFamily="34" charset="-120"/>
              </a:rPr>
              <a:t>8</a:t>
            </a:r>
            <a:endParaRPr lang="en-US" sz="2200" dirty="0"/>
          </a:p>
        </p:txBody>
      </p:sp>
      <p:sp>
        <p:nvSpPr>
          <p:cNvPr id="27" name="Text 25"/>
          <p:cNvSpPr/>
          <p:nvPr/>
        </p:nvSpPr>
        <p:spPr>
          <a:xfrm>
            <a:off x="8321040" y="2194560"/>
            <a:ext cx="2926080" cy="256032"/>
          </a:xfrm>
          <a:prstGeom prst="rect">
            <a:avLst/>
          </a:prstGeom>
          <a:noFill/>
          <a:ln/>
        </p:spPr>
        <p:txBody>
          <a:bodyPr wrap="square" lIns="0" tIns="0" rIns="0" bIns="0" rtlCol="0" anchor="ctr"/>
          <a:lstStyle/>
          <a:p>
            <a:pPr indent="0" marL="0">
              <a:buNone/>
            </a:pPr>
            <a:r>
              <a:rPr lang="en-US" sz="1250" b="1" dirty="0">
                <a:solidFill>
                  <a:srgbClr val="27364B"/>
                </a:solidFill>
                <a:latin typeface="Arial" pitchFamily="34" charset="0"/>
                <a:ea typeface="Arial" pitchFamily="34" charset="-122"/>
                <a:cs typeface="Arial" pitchFamily="34" charset="-120"/>
              </a:rPr>
              <a:t>Applied</a:t>
            </a:r>
            <a:endParaRPr lang="en-US" sz="1250" dirty="0"/>
          </a:p>
        </p:txBody>
      </p:sp>
      <p:sp>
        <p:nvSpPr>
          <p:cNvPr id="28" name="Text 26"/>
          <p:cNvSpPr/>
          <p:nvPr/>
        </p:nvSpPr>
        <p:spPr>
          <a:xfrm>
            <a:off x="8321040" y="2468880"/>
            <a:ext cx="2971800" cy="420624"/>
          </a:xfrm>
          <a:prstGeom prst="rect">
            <a:avLst/>
          </a:prstGeom>
          <a:noFill/>
          <a:ln/>
        </p:spPr>
        <p:txBody>
          <a:bodyPr wrap="square" lIns="0" tIns="0" rIns="0" bIns="0" rtlCol="0" anchor="ctr"/>
          <a:lstStyle/>
          <a:p>
            <a:pPr indent="0" marL="0">
              <a:buNone/>
            </a:pPr>
            <a:r>
              <a:rPr lang="en-US" sz="880" dirty="0">
                <a:solidFill>
                  <a:srgbClr val="5B6472"/>
                </a:solidFill>
                <a:latin typeface="Calibri" pitchFamily="34" charset="0"/>
                <a:ea typeface="Calibri" pitchFamily="34" charset="-122"/>
                <a:cs typeface="Calibri" pitchFamily="34" charset="-120"/>
              </a:rPr>
              <a:t>All six architecture patterns plus both frontend/edge wins</a:t>
            </a:r>
            <a:endParaRPr lang="en-US" sz="880" dirty="0"/>
          </a:p>
        </p:txBody>
      </p:sp>
      <p:sp>
        <p:nvSpPr>
          <p:cNvPr id="29" name="Shape 27"/>
          <p:cNvSpPr/>
          <p:nvPr/>
        </p:nvSpPr>
        <p:spPr>
          <a:xfrm>
            <a:off x="7479792" y="3054096"/>
            <a:ext cx="3913632" cy="841248"/>
          </a:xfrm>
          <a:prstGeom prst="roundRect">
            <a:avLst>
              <a:gd name="adj" fmla="val 6522"/>
            </a:avLst>
          </a:prstGeom>
          <a:solidFill>
            <a:srgbClr val="FFFFFF"/>
          </a:solidFill>
          <a:ln w="12700">
            <a:solidFill>
              <a:srgbClr val="D9E2EC"/>
            </a:solidFill>
            <a:prstDash val="solid"/>
          </a:ln>
        </p:spPr>
      </p:sp>
      <p:sp>
        <p:nvSpPr>
          <p:cNvPr id="30" name="Shape 28"/>
          <p:cNvSpPr/>
          <p:nvPr/>
        </p:nvSpPr>
        <p:spPr>
          <a:xfrm>
            <a:off x="7479792" y="3054096"/>
            <a:ext cx="73152" cy="841248"/>
          </a:xfrm>
          <a:prstGeom prst="roundRect">
            <a:avLst/>
          </a:prstGeom>
          <a:solidFill>
            <a:srgbClr val="B03A2E"/>
          </a:solidFill>
          <a:ln/>
        </p:spPr>
      </p:sp>
      <p:sp>
        <p:nvSpPr>
          <p:cNvPr id="31" name="Text 29"/>
          <p:cNvSpPr/>
          <p:nvPr/>
        </p:nvSpPr>
        <p:spPr>
          <a:xfrm>
            <a:off x="7699248" y="3127248"/>
            <a:ext cx="640080" cy="457200"/>
          </a:xfrm>
          <a:prstGeom prst="rect">
            <a:avLst/>
          </a:prstGeom>
          <a:noFill/>
          <a:ln/>
        </p:spPr>
        <p:txBody>
          <a:bodyPr wrap="square" lIns="0" tIns="0" rIns="0" bIns="0" rtlCol="0" anchor="ctr"/>
          <a:lstStyle/>
          <a:p>
            <a:pPr indent="0" marL="0">
              <a:buNone/>
            </a:pPr>
            <a:r>
              <a:rPr lang="en-US" sz="2200" b="1" dirty="0">
                <a:solidFill>
                  <a:srgbClr val="B03A2E"/>
                </a:solidFill>
                <a:latin typeface="Arial" pitchFamily="34" charset="0"/>
                <a:ea typeface="Arial" pitchFamily="34" charset="-122"/>
                <a:cs typeface="Arial" pitchFamily="34" charset="-120"/>
              </a:rPr>
              <a:t>3</a:t>
            </a:r>
            <a:endParaRPr lang="en-US" sz="2200" dirty="0"/>
          </a:p>
        </p:txBody>
      </p:sp>
      <p:sp>
        <p:nvSpPr>
          <p:cNvPr id="32" name="Text 30"/>
          <p:cNvSpPr/>
          <p:nvPr/>
        </p:nvSpPr>
        <p:spPr>
          <a:xfrm>
            <a:off x="8321040" y="3145536"/>
            <a:ext cx="2926080" cy="256032"/>
          </a:xfrm>
          <a:prstGeom prst="rect">
            <a:avLst/>
          </a:prstGeom>
          <a:noFill/>
          <a:ln/>
        </p:spPr>
        <p:txBody>
          <a:bodyPr wrap="square" lIns="0" tIns="0" rIns="0" bIns="0" rtlCol="0" anchor="ctr"/>
          <a:lstStyle/>
          <a:p>
            <a:pPr indent="0" marL="0">
              <a:buNone/>
            </a:pPr>
            <a:r>
              <a:rPr lang="en-US" sz="1250" b="1" dirty="0">
                <a:solidFill>
                  <a:srgbClr val="27364B"/>
                </a:solidFill>
                <a:latin typeface="Arial" pitchFamily="34" charset="0"/>
                <a:ea typeface="Arial" pitchFamily="34" charset="-122"/>
                <a:cs typeface="Arial" pitchFamily="34" charset="-120"/>
              </a:rPr>
              <a:t>Recommended</a:t>
            </a:r>
            <a:endParaRPr lang="en-US" sz="1250" dirty="0"/>
          </a:p>
        </p:txBody>
      </p:sp>
      <p:sp>
        <p:nvSpPr>
          <p:cNvPr id="33" name="Text 31"/>
          <p:cNvSpPr/>
          <p:nvPr/>
        </p:nvSpPr>
        <p:spPr>
          <a:xfrm>
            <a:off x="8321040" y="3419856"/>
            <a:ext cx="2971800" cy="420624"/>
          </a:xfrm>
          <a:prstGeom prst="rect">
            <a:avLst/>
          </a:prstGeom>
          <a:noFill/>
          <a:ln/>
        </p:spPr>
        <p:txBody>
          <a:bodyPr wrap="square" lIns="0" tIns="0" rIns="0" bIns="0" rtlCol="0" anchor="ctr"/>
          <a:lstStyle/>
          <a:p>
            <a:pPr indent="0" marL="0">
              <a:buNone/>
            </a:pPr>
            <a:r>
              <a:rPr lang="en-US" sz="880" dirty="0">
                <a:solidFill>
                  <a:srgbClr val="5B6472"/>
                </a:solidFill>
                <a:latin typeface="Calibri" pitchFamily="34" charset="0"/>
                <a:ea typeface="Calibri" pitchFamily="34" charset="-122"/>
                <a:cs typeface="Calibri" pitchFamily="34" charset="-120"/>
              </a:rPr>
              <a:t>Bulkhead · in-process cache · gRPC — see closing slide</a:t>
            </a:r>
            <a:endParaRPr lang="en-US" sz="8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1B4F8C"/>
          </a:solidFill>
          <a:ln/>
        </p:spPr>
      </p:sp>
      <p:sp>
        <p:nvSpPr>
          <p:cNvPr id="3" name="Text 1"/>
          <p:cNvSpPr/>
          <p:nvPr/>
        </p:nvSpPr>
        <p:spPr>
          <a:xfrm>
            <a:off x="11155680" y="6519672"/>
            <a:ext cx="822960" cy="256032"/>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03 / 13</a:t>
            </a:r>
            <a:endParaRPr lang="en-US" sz="950" dirty="0"/>
          </a:p>
        </p:txBody>
      </p:sp>
      <p:sp>
        <p:nvSpPr>
          <p:cNvPr id="4" name="Text 2"/>
          <p:cNvSpPr/>
          <p:nvPr/>
        </p:nvSpPr>
        <p:spPr>
          <a:xfrm>
            <a:off x="548640" y="6519672"/>
            <a:ext cx="4572000" cy="256032"/>
          </a:xfrm>
          <a:prstGeom prst="rect">
            <a:avLst/>
          </a:prstGeom>
          <a:noFill/>
          <a:ln/>
        </p:spPr>
        <p:txBody>
          <a:bodyPr wrap="square" lIns="0" tIns="0" rIns="0" bIns="0" rtlCol="0" anchor="ctr"/>
          <a:lstStyle/>
          <a:p>
            <a:pPr indent="0" marL="0">
              <a:buNone/>
            </a:pPr>
            <a:r>
              <a:rPr lang="en-US" sz="850" spc="100" kern="0" dirty="0">
                <a:solidFill>
                  <a:srgbClr val="94A3B8"/>
                </a:solidFill>
                <a:latin typeface="Calibri" pitchFamily="34" charset="0"/>
                <a:ea typeface="Calibri" pitchFamily="34" charset="-122"/>
                <a:cs typeface="Calibri" pitchFamily="34" charset="-120"/>
              </a:rPr>
              <a:t>ACCOUNT HOME PERFORMANCE PROGRAM</a:t>
            </a:r>
            <a:endParaRPr lang="en-US" sz="850" dirty="0"/>
          </a:p>
        </p:txBody>
      </p:sp>
      <p:sp>
        <p:nvSpPr>
          <p:cNvPr id="5" name="Text 3"/>
          <p:cNvSpPr/>
          <p:nvPr/>
        </p:nvSpPr>
        <p:spPr>
          <a:xfrm>
            <a:off x="566928" y="310896"/>
            <a:ext cx="10607040" cy="237744"/>
          </a:xfrm>
          <a:prstGeom prst="rect">
            <a:avLst/>
          </a:prstGeom>
          <a:noFill/>
          <a:ln/>
        </p:spPr>
        <p:txBody>
          <a:bodyPr wrap="square" lIns="0" tIns="0" rIns="0" bIns="0" rtlCol="0" anchor="ctr"/>
          <a:lstStyle/>
          <a:p>
            <a:pPr indent="0" marL="0">
              <a:buNone/>
            </a:pPr>
            <a:r>
              <a:rPr lang="en-US" sz="1050" b="1" spc="220" kern="0" dirty="0">
                <a:solidFill>
                  <a:srgbClr val="1B4F8C"/>
                </a:solidFill>
                <a:latin typeface="Arial" pitchFamily="34" charset="0"/>
                <a:ea typeface="Arial" pitchFamily="34" charset="-122"/>
                <a:cs typeface="Arial" pitchFamily="34" charset="-120"/>
              </a:rPr>
              <a:t>WHAT'S IMPLEMENTED</a:t>
            </a:r>
            <a:endParaRPr lang="en-US" sz="1050" dirty="0"/>
          </a:p>
        </p:txBody>
      </p:sp>
      <p:sp>
        <p:nvSpPr>
          <p:cNvPr id="6" name="Text 4"/>
          <p:cNvSpPr/>
          <p:nvPr/>
        </p:nvSpPr>
        <p:spPr>
          <a:xfrm>
            <a:off x="548640" y="530352"/>
            <a:ext cx="10881360" cy="502920"/>
          </a:xfrm>
          <a:prstGeom prst="rect">
            <a:avLst/>
          </a:prstGeom>
          <a:noFill/>
          <a:ln/>
        </p:spPr>
        <p:txBody>
          <a:bodyPr wrap="square" lIns="0" tIns="0" rIns="0" bIns="0" rtlCol="0" anchor="ctr"/>
          <a:lstStyle/>
          <a:p>
            <a:pPr indent="0" marL="0">
              <a:buNone/>
            </a:pPr>
            <a:r>
              <a:rPr lang="en-US" sz="2700" b="1" dirty="0">
                <a:solidFill>
                  <a:srgbClr val="0B2545"/>
                </a:solidFill>
                <a:latin typeface="Arial" pitchFamily="34" charset="0"/>
                <a:ea typeface="Arial" pitchFamily="34" charset="-122"/>
                <a:cs typeface="Arial" pitchFamily="34" charset="-120"/>
              </a:rPr>
              <a:t>Six patterns, all applied</a:t>
            </a:r>
            <a:endParaRPr lang="en-US" sz="2700" dirty="0"/>
          </a:p>
        </p:txBody>
      </p:sp>
      <p:sp>
        <p:nvSpPr>
          <p:cNvPr id="7" name="Text 5"/>
          <p:cNvSpPr/>
          <p:nvPr/>
        </p:nvSpPr>
        <p:spPr>
          <a:xfrm>
            <a:off x="566928" y="1033272"/>
            <a:ext cx="10789920" cy="292608"/>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Each row expands into a full slide next, with its diagram, advantage, and Confluence source.</a:t>
            </a:r>
            <a:endParaRPr lang="en-US" sz="1250" dirty="0"/>
          </a:p>
        </p:txBody>
      </p:sp>
      <p:sp>
        <p:nvSpPr>
          <p:cNvPr id="8" name="Shape 6"/>
          <p:cNvSpPr/>
          <p:nvPr/>
        </p:nvSpPr>
        <p:spPr>
          <a:xfrm>
            <a:off x="566928" y="1371600"/>
            <a:ext cx="11064240" cy="0"/>
          </a:xfrm>
          <a:prstGeom prst="line">
            <a:avLst/>
          </a:prstGeom>
          <a:noFill/>
          <a:ln w="12700">
            <a:solidFill>
              <a:srgbClr val="D9E2EC"/>
            </a:solidFill>
            <a:prstDash val="solid"/>
          </a:ln>
        </p:spPr>
      </p:sp>
      <p:sp>
        <p:nvSpPr>
          <p:cNvPr id="9" name="Shape 7"/>
          <p:cNvSpPr/>
          <p:nvPr/>
        </p:nvSpPr>
        <p:spPr>
          <a:xfrm>
            <a:off x="548640" y="1691640"/>
            <a:ext cx="11091672" cy="576072"/>
          </a:xfrm>
          <a:prstGeom prst="rect">
            <a:avLst/>
          </a:prstGeom>
          <a:solidFill>
            <a:srgbClr val="FFFFFF"/>
          </a:solidFill>
          <a:ln/>
        </p:spPr>
      </p:sp>
      <p:sp>
        <p:nvSpPr>
          <p:cNvPr id="10" name="Text 8"/>
          <p:cNvSpPr/>
          <p:nvPr/>
        </p:nvSpPr>
        <p:spPr>
          <a:xfrm>
            <a:off x="658368" y="1691640"/>
            <a:ext cx="365760" cy="576072"/>
          </a:xfrm>
          <a:prstGeom prst="rect">
            <a:avLst/>
          </a:prstGeom>
          <a:noFill/>
          <a:ln/>
        </p:spPr>
        <p:txBody>
          <a:bodyPr wrap="square" lIns="0" tIns="0" rIns="0" bIns="0" rtlCol="0" anchor="ctr"/>
          <a:lstStyle/>
          <a:p>
            <a:pPr indent="0" marL="0">
              <a:buNone/>
            </a:pPr>
            <a:r>
              <a:rPr lang="en-US" sz="1300" b="1" dirty="0">
                <a:solidFill>
                  <a:srgbClr val="94A3B8"/>
                </a:solidFill>
                <a:latin typeface="Arial" pitchFamily="34" charset="0"/>
                <a:ea typeface="Arial" pitchFamily="34" charset="-122"/>
                <a:cs typeface="Arial" pitchFamily="34" charset="-120"/>
              </a:rPr>
              <a:t>1</a:t>
            </a:r>
            <a:endParaRPr lang="en-US" sz="1300" dirty="0"/>
          </a:p>
        </p:txBody>
      </p:sp>
      <p:sp>
        <p:nvSpPr>
          <p:cNvPr id="11" name="Text 9"/>
          <p:cNvSpPr/>
          <p:nvPr/>
        </p:nvSpPr>
        <p:spPr>
          <a:xfrm>
            <a:off x="1097280" y="1691640"/>
            <a:ext cx="3657600" cy="576072"/>
          </a:xfrm>
          <a:prstGeom prst="rect">
            <a:avLst/>
          </a:prstGeom>
          <a:noFill/>
          <a:ln/>
        </p:spPr>
        <p:txBody>
          <a:bodyPr wrap="square" lIns="0" tIns="0" rIns="0" bIns="0" rtlCol="0" anchor="ctr"/>
          <a:lstStyle/>
          <a:p>
            <a:pPr indent="0" marL="0">
              <a:buNone/>
            </a:pPr>
            <a:r>
              <a:rPr lang="en-US" sz="1300" b="1" dirty="0">
                <a:solidFill>
                  <a:srgbClr val="27364B"/>
                </a:solidFill>
                <a:latin typeface="Calibri" pitchFamily="34" charset="0"/>
                <a:ea typeface="Calibri" pitchFamily="34" charset="-122"/>
                <a:cs typeface="Calibri" pitchFamily="34" charset="-120"/>
              </a:rPr>
              <a:t>Parallel Downstream Calls</a:t>
            </a:r>
            <a:endParaRPr lang="en-US" sz="1300" dirty="0"/>
          </a:p>
        </p:txBody>
      </p:sp>
      <p:sp>
        <p:nvSpPr>
          <p:cNvPr id="12" name="Shape 10"/>
          <p:cNvSpPr/>
          <p:nvPr/>
        </p:nvSpPr>
        <p:spPr>
          <a:xfrm>
            <a:off x="4892040" y="1833372"/>
            <a:ext cx="1371600" cy="292608"/>
          </a:xfrm>
          <a:prstGeom prst="roundRect">
            <a:avLst>
              <a:gd name="adj" fmla="val 50000"/>
            </a:avLst>
          </a:prstGeom>
          <a:solidFill>
            <a:srgbClr val="E7F5EC"/>
          </a:solidFill>
          <a:ln w="13970">
            <a:solidFill>
              <a:srgbClr val="1E8449"/>
            </a:solidFill>
            <a:prstDash val="solid"/>
          </a:ln>
        </p:spPr>
      </p:sp>
      <p:sp>
        <p:nvSpPr>
          <p:cNvPr id="13" name="Text 11"/>
          <p:cNvSpPr/>
          <p:nvPr/>
        </p:nvSpPr>
        <p:spPr>
          <a:xfrm>
            <a:off x="4892040" y="1833372"/>
            <a:ext cx="1371600" cy="292608"/>
          </a:xfrm>
          <a:prstGeom prst="rect">
            <a:avLst/>
          </a:prstGeom>
          <a:noFill/>
          <a:ln/>
        </p:spPr>
        <p:txBody>
          <a:bodyPr wrap="square" lIns="0" tIns="0" rIns="0" bIns="0" rtlCol="0" anchor="ctr"/>
          <a:lstStyle/>
          <a:p>
            <a:pPr algn="ctr" indent="0" marL="0">
              <a:buNone/>
            </a:pPr>
            <a:r>
              <a:rPr lang="en-US" sz="950" b="1" dirty="0">
                <a:solidFill>
                  <a:srgbClr val="1E8449"/>
                </a:solidFill>
                <a:latin typeface="Arial" pitchFamily="34" charset="0"/>
                <a:ea typeface="Arial" pitchFamily="34" charset="-122"/>
                <a:cs typeface="Arial" pitchFamily="34" charset="-120"/>
              </a:rPr>
              <a:t>APPLIED</a:t>
            </a:r>
            <a:endParaRPr lang="en-US" sz="950" dirty="0"/>
          </a:p>
        </p:txBody>
      </p:sp>
      <p:sp>
        <p:nvSpPr>
          <p:cNvPr id="14" name="Text 12"/>
          <p:cNvSpPr/>
          <p:nvPr/>
        </p:nvSpPr>
        <p:spPr>
          <a:xfrm>
            <a:off x="6446520" y="1691640"/>
            <a:ext cx="5029200" cy="576072"/>
          </a:xfrm>
          <a:prstGeom prst="rect">
            <a:avLst/>
          </a:prstGeom>
          <a:noFill/>
          <a:ln/>
        </p:spPr>
        <p:txBody>
          <a:bodyPr wrap="square" lIns="0" tIns="0" rIns="0" bIns="0" rtlCol="0" anchor="ctr"/>
          <a:lstStyle/>
          <a:p>
            <a:pPr indent="0" marL="0">
              <a:buNone/>
            </a:pPr>
            <a:r>
              <a:rPr lang="en-US" sz="1050" dirty="0">
                <a:solidFill>
                  <a:srgbClr val="5B6472"/>
                </a:solidFill>
                <a:latin typeface="Calibri" pitchFamily="34" charset="0"/>
                <a:ea typeface="Calibri" pitchFamily="34" charset="-122"/>
                <a:cs typeface="Calibri" pitchFamily="34" charset="-120"/>
              </a:rPr>
              <a:t>5 parallel calls in ah-accounts-api and /accounts/preload</a:t>
            </a:r>
            <a:endParaRPr lang="en-US" sz="1050" dirty="0"/>
          </a:p>
        </p:txBody>
      </p:sp>
      <p:sp>
        <p:nvSpPr>
          <p:cNvPr id="15" name="Shape 13"/>
          <p:cNvSpPr/>
          <p:nvPr/>
        </p:nvSpPr>
        <p:spPr>
          <a:xfrm>
            <a:off x="548640" y="2350008"/>
            <a:ext cx="11091672" cy="576072"/>
          </a:xfrm>
          <a:prstGeom prst="rect">
            <a:avLst/>
          </a:prstGeom>
          <a:solidFill>
            <a:srgbClr val="F5F9FE"/>
          </a:solidFill>
          <a:ln/>
        </p:spPr>
      </p:sp>
      <p:sp>
        <p:nvSpPr>
          <p:cNvPr id="16" name="Text 14"/>
          <p:cNvSpPr/>
          <p:nvPr/>
        </p:nvSpPr>
        <p:spPr>
          <a:xfrm>
            <a:off x="658368" y="2350008"/>
            <a:ext cx="365760" cy="576072"/>
          </a:xfrm>
          <a:prstGeom prst="rect">
            <a:avLst/>
          </a:prstGeom>
          <a:noFill/>
          <a:ln/>
        </p:spPr>
        <p:txBody>
          <a:bodyPr wrap="square" lIns="0" tIns="0" rIns="0" bIns="0" rtlCol="0" anchor="ctr"/>
          <a:lstStyle/>
          <a:p>
            <a:pPr indent="0" marL="0">
              <a:buNone/>
            </a:pPr>
            <a:r>
              <a:rPr lang="en-US" sz="1300" b="1" dirty="0">
                <a:solidFill>
                  <a:srgbClr val="94A3B8"/>
                </a:solidFill>
                <a:latin typeface="Arial" pitchFamily="34" charset="0"/>
                <a:ea typeface="Arial" pitchFamily="34" charset="-122"/>
                <a:cs typeface="Arial" pitchFamily="34" charset="-120"/>
              </a:rPr>
              <a:t>4</a:t>
            </a:r>
            <a:endParaRPr lang="en-US" sz="1300" dirty="0"/>
          </a:p>
        </p:txBody>
      </p:sp>
      <p:sp>
        <p:nvSpPr>
          <p:cNvPr id="17" name="Text 15"/>
          <p:cNvSpPr/>
          <p:nvPr/>
        </p:nvSpPr>
        <p:spPr>
          <a:xfrm>
            <a:off x="1097280" y="2350008"/>
            <a:ext cx="3657600" cy="576072"/>
          </a:xfrm>
          <a:prstGeom prst="rect">
            <a:avLst/>
          </a:prstGeom>
          <a:noFill/>
          <a:ln/>
        </p:spPr>
        <p:txBody>
          <a:bodyPr wrap="square" lIns="0" tIns="0" rIns="0" bIns="0" rtlCol="0" anchor="ctr"/>
          <a:lstStyle/>
          <a:p>
            <a:pPr indent="0" marL="0">
              <a:buNone/>
            </a:pPr>
            <a:r>
              <a:rPr lang="en-US" sz="1300" b="1" dirty="0">
                <a:solidFill>
                  <a:srgbClr val="27364B"/>
                </a:solidFill>
                <a:latin typeface="Calibri" pitchFamily="34" charset="0"/>
                <a:ea typeface="Calibri" pitchFamily="34" charset="-122"/>
                <a:cs typeface="Calibri" pitchFamily="34" charset="-120"/>
              </a:rPr>
              <a:t>Redis Distributed Caching</a:t>
            </a:r>
            <a:endParaRPr lang="en-US" sz="1300" dirty="0"/>
          </a:p>
        </p:txBody>
      </p:sp>
      <p:sp>
        <p:nvSpPr>
          <p:cNvPr id="18" name="Shape 16"/>
          <p:cNvSpPr/>
          <p:nvPr/>
        </p:nvSpPr>
        <p:spPr>
          <a:xfrm>
            <a:off x="4892040" y="2491740"/>
            <a:ext cx="1371600" cy="292608"/>
          </a:xfrm>
          <a:prstGeom prst="roundRect">
            <a:avLst>
              <a:gd name="adj" fmla="val 50000"/>
            </a:avLst>
          </a:prstGeom>
          <a:solidFill>
            <a:srgbClr val="E7F5EC"/>
          </a:solidFill>
          <a:ln w="13970">
            <a:solidFill>
              <a:srgbClr val="1E8449"/>
            </a:solidFill>
            <a:prstDash val="solid"/>
          </a:ln>
        </p:spPr>
      </p:sp>
      <p:sp>
        <p:nvSpPr>
          <p:cNvPr id="19" name="Text 17"/>
          <p:cNvSpPr/>
          <p:nvPr/>
        </p:nvSpPr>
        <p:spPr>
          <a:xfrm>
            <a:off x="4892040" y="2491740"/>
            <a:ext cx="1371600" cy="292608"/>
          </a:xfrm>
          <a:prstGeom prst="rect">
            <a:avLst/>
          </a:prstGeom>
          <a:noFill/>
          <a:ln/>
        </p:spPr>
        <p:txBody>
          <a:bodyPr wrap="square" lIns="0" tIns="0" rIns="0" bIns="0" rtlCol="0" anchor="ctr"/>
          <a:lstStyle/>
          <a:p>
            <a:pPr algn="ctr" indent="0" marL="0">
              <a:buNone/>
            </a:pPr>
            <a:r>
              <a:rPr lang="en-US" sz="950" b="1" dirty="0">
                <a:solidFill>
                  <a:srgbClr val="1E8449"/>
                </a:solidFill>
                <a:latin typeface="Arial" pitchFamily="34" charset="0"/>
                <a:ea typeface="Arial" pitchFamily="34" charset="-122"/>
                <a:cs typeface="Arial" pitchFamily="34" charset="-120"/>
              </a:rPr>
              <a:t>APPLIED</a:t>
            </a:r>
            <a:endParaRPr lang="en-US" sz="950" dirty="0"/>
          </a:p>
        </p:txBody>
      </p:sp>
      <p:sp>
        <p:nvSpPr>
          <p:cNvPr id="20" name="Text 18"/>
          <p:cNvSpPr/>
          <p:nvPr/>
        </p:nvSpPr>
        <p:spPr>
          <a:xfrm>
            <a:off x="6446520" y="2350008"/>
            <a:ext cx="5029200" cy="576072"/>
          </a:xfrm>
          <a:prstGeom prst="rect">
            <a:avLst/>
          </a:prstGeom>
          <a:noFill/>
          <a:ln/>
        </p:spPr>
        <p:txBody>
          <a:bodyPr wrap="square" lIns="0" tIns="0" rIns="0" bIns="0" rtlCol="0" anchor="ctr"/>
          <a:lstStyle/>
          <a:p>
            <a:pPr indent="0" marL="0">
              <a:buNone/>
            </a:pPr>
            <a:r>
              <a:rPr lang="en-US" sz="1050" dirty="0">
                <a:solidFill>
                  <a:srgbClr val="5B6472"/>
                </a:solidFill>
                <a:latin typeface="Calibri" pitchFamily="34" charset="0"/>
                <a:ea typeface="Calibri" pitchFamily="34" charset="-122"/>
                <a:cs typeface="Calibri" pitchFamily="34" charset="-120"/>
              </a:rPr>
              <a:t>Confirmed via ah-cache-manager, TTLs set per service</a:t>
            </a:r>
            <a:endParaRPr lang="en-US" sz="1050" dirty="0"/>
          </a:p>
        </p:txBody>
      </p:sp>
      <p:sp>
        <p:nvSpPr>
          <p:cNvPr id="21" name="Shape 19"/>
          <p:cNvSpPr/>
          <p:nvPr/>
        </p:nvSpPr>
        <p:spPr>
          <a:xfrm>
            <a:off x="548640" y="3008376"/>
            <a:ext cx="11091672" cy="576072"/>
          </a:xfrm>
          <a:prstGeom prst="rect">
            <a:avLst/>
          </a:prstGeom>
          <a:solidFill>
            <a:srgbClr val="FFFFFF"/>
          </a:solidFill>
          <a:ln/>
        </p:spPr>
      </p:sp>
      <p:sp>
        <p:nvSpPr>
          <p:cNvPr id="22" name="Text 20"/>
          <p:cNvSpPr/>
          <p:nvPr/>
        </p:nvSpPr>
        <p:spPr>
          <a:xfrm>
            <a:off x="658368" y="3008376"/>
            <a:ext cx="365760" cy="576072"/>
          </a:xfrm>
          <a:prstGeom prst="rect">
            <a:avLst/>
          </a:prstGeom>
          <a:noFill/>
          <a:ln/>
        </p:spPr>
        <p:txBody>
          <a:bodyPr wrap="square" lIns="0" tIns="0" rIns="0" bIns="0" rtlCol="0" anchor="ctr"/>
          <a:lstStyle/>
          <a:p>
            <a:pPr indent="0" marL="0">
              <a:buNone/>
            </a:pPr>
            <a:r>
              <a:rPr lang="en-US" sz="1300" b="1" dirty="0">
                <a:solidFill>
                  <a:srgbClr val="94A3B8"/>
                </a:solidFill>
                <a:latin typeface="Arial" pitchFamily="34" charset="0"/>
                <a:ea typeface="Arial" pitchFamily="34" charset="-122"/>
                <a:cs typeface="Arial" pitchFamily="34" charset="-120"/>
              </a:rPr>
              <a:t>9</a:t>
            </a:r>
            <a:endParaRPr lang="en-US" sz="1300" dirty="0"/>
          </a:p>
        </p:txBody>
      </p:sp>
      <p:sp>
        <p:nvSpPr>
          <p:cNvPr id="23" name="Text 21"/>
          <p:cNvSpPr/>
          <p:nvPr/>
        </p:nvSpPr>
        <p:spPr>
          <a:xfrm>
            <a:off x="1097280" y="3008376"/>
            <a:ext cx="3657600" cy="576072"/>
          </a:xfrm>
          <a:prstGeom prst="rect">
            <a:avLst/>
          </a:prstGeom>
          <a:noFill/>
          <a:ln/>
        </p:spPr>
        <p:txBody>
          <a:bodyPr wrap="square" lIns="0" tIns="0" rIns="0" bIns="0" rtlCol="0" anchor="ctr"/>
          <a:lstStyle/>
          <a:p>
            <a:pPr indent="0" marL="0">
              <a:buNone/>
            </a:pPr>
            <a:r>
              <a:rPr lang="en-US" sz="1300" b="1" dirty="0">
                <a:solidFill>
                  <a:srgbClr val="27364B"/>
                </a:solidFill>
                <a:latin typeface="Calibri" pitchFamily="34" charset="0"/>
                <a:ea typeface="Calibri" pitchFamily="34" charset="-122"/>
                <a:cs typeface="Calibri" pitchFamily="34" charset="-120"/>
              </a:rPr>
              <a:t>Distributed Tracing / RED Metrics</a:t>
            </a:r>
            <a:endParaRPr lang="en-US" sz="1300" dirty="0"/>
          </a:p>
        </p:txBody>
      </p:sp>
      <p:sp>
        <p:nvSpPr>
          <p:cNvPr id="24" name="Shape 22"/>
          <p:cNvSpPr/>
          <p:nvPr/>
        </p:nvSpPr>
        <p:spPr>
          <a:xfrm>
            <a:off x="4892040" y="3150108"/>
            <a:ext cx="1371600" cy="292608"/>
          </a:xfrm>
          <a:prstGeom prst="roundRect">
            <a:avLst>
              <a:gd name="adj" fmla="val 50000"/>
            </a:avLst>
          </a:prstGeom>
          <a:solidFill>
            <a:srgbClr val="E7F5EC"/>
          </a:solidFill>
          <a:ln w="13970">
            <a:solidFill>
              <a:srgbClr val="1E8449"/>
            </a:solidFill>
            <a:prstDash val="solid"/>
          </a:ln>
        </p:spPr>
      </p:sp>
      <p:sp>
        <p:nvSpPr>
          <p:cNvPr id="25" name="Text 23"/>
          <p:cNvSpPr/>
          <p:nvPr/>
        </p:nvSpPr>
        <p:spPr>
          <a:xfrm>
            <a:off x="4892040" y="3150108"/>
            <a:ext cx="1371600" cy="292608"/>
          </a:xfrm>
          <a:prstGeom prst="rect">
            <a:avLst/>
          </a:prstGeom>
          <a:noFill/>
          <a:ln/>
        </p:spPr>
        <p:txBody>
          <a:bodyPr wrap="square" lIns="0" tIns="0" rIns="0" bIns="0" rtlCol="0" anchor="ctr"/>
          <a:lstStyle/>
          <a:p>
            <a:pPr algn="ctr" indent="0" marL="0">
              <a:buNone/>
            </a:pPr>
            <a:r>
              <a:rPr lang="en-US" sz="950" b="1" dirty="0">
                <a:solidFill>
                  <a:srgbClr val="1E8449"/>
                </a:solidFill>
                <a:latin typeface="Arial" pitchFamily="34" charset="0"/>
                <a:ea typeface="Arial" pitchFamily="34" charset="-122"/>
                <a:cs typeface="Arial" pitchFamily="34" charset="-120"/>
              </a:rPr>
              <a:t>APPLIED</a:t>
            </a:r>
            <a:endParaRPr lang="en-US" sz="950" dirty="0"/>
          </a:p>
        </p:txBody>
      </p:sp>
      <p:sp>
        <p:nvSpPr>
          <p:cNvPr id="26" name="Text 24"/>
          <p:cNvSpPr/>
          <p:nvPr/>
        </p:nvSpPr>
        <p:spPr>
          <a:xfrm>
            <a:off x="6446520" y="3008376"/>
            <a:ext cx="5029200" cy="576072"/>
          </a:xfrm>
          <a:prstGeom prst="rect">
            <a:avLst/>
          </a:prstGeom>
          <a:noFill/>
          <a:ln/>
        </p:spPr>
        <p:txBody>
          <a:bodyPr wrap="square" lIns="0" tIns="0" rIns="0" bIns="0" rtlCol="0" anchor="ctr"/>
          <a:lstStyle/>
          <a:p>
            <a:pPr indent="0" marL="0">
              <a:buNone/>
            </a:pPr>
            <a:r>
              <a:rPr lang="en-US" sz="1050" dirty="0">
                <a:solidFill>
                  <a:srgbClr val="5B6472"/>
                </a:solidFill>
                <a:latin typeface="Calibri" pitchFamily="34" charset="0"/>
                <a:ea typeface="Calibri" pitchFamily="34" charset="-122"/>
                <a:cs typeface="Calibri" pitchFamily="34" charset="-120"/>
              </a:rPr>
              <a:t>Dynatrace Experience Vitals and Error Inspector in use</a:t>
            </a:r>
            <a:endParaRPr lang="en-US" sz="1050" dirty="0"/>
          </a:p>
        </p:txBody>
      </p:sp>
      <p:sp>
        <p:nvSpPr>
          <p:cNvPr id="27" name="Shape 25"/>
          <p:cNvSpPr/>
          <p:nvPr/>
        </p:nvSpPr>
        <p:spPr>
          <a:xfrm>
            <a:off x="548640" y="3666744"/>
            <a:ext cx="11091672" cy="576072"/>
          </a:xfrm>
          <a:prstGeom prst="rect">
            <a:avLst/>
          </a:prstGeom>
          <a:solidFill>
            <a:srgbClr val="F5F9FE"/>
          </a:solidFill>
          <a:ln/>
        </p:spPr>
      </p:sp>
      <p:sp>
        <p:nvSpPr>
          <p:cNvPr id="28" name="Text 26"/>
          <p:cNvSpPr/>
          <p:nvPr/>
        </p:nvSpPr>
        <p:spPr>
          <a:xfrm>
            <a:off x="658368" y="3666744"/>
            <a:ext cx="365760" cy="576072"/>
          </a:xfrm>
          <a:prstGeom prst="rect">
            <a:avLst/>
          </a:prstGeom>
          <a:noFill/>
          <a:ln/>
        </p:spPr>
        <p:txBody>
          <a:bodyPr wrap="square" lIns="0" tIns="0" rIns="0" bIns="0" rtlCol="0" anchor="ctr"/>
          <a:lstStyle/>
          <a:p>
            <a:pPr indent="0" marL="0">
              <a:buNone/>
            </a:pPr>
            <a:r>
              <a:rPr lang="en-US" sz="1300" b="1" dirty="0">
                <a:solidFill>
                  <a:srgbClr val="94A3B8"/>
                </a:solidFill>
                <a:latin typeface="Arial" pitchFamily="34" charset="0"/>
                <a:ea typeface="Arial" pitchFamily="34" charset="-122"/>
                <a:cs typeface="Arial" pitchFamily="34" charset="-120"/>
              </a:rPr>
              <a:t>5</a:t>
            </a:r>
            <a:endParaRPr lang="en-US" sz="1300" dirty="0"/>
          </a:p>
        </p:txBody>
      </p:sp>
      <p:sp>
        <p:nvSpPr>
          <p:cNvPr id="29" name="Text 27"/>
          <p:cNvSpPr/>
          <p:nvPr/>
        </p:nvSpPr>
        <p:spPr>
          <a:xfrm>
            <a:off x="1097280" y="3666744"/>
            <a:ext cx="3657600" cy="576072"/>
          </a:xfrm>
          <a:prstGeom prst="rect">
            <a:avLst/>
          </a:prstGeom>
          <a:noFill/>
          <a:ln/>
        </p:spPr>
        <p:txBody>
          <a:bodyPr wrap="square" lIns="0" tIns="0" rIns="0" bIns="0" rtlCol="0" anchor="ctr"/>
          <a:lstStyle/>
          <a:p>
            <a:pPr indent="0" marL="0">
              <a:buNone/>
            </a:pPr>
            <a:r>
              <a:rPr lang="en-US" sz="1300" b="1" dirty="0">
                <a:solidFill>
                  <a:srgbClr val="27364B"/>
                </a:solidFill>
                <a:latin typeface="Calibri" pitchFamily="34" charset="0"/>
                <a:ea typeface="Calibri" pitchFamily="34" charset="-122"/>
                <a:cs typeface="Calibri" pitchFamily="34" charset="-120"/>
              </a:rPr>
              <a:t>Async / Event-Driven Processing</a:t>
            </a:r>
            <a:endParaRPr lang="en-US" sz="1300" dirty="0"/>
          </a:p>
        </p:txBody>
      </p:sp>
      <p:sp>
        <p:nvSpPr>
          <p:cNvPr id="30" name="Shape 28"/>
          <p:cNvSpPr/>
          <p:nvPr/>
        </p:nvSpPr>
        <p:spPr>
          <a:xfrm>
            <a:off x="4892040" y="3808476"/>
            <a:ext cx="1371600" cy="292608"/>
          </a:xfrm>
          <a:prstGeom prst="roundRect">
            <a:avLst>
              <a:gd name="adj" fmla="val 50000"/>
            </a:avLst>
          </a:prstGeom>
          <a:solidFill>
            <a:srgbClr val="E7F5EC"/>
          </a:solidFill>
          <a:ln w="13970">
            <a:solidFill>
              <a:srgbClr val="1E8449"/>
            </a:solidFill>
            <a:prstDash val="solid"/>
          </a:ln>
        </p:spPr>
      </p:sp>
      <p:sp>
        <p:nvSpPr>
          <p:cNvPr id="31" name="Text 29"/>
          <p:cNvSpPr/>
          <p:nvPr/>
        </p:nvSpPr>
        <p:spPr>
          <a:xfrm>
            <a:off x="4892040" y="3808476"/>
            <a:ext cx="1371600" cy="292608"/>
          </a:xfrm>
          <a:prstGeom prst="rect">
            <a:avLst/>
          </a:prstGeom>
          <a:noFill/>
          <a:ln/>
        </p:spPr>
        <p:txBody>
          <a:bodyPr wrap="square" lIns="0" tIns="0" rIns="0" bIns="0" rtlCol="0" anchor="ctr"/>
          <a:lstStyle/>
          <a:p>
            <a:pPr algn="ctr" indent="0" marL="0">
              <a:buNone/>
            </a:pPr>
            <a:r>
              <a:rPr lang="en-US" sz="950" b="1" dirty="0">
                <a:solidFill>
                  <a:srgbClr val="1E8449"/>
                </a:solidFill>
                <a:latin typeface="Arial" pitchFamily="34" charset="0"/>
                <a:ea typeface="Arial" pitchFamily="34" charset="-122"/>
                <a:cs typeface="Arial" pitchFamily="34" charset="-120"/>
              </a:rPr>
              <a:t>APPLIED</a:t>
            </a:r>
            <a:endParaRPr lang="en-US" sz="950" dirty="0"/>
          </a:p>
        </p:txBody>
      </p:sp>
      <p:sp>
        <p:nvSpPr>
          <p:cNvPr id="32" name="Text 30"/>
          <p:cNvSpPr/>
          <p:nvPr/>
        </p:nvSpPr>
        <p:spPr>
          <a:xfrm>
            <a:off x="6446520" y="3666744"/>
            <a:ext cx="5029200" cy="576072"/>
          </a:xfrm>
          <a:prstGeom prst="rect">
            <a:avLst/>
          </a:prstGeom>
          <a:noFill/>
          <a:ln/>
        </p:spPr>
        <p:txBody>
          <a:bodyPr wrap="square" lIns="0" tIns="0" rIns="0" bIns="0" rtlCol="0" anchor="ctr"/>
          <a:lstStyle/>
          <a:p>
            <a:pPr indent="0" marL="0">
              <a:buNone/>
            </a:pPr>
            <a:r>
              <a:rPr lang="en-US" sz="1050" dirty="0">
                <a:solidFill>
                  <a:srgbClr val="5B6472"/>
                </a:solidFill>
                <a:latin typeface="Calibri" pitchFamily="34" charset="0"/>
                <a:ea typeface="Calibri" pitchFamily="34" charset="-122"/>
                <a:cs typeface="Calibri" pitchFamily="34" charset="-120"/>
              </a:rPr>
              <a:t>Preload and CoBrowse defer live in production</a:t>
            </a:r>
            <a:endParaRPr lang="en-US" sz="1050" dirty="0"/>
          </a:p>
        </p:txBody>
      </p:sp>
      <p:sp>
        <p:nvSpPr>
          <p:cNvPr id="33" name="Shape 31"/>
          <p:cNvSpPr/>
          <p:nvPr/>
        </p:nvSpPr>
        <p:spPr>
          <a:xfrm>
            <a:off x="548640" y="4325112"/>
            <a:ext cx="11091672" cy="576072"/>
          </a:xfrm>
          <a:prstGeom prst="rect">
            <a:avLst/>
          </a:prstGeom>
          <a:solidFill>
            <a:srgbClr val="FFFFFF"/>
          </a:solidFill>
          <a:ln/>
        </p:spPr>
      </p:sp>
      <p:sp>
        <p:nvSpPr>
          <p:cNvPr id="34" name="Text 32"/>
          <p:cNvSpPr/>
          <p:nvPr/>
        </p:nvSpPr>
        <p:spPr>
          <a:xfrm>
            <a:off x="658368" y="4325112"/>
            <a:ext cx="365760" cy="576072"/>
          </a:xfrm>
          <a:prstGeom prst="rect">
            <a:avLst/>
          </a:prstGeom>
          <a:noFill/>
          <a:ln/>
        </p:spPr>
        <p:txBody>
          <a:bodyPr wrap="square" lIns="0" tIns="0" rIns="0" bIns="0" rtlCol="0" anchor="ctr"/>
          <a:lstStyle/>
          <a:p>
            <a:pPr indent="0" marL="0">
              <a:buNone/>
            </a:pPr>
            <a:r>
              <a:rPr lang="en-US" sz="1300" b="1" dirty="0">
                <a:solidFill>
                  <a:srgbClr val="94A3B8"/>
                </a:solidFill>
                <a:latin typeface="Arial" pitchFamily="34" charset="0"/>
                <a:ea typeface="Arial" pitchFamily="34" charset="-122"/>
                <a:cs typeface="Arial" pitchFamily="34" charset="-120"/>
              </a:rPr>
              <a:t>7</a:t>
            </a:r>
            <a:endParaRPr lang="en-US" sz="1300" dirty="0"/>
          </a:p>
        </p:txBody>
      </p:sp>
      <p:sp>
        <p:nvSpPr>
          <p:cNvPr id="35" name="Text 33"/>
          <p:cNvSpPr/>
          <p:nvPr/>
        </p:nvSpPr>
        <p:spPr>
          <a:xfrm>
            <a:off x="1097280" y="4325112"/>
            <a:ext cx="3657600" cy="576072"/>
          </a:xfrm>
          <a:prstGeom prst="rect">
            <a:avLst/>
          </a:prstGeom>
          <a:noFill/>
          <a:ln/>
        </p:spPr>
        <p:txBody>
          <a:bodyPr wrap="square" lIns="0" tIns="0" rIns="0" bIns="0" rtlCol="0" anchor="ctr"/>
          <a:lstStyle/>
          <a:p>
            <a:pPr indent="0" marL="0">
              <a:buNone/>
            </a:pPr>
            <a:r>
              <a:rPr lang="en-US" sz="1300" b="1" dirty="0">
                <a:solidFill>
                  <a:srgbClr val="27364B"/>
                </a:solidFill>
                <a:latin typeface="Calibri" pitchFamily="34" charset="0"/>
                <a:ea typeface="Calibri" pitchFamily="34" charset="-122"/>
                <a:cs typeface="Calibri" pitchFamily="34" charset="-120"/>
              </a:rPr>
              <a:t>Resilience Framework</a:t>
            </a:r>
            <a:endParaRPr lang="en-US" sz="1300" dirty="0"/>
          </a:p>
        </p:txBody>
      </p:sp>
      <p:sp>
        <p:nvSpPr>
          <p:cNvPr id="36" name="Shape 34"/>
          <p:cNvSpPr/>
          <p:nvPr/>
        </p:nvSpPr>
        <p:spPr>
          <a:xfrm>
            <a:off x="4892040" y="4466844"/>
            <a:ext cx="1371600" cy="292608"/>
          </a:xfrm>
          <a:prstGeom prst="roundRect">
            <a:avLst>
              <a:gd name="adj" fmla="val 50000"/>
            </a:avLst>
          </a:prstGeom>
          <a:solidFill>
            <a:srgbClr val="E7F5EC"/>
          </a:solidFill>
          <a:ln w="13970">
            <a:solidFill>
              <a:srgbClr val="1E8449"/>
            </a:solidFill>
            <a:prstDash val="solid"/>
          </a:ln>
        </p:spPr>
      </p:sp>
      <p:sp>
        <p:nvSpPr>
          <p:cNvPr id="37" name="Text 35"/>
          <p:cNvSpPr/>
          <p:nvPr/>
        </p:nvSpPr>
        <p:spPr>
          <a:xfrm>
            <a:off x="4892040" y="4466844"/>
            <a:ext cx="1371600" cy="292608"/>
          </a:xfrm>
          <a:prstGeom prst="rect">
            <a:avLst/>
          </a:prstGeom>
          <a:noFill/>
          <a:ln/>
        </p:spPr>
        <p:txBody>
          <a:bodyPr wrap="square" lIns="0" tIns="0" rIns="0" bIns="0" rtlCol="0" anchor="ctr"/>
          <a:lstStyle/>
          <a:p>
            <a:pPr algn="ctr" indent="0" marL="0">
              <a:buNone/>
            </a:pPr>
            <a:r>
              <a:rPr lang="en-US" sz="950" b="1" dirty="0">
                <a:solidFill>
                  <a:srgbClr val="1E8449"/>
                </a:solidFill>
                <a:latin typeface="Arial" pitchFamily="34" charset="0"/>
                <a:ea typeface="Arial" pitchFamily="34" charset="-122"/>
                <a:cs typeface="Arial" pitchFamily="34" charset="-120"/>
              </a:rPr>
              <a:t>APPLIED</a:t>
            </a:r>
            <a:endParaRPr lang="en-US" sz="950" dirty="0"/>
          </a:p>
        </p:txBody>
      </p:sp>
      <p:sp>
        <p:nvSpPr>
          <p:cNvPr id="38" name="Text 36"/>
          <p:cNvSpPr/>
          <p:nvPr/>
        </p:nvSpPr>
        <p:spPr>
          <a:xfrm>
            <a:off x="6446520" y="4325112"/>
            <a:ext cx="5029200" cy="576072"/>
          </a:xfrm>
          <a:prstGeom prst="rect">
            <a:avLst/>
          </a:prstGeom>
          <a:noFill/>
          <a:ln/>
        </p:spPr>
        <p:txBody>
          <a:bodyPr wrap="square" lIns="0" tIns="0" rIns="0" bIns="0" rtlCol="0" anchor="ctr"/>
          <a:lstStyle/>
          <a:p>
            <a:pPr indent="0" marL="0">
              <a:buNone/>
            </a:pPr>
            <a:r>
              <a:rPr lang="en-US" sz="1050" dirty="0">
                <a:solidFill>
                  <a:srgbClr val="5B6472"/>
                </a:solidFill>
                <a:latin typeface="Calibri" pitchFamily="34" charset="0"/>
                <a:ea typeface="Calibri" pitchFamily="34" charset="-122"/>
                <a:cs typeface="Calibri" pitchFamily="34" charset="-120"/>
              </a:rPr>
              <a:t>Two circuit breakers live (Resilience4j)</a:t>
            </a:r>
            <a:endParaRPr lang="en-US" sz="1050" dirty="0"/>
          </a:p>
        </p:txBody>
      </p:sp>
      <p:sp>
        <p:nvSpPr>
          <p:cNvPr id="39" name="Shape 37"/>
          <p:cNvSpPr/>
          <p:nvPr/>
        </p:nvSpPr>
        <p:spPr>
          <a:xfrm>
            <a:off x="548640" y="4983480"/>
            <a:ext cx="11091672" cy="576072"/>
          </a:xfrm>
          <a:prstGeom prst="rect">
            <a:avLst/>
          </a:prstGeom>
          <a:solidFill>
            <a:srgbClr val="F5F9FE"/>
          </a:solidFill>
          <a:ln/>
        </p:spPr>
      </p:sp>
      <p:sp>
        <p:nvSpPr>
          <p:cNvPr id="40" name="Text 38"/>
          <p:cNvSpPr/>
          <p:nvPr/>
        </p:nvSpPr>
        <p:spPr>
          <a:xfrm>
            <a:off x="658368" y="4983480"/>
            <a:ext cx="365760" cy="576072"/>
          </a:xfrm>
          <a:prstGeom prst="rect">
            <a:avLst/>
          </a:prstGeom>
          <a:noFill/>
          <a:ln/>
        </p:spPr>
        <p:txBody>
          <a:bodyPr wrap="square" lIns="0" tIns="0" rIns="0" bIns="0" rtlCol="0" anchor="ctr"/>
          <a:lstStyle/>
          <a:p>
            <a:pPr indent="0" marL="0">
              <a:buNone/>
            </a:pPr>
            <a:r>
              <a:rPr lang="en-US" sz="1300" b="1" dirty="0">
                <a:solidFill>
                  <a:srgbClr val="94A3B8"/>
                </a:solidFill>
                <a:latin typeface="Arial" pitchFamily="34" charset="0"/>
                <a:ea typeface="Arial" pitchFamily="34" charset="-122"/>
                <a:cs typeface="Arial" pitchFamily="34" charset="-120"/>
              </a:rPr>
              <a:t>8</a:t>
            </a:r>
            <a:endParaRPr lang="en-US" sz="1300" dirty="0"/>
          </a:p>
        </p:txBody>
      </p:sp>
      <p:sp>
        <p:nvSpPr>
          <p:cNvPr id="41" name="Text 39"/>
          <p:cNvSpPr/>
          <p:nvPr/>
        </p:nvSpPr>
        <p:spPr>
          <a:xfrm>
            <a:off x="1097280" y="4983480"/>
            <a:ext cx="3657600" cy="576072"/>
          </a:xfrm>
          <a:prstGeom prst="rect">
            <a:avLst/>
          </a:prstGeom>
          <a:noFill/>
          <a:ln/>
        </p:spPr>
        <p:txBody>
          <a:bodyPr wrap="square" lIns="0" tIns="0" rIns="0" bIns="0" rtlCol="0" anchor="ctr"/>
          <a:lstStyle/>
          <a:p>
            <a:pPr indent="0" marL="0">
              <a:buNone/>
            </a:pPr>
            <a:r>
              <a:rPr lang="en-US" sz="1300" b="1" dirty="0">
                <a:solidFill>
                  <a:srgbClr val="27364B"/>
                </a:solidFill>
                <a:latin typeface="Calibri" pitchFamily="34" charset="0"/>
                <a:ea typeface="Calibri" pitchFamily="34" charset="-122"/>
                <a:cs typeface="Calibri" pitchFamily="34" charset="-120"/>
              </a:rPr>
              <a:t>API Gateway Policy Layer</a:t>
            </a:r>
            <a:endParaRPr lang="en-US" sz="1300" dirty="0"/>
          </a:p>
        </p:txBody>
      </p:sp>
      <p:sp>
        <p:nvSpPr>
          <p:cNvPr id="42" name="Shape 40"/>
          <p:cNvSpPr/>
          <p:nvPr/>
        </p:nvSpPr>
        <p:spPr>
          <a:xfrm>
            <a:off x="4892040" y="5125212"/>
            <a:ext cx="1371600" cy="292608"/>
          </a:xfrm>
          <a:prstGeom prst="roundRect">
            <a:avLst>
              <a:gd name="adj" fmla="val 50000"/>
            </a:avLst>
          </a:prstGeom>
          <a:solidFill>
            <a:srgbClr val="E7F5EC"/>
          </a:solidFill>
          <a:ln w="13970">
            <a:solidFill>
              <a:srgbClr val="1E8449"/>
            </a:solidFill>
            <a:prstDash val="solid"/>
          </a:ln>
        </p:spPr>
      </p:sp>
      <p:sp>
        <p:nvSpPr>
          <p:cNvPr id="43" name="Text 41"/>
          <p:cNvSpPr/>
          <p:nvPr/>
        </p:nvSpPr>
        <p:spPr>
          <a:xfrm>
            <a:off x="4892040" y="5125212"/>
            <a:ext cx="1371600" cy="292608"/>
          </a:xfrm>
          <a:prstGeom prst="rect">
            <a:avLst/>
          </a:prstGeom>
          <a:noFill/>
          <a:ln/>
        </p:spPr>
        <p:txBody>
          <a:bodyPr wrap="square" lIns="0" tIns="0" rIns="0" bIns="0" rtlCol="0" anchor="ctr"/>
          <a:lstStyle/>
          <a:p>
            <a:pPr algn="ctr" indent="0" marL="0">
              <a:buNone/>
            </a:pPr>
            <a:r>
              <a:rPr lang="en-US" sz="950" b="1" dirty="0">
                <a:solidFill>
                  <a:srgbClr val="1E8449"/>
                </a:solidFill>
                <a:latin typeface="Arial" pitchFamily="34" charset="0"/>
                <a:ea typeface="Arial" pitchFamily="34" charset="-122"/>
                <a:cs typeface="Arial" pitchFamily="34" charset="-120"/>
              </a:rPr>
              <a:t>APPLIED</a:t>
            </a:r>
            <a:endParaRPr lang="en-US" sz="950" dirty="0"/>
          </a:p>
        </p:txBody>
      </p:sp>
      <p:sp>
        <p:nvSpPr>
          <p:cNvPr id="44" name="Text 42"/>
          <p:cNvSpPr/>
          <p:nvPr/>
        </p:nvSpPr>
        <p:spPr>
          <a:xfrm>
            <a:off x="6446520" y="4983480"/>
            <a:ext cx="5029200" cy="576072"/>
          </a:xfrm>
          <a:prstGeom prst="rect">
            <a:avLst/>
          </a:prstGeom>
          <a:noFill/>
          <a:ln/>
        </p:spPr>
        <p:txBody>
          <a:bodyPr wrap="square" lIns="0" tIns="0" rIns="0" bIns="0" rtlCol="0" anchor="ctr"/>
          <a:lstStyle/>
          <a:p>
            <a:pPr indent="0" marL="0">
              <a:buNone/>
            </a:pPr>
            <a:r>
              <a:rPr lang="en-US" sz="1050" dirty="0">
                <a:solidFill>
                  <a:srgbClr val="5B6472"/>
                </a:solidFill>
                <a:latin typeface="Calibri" pitchFamily="34" charset="0"/>
                <a:ea typeface="Calibri" pitchFamily="34" charset="-122"/>
                <a:cs typeface="Calibri" pitchFamily="34" charset="-120"/>
              </a:rPr>
              <a:t>Multiple gateways in place, edge correctly separated</a:t>
            </a:r>
            <a:endParaRPr lang="en-US" sz="1050" dirty="0"/>
          </a:p>
        </p:txBody>
      </p:sp>
      <p:sp>
        <p:nvSpPr>
          <p:cNvPr id="45" name="Text 43"/>
          <p:cNvSpPr/>
          <p:nvPr/>
        </p:nvSpPr>
        <p:spPr>
          <a:xfrm>
            <a:off x="566928" y="5733288"/>
            <a:ext cx="9144000" cy="274320"/>
          </a:xfrm>
          <a:prstGeom prst="rect">
            <a:avLst/>
          </a:prstGeom>
          <a:noFill/>
          <a:ln/>
        </p:spPr>
        <p:txBody>
          <a:bodyPr wrap="square" lIns="0" tIns="0" rIns="0" bIns="0" rtlCol="0" anchor="ctr"/>
          <a:lstStyle/>
          <a:p>
            <a:pPr indent="0" marL="0">
              <a:buNone/>
            </a:pPr>
            <a:r>
              <a:rPr lang="en-US" sz="1050" i="1" dirty="0">
                <a:solidFill>
                  <a:srgbClr val="94A3B8"/>
                </a:solidFill>
                <a:latin typeface="Calibri" pitchFamily="34" charset="0"/>
                <a:ea typeface="Calibri" pitchFamily="34" charset="-122"/>
                <a:cs typeface="Calibri" pitchFamily="34" charset="-120"/>
              </a:rPr>
              <a:t>Three additional patterns are recommended for the roadmap — see the closing slide.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1B4F8C"/>
          </a:solidFill>
          <a:ln/>
        </p:spPr>
      </p:sp>
      <p:sp>
        <p:nvSpPr>
          <p:cNvPr id="3" name="Text 1"/>
          <p:cNvSpPr/>
          <p:nvPr/>
        </p:nvSpPr>
        <p:spPr>
          <a:xfrm>
            <a:off x="11155680" y="6519672"/>
            <a:ext cx="822960" cy="256032"/>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04 / 13</a:t>
            </a:r>
            <a:endParaRPr lang="en-US" sz="950" dirty="0"/>
          </a:p>
        </p:txBody>
      </p:sp>
      <p:sp>
        <p:nvSpPr>
          <p:cNvPr id="4" name="Text 2"/>
          <p:cNvSpPr/>
          <p:nvPr/>
        </p:nvSpPr>
        <p:spPr>
          <a:xfrm>
            <a:off x="548640" y="6519672"/>
            <a:ext cx="4572000" cy="256032"/>
          </a:xfrm>
          <a:prstGeom prst="rect">
            <a:avLst/>
          </a:prstGeom>
          <a:noFill/>
          <a:ln/>
        </p:spPr>
        <p:txBody>
          <a:bodyPr wrap="square" lIns="0" tIns="0" rIns="0" bIns="0" rtlCol="0" anchor="ctr"/>
          <a:lstStyle/>
          <a:p>
            <a:pPr indent="0" marL="0">
              <a:buNone/>
            </a:pPr>
            <a:r>
              <a:rPr lang="en-US" sz="850" spc="100" kern="0" dirty="0">
                <a:solidFill>
                  <a:srgbClr val="94A3B8"/>
                </a:solidFill>
                <a:latin typeface="Calibri" pitchFamily="34" charset="0"/>
                <a:ea typeface="Calibri" pitchFamily="34" charset="-122"/>
                <a:cs typeface="Calibri" pitchFamily="34" charset="-120"/>
              </a:rPr>
              <a:t>ACCOUNT HOME PERFORMANCE PROGRAM</a:t>
            </a:r>
            <a:endParaRPr lang="en-US" sz="850" dirty="0"/>
          </a:p>
        </p:txBody>
      </p:sp>
      <p:sp>
        <p:nvSpPr>
          <p:cNvPr id="5" name="Text 3"/>
          <p:cNvSpPr/>
          <p:nvPr/>
        </p:nvSpPr>
        <p:spPr>
          <a:xfrm>
            <a:off x="566928" y="310896"/>
            <a:ext cx="3657600" cy="237744"/>
          </a:xfrm>
          <a:prstGeom prst="rect">
            <a:avLst/>
          </a:prstGeom>
          <a:noFill/>
          <a:ln/>
        </p:spPr>
        <p:txBody>
          <a:bodyPr wrap="square" lIns="0" tIns="0" rIns="0" bIns="0" rtlCol="0" anchor="ctr"/>
          <a:lstStyle/>
          <a:p>
            <a:pPr indent="0" marL="0">
              <a:buNone/>
            </a:pPr>
            <a:r>
              <a:rPr lang="en-US" sz="1050" b="1" spc="220" kern="0" dirty="0">
                <a:solidFill>
                  <a:srgbClr val="1E8449"/>
                </a:solidFill>
                <a:latin typeface="Arial" pitchFamily="34" charset="0"/>
                <a:ea typeface="Arial" pitchFamily="34" charset="-122"/>
                <a:cs typeface="Arial" pitchFamily="34" charset="-120"/>
              </a:rPr>
              <a:t>PATTERN 01</a:t>
            </a:r>
            <a:endParaRPr lang="en-US" sz="1050" dirty="0"/>
          </a:p>
        </p:txBody>
      </p:sp>
      <p:sp>
        <p:nvSpPr>
          <p:cNvPr id="6" name="Text 4"/>
          <p:cNvSpPr/>
          <p:nvPr/>
        </p:nvSpPr>
        <p:spPr>
          <a:xfrm>
            <a:off x="548640" y="530352"/>
            <a:ext cx="8595360" cy="502920"/>
          </a:xfrm>
          <a:prstGeom prst="rect">
            <a:avLst/>
          </a:prstGeom>
          <a:noFill/>
          <a:ln/>
        </p:spPr>
        <p:txBody>
          <a:bodyPr wrap="square" lIns="0" tIns="0" rIns="0" bIns="0" rtlCol="0" anchor="ctr"/>
          <a:lstStyle/>
          <a:p>
            <a:pPr indent="0" marL="0">
              <a:buNone/>
            </a:pPr>
            <a:r>
              <a:rPr lang="en-US" sz="2400" b="1" dirty="0">
                <a:solidFill>
                  <a:srgbClr val="0B2545"/>
                </a:solidFill>
                <a:latin typeface="Arial" pitchFamily="34" charset="0"/>
                <a:ea typeface="Arial" pitchFamily="34" charset="-122"/>
                <a:cs typeface="Arial" pitchFamily="34" charset="-120"/>
              </a:rPr>
              <a:t>Parallel Downstream Calls</a:t>
            </a:r>
            <a:endParaRPr lang="en-US" sz="2400" dirty="0"/>
          </a:p>
        </p:txBody>
      </p:sp>
      <p:sp>
        <p:nvSpPr>
          <p:cNvPr id="7" name="Shape 5"/>
          <p:cNvSpPr/>
          <p:nvPr/>
        </p:nvSpPr>
        <p:spPr>
          <a:xfrm>
            <a:off x="10058400" y="603504"/>
            <a:ext cx="1371600" cy="292608"/>
          </a:xfrm>
          <a:prstGeom prst="roundRect">
            <a:avLst>
              <a:gd name="adj" fmla="val 50000"/>
            </a:avLst>
          </a:prstGeom>
          <a:solidFill>
            <a:srgbClr val="E7F5EC"/>
          </a:solidFill>
          <a:ln w="13970">
            <a:solidFill>
              <a:srgbClr val="1E8449"/>
            </a:solidFill>
            <a:prstDash val="solid"/>
          </a:ln>
        </p:spPr>
      </p:sp>
      <p:sp>
        <p:nvSpPr>
          <p:cNvPr id="8" name="Text 6"/>
          <p:cNvSpPr/>
          <p:nvPr/>
        </p:nvSpPr>
        <p:spPr>
          <a:xfrm>
            <a:off x="10058400" y="603504"/>
            <a:ext cx="1371600" cy="292608"/>
          </a:xfrm>
          <a:prstGeom prst="rect">
            <a:avLst/>
          </a:prstGeom>
          <a:noFill/>
          <a:ln/>
        </p:spPr>
        <p:txBody>
          <a:bodyPr wrap="square" lIns="0" tIns="0" rIns="0" bIns="0" rtlCol="0" anchor="ctr"/>
          <a:lstStyle/>
          <a:p>
            <a:pPr algn="ctr" indent="0" marL="0">
              <a:buNone/>
            </a:pPr>
            <a:r>
              <a:rPr lang="en-US" sz="1100" b="1" dirty="0">
                <a:solidFill>
                  <a:srgbClr val="1E8449"/>
                </a:solidFill>
                <a:latin typeface="Arial" pitchFamily="34" charset="0"/>
                <a:ea typeface="Arial" pitchFamily="34" charset="-122"/>
                <a:cs typeface="Arial" pitchFamily="34" charset="-120"/>
              </a:rPr>
              <a:t>APPLIED</a:t>
            </a:r>
            <a:endParaRPr lang="en-US" sz="1100" dirty="0"/>
          </a:p>
        </p:txBody>
      </p:sp>
      <p:sp>
        <p:nvSpPr>
          <p:cNvPr id="9" name="Shape 7"/>
          <p:cNvSpPr/>
          <p:nvPr/>
        </p:nvSpPr>
        <p:spPr>
          <a:xfrm>
            <a:off x="566928" y="1298448"/>
            <a:ext cx="11064240" cy="0"/>
          </a:xfrm>
          <a:prstGeom prst="line">
            <a:avLst/>
          </a:prstGeom>
          <a:noFill/>
          <a:ln w="12700">
            <a:solidFill>
              <a:srgbClr val="D9E2EC"/>
            </a:solidFill>
            <a:prstDash val="solid"/>
          </a:ln>
        </p:spPr>
      </p:sp>
      <p:sp>
        <p:nvSpPr>
          <p:cNvPr id="10" name="Shape 8"/>
          <p:cNvSpPr/>
          <p:nvPr/>
        </p:nvSpPr>
        <p:spPr>
          <a:xfrm>
            <a:off x="548640" y="1444752"/>
            <a:ext cx="457200" cy="457200"/>
          </a:xfrm>
          <a:prstGeom prst="ellipse">
            <a:avLst/>
          </a:prstGeom>
          <a:solidFill>
            <a:srgbClr val="E7F5EC"/>
          </a:solidFill>
          <a:ln w="12700">
            <a:solidFill>
              <a:srgbClr val="1E8449"/>
            </a:solidFill>
            <a:prstDash val="solid"/>
          </a:ln>
        </p:spPr>
      </p:sp>
      <p:pic>
        <p:nvPicPr>
          <p:cNvPr id="11" name="Image 0" descr="preencoded.png">    </p:cNvPr>
          <p:cNvPicPr>
            <a:picLocks noChangeAspect="1"/>
          </p:cNvPicPr>
          <p:nvPr/>
        </p:nvPicPr>
        <p:blipFill>
          <a:blip r:embed="rId1"/>
          <a:stretch>
            <a:fillRect/>
          </a:stretch>
        </p:blipFill>
        <p:spPr>
          <a:xfrm>
            <a:off x="672084" y="1568196"/>
            <a:ext cx="210312" cy="210312"/>
          </a:xfrm>
          <a:prstGeom prst="rect">
            <a:avLst/>
          </a:prstGeom>
        </p:spPr>
      </p:pic>
      <p:sp>
        <p:nvSpPr>
          <p:cNvPr id="12" name="Shape 9"/>
          <p:cNvSpPr/>
          <p:nvPr/>
        </p:nvSpPr>
        <p:spPr>
          <a:xfrm>
            <a:off x="1170432" y="1499616"/>
            <a:ext cx="137160" cy="137160"/>
          </a:xfrm>
          <a:prstGeom prst="roundRect">
            <a:avLst>
              <a:gd name="adj" fmla="val 20000"/>
            </a:avLst>
          </a:prstGeom>
          <a:solidFill>
            <a:srgbClr val="1E8449"/>
          </a:solidFill>
          <a:ln/>
        </p:spPr>
      </p:sp>
      <p:sp>
        <p:nvSpPr>
          <p:cNvPr id="13" name="Text 10"/>
          <p:cNvSpPr/>
          <p:nvPr/>
        </p:nvSpPr>
        <p:spPr>
          <a:xfrm>
            <a:off x="1426464" y="1426464"/>
            <a:ext cx="4636008" cy="502920"/>
          </a:xfrm>
          <a:prstGeom prst="rect">
            <a:avLst/>
          </a:prstGeom>
          <a:noFill/>
          <a:ln/>
        </p:spPr>
        <p:txBody>
          <a:bodyPr wrap="square" lIns="0" tIns="0" rIns="0" bIns="0" rtlCol="0" anchor="t"/>
          <a:lstStyle/>
          <a:p>
            <a:pPr indent="0" marL="0">
              <a:lnSpc>
                <a:spcPts val="1550"/>
              </a:lnSpc>
              <a:buNone/>
            </a:pPr>
            <a:r>
              <a:rPr lang="en-US" sz="1150" dirty="0">
                <a:solidFill>
                  <a:srgbClr val="27364B"/>
                </a:solidFill>
                <a:latin typeface="Calibri" pitchFamily="34" charset="0"/>
                <a:ea typeface="Calibri" pitchFamily="34" charset="-122"/>
                <a:cs typeface="Calibri" pitchFamily="34" charset="-120"/>
              </a:rPr>
              <a:t>ah-accounts-api fires five parallel calls to aggregate the account view.</a:t>
            </a:r>
            <a:endParaRPr lang="en-US" sz="1150" dirty="0"/>
          </a:p>
        </p:txBody>
      </p:sp>
      <p:sp>
        <p:nvSpPr>
          <p:cNvPr id="14" name="Shape 11"/>
          <p:cNvSpPr/>
          <p:nvPr/>
        </p:nvSpPr>
        <p:spPr>
          <a:xfrm>
            <a:off x="1170432" y="1875767"/>
            <a:ext cx="137160" cy="137160"/>
          </a:xfrm>
          <a:prstGeom prst="roundRect">
            <a:avLst>
              <a:gd name="adj" fmla="val 20000"/>
            </a:avLst>
          </a:prstGeom>
          <a:solidFill>
            <a:srgbClr val="1E8449"/>
          </a:solidFill>
          <a:ln/>
        </p:spPr>
      </p:sp>
      <p:sp>
        <p:nvSpPr>
          <p:cNvPr id="15" name="Text 12"/>
          <p:cNvSpPr/>
          <p:nvPr/>
        </p:nvSpPr>
        <p:spPr>
          <a:xfrm>
            <a:off x="1426464" y="1802615"/>
            <a:ext cx="4636008" cy="502920"/>
          </a:xfrm>
          <a:prstGeom prst="rect">
            <a:avLst/>
          </a:prstGeom>
          <a:noFill/>
          <a:ln/>
        </p:spPr>
        <p:txBody>
          <a:bodyPr wrap="square" lIns="0" tIns="0" rIns="0" bIns="0" rtlCol="0" anchor="t"/>
          <a:lstStyle/>
          <a:p>
            <a:pPr indent="0" marL="0">
              <a:lnSpc>
                <a:spcPts val="1550"/>
              </a:lnSpc>
              <a:buNone/>
            </a:pPr>
            <a:r>
              <a:rPr lang="en-US" sz="1150" dirty="0">
                <a:solidFill>
                  <a:srgbClr val="27364B"/>
                </a:solidFill>
                <a:latin typeface="Calibri" pitchFamily="34" charset="0"/>
                <a:ea typeface="Calibri" pitchFamily="34" charset="-122"/>
                <a:cs typeface="Calibri" pitchFamily="34" charset="-120"/>
              </a:rPr>
              <a:t>/accounts/preload fires parallel preload hits ahead of the main request.</a:t>
            </a:r>
            <a:endParaRPr lang="en-US" sz="1150" dirty="0"/>
          </a:p>
        </p:txBody>
      </p:sp>
      <p:sp>
        <p:nvSpPr>
          <p:cNvPr id="16" name="Shape 13"/>
          <p:cNvSpPr/>
          <p:nvPr/>
        </p:nvSpPr>
        <p:spPr>
          <a:xfrm>
            <a:off x="548640" y="2606040"/>
            <a:ext cx="5532120" cy="1051560"/>
          </a:xfrm>
          <a:prstGeom prst="roundRect">
            <a:avLst>
              <a:gd name="adj" fmla="val 4348"/>
            </a:avLst>
          </a:prstGeom>
          <a:solidFill>
            <a:srgbClr val="E7F5EC"/>
          </a:solidFill>
          <a:ln w="12700">
            <a:solidFill>
              <a:srgbClr val="1E8449"/>
            </a:solidFill>
            <a:prstDash val="solid"/>
          </a:ln>
        </p:spPr>
      </p:sp>
      <p:sp>
        <p:nvSpPr>
          <p:cNvPr id="17" name="Text 14"/>
          <p:cNvSpPr/>
          <p:nvPr/>
        </p:nvSpPr>
        <p:spPr>
          <a:xfrm>
            <a:off x="713232" y="2688336"/>
            <a:ext cx="5202936" cy="201168"/>
          </a:xfrm>
          <a:prstGeom prst="rect">
            <a:avLst/>
          </a:prstGeom>
          <a:noFill/>
          <a:ln/>
        </p:spPr>
        <p:txBody>
          <a:bodyPr wrap="square" lIns="0" tIns="0" rIns="0" bIns="0" rtlCol="0" anchor="ctr"/>
          <a:lstStyle/>
          <a:p>
            <a:pPr indent="0" marL="0">
              <a:buNone/>
            </a:pPr>
            <a:r>
              <a:rPr lang="en-US" sz="950" b="1" spc="100" kern="0" dirty="0">
                <a:solidFill>
                  <a:srgbClr val="1E8449"/>
                </a:solidFill>
                <a:latin typeface="Arial" pitchFamily="34" charset="0"/>
                <a:ea typeface="Arial" pitchFamily="34" charset="-122"/>
                <a:cs typeface="Arial" pitchFamily="34" charset="-120"/>
              </a:rPr>
              <a:t>ADVANTAGE</a:t>
            </a:r>
            <a:endParaRPr lang="en-US" sz="950" dirty="0"/>
          </a:p>
        </p:txBody>
      </p:sp>
      <p:sp>
        <p:nvSpPr>
          <p:cNvPr id="18" name="Text 15"/>
          <p:cNvSpPr/>
          <p:nvPr/>
        </p:nvSpPr>
        <p:spPr>
          <a:xfrm>
            <a:off x="713232" y="2898648"/>
            <a:ext cx="5202936" cy="685800"/>
          </a:xfrm>
          <a:prstGeom prst="rect">
            <a:avLst/>
          </a:prstGeom>
          <a:noFill/>
          <a:ln/>
        </p:spPr>
        <p:txBody>
          <a:bodyPr wrap="square" lIns="0" tIns="0" rIns="0" bIns="0" rtlCol="0" anchor="t"/>
          <a:lstStyle/>
          <a:p>
            <a:pPr indent="0" marL="0">
              <a:lnSpc>
                <a:spcPts val="1450"/>
              </a:lnSpc>
              <a:buNone/>
            </a:pPr>
            <a:r>
              <a:rPr lang="en-US" sz="1080" dirty="0">
                <a:solidFill>
                  <a:srgbClr val="27364B"/>
                </a:solidFill>
                <a:latin typeface="Calibri" pitchFamily="34" charset="0"/>
                <a:ea typeface="Calibri" pitchFamily="34" charset="-122"/>
                <a:cs typeface="Calibri" pitchFamily="34" charset="-120"/>
              </a:rPr>
              <a:t>The page now waits only as long as the slowest of the five calls, not the sum of all five — a large cut in wait time with no new infrastructure.</a:t>
            </a:r>
            <a:endParaRPr lang="en-US" sz="1080" dirty="0"/>
          </a:p>
        </p:txBody>
      </p:sp>
      <p:sp>
        <p:nvSpPr>
          <p:cNvPr id="19" name="Shape 16"/>
          <p:cNvSpPr/>
          <p:nvPr/>
        </p:nvSpPr>
        <p:spPr>
          <a:xfrm>
            <a:off x="548640" y="3950208"/>
            <a:ext cx="5532120" cy="777240"/>
          </a:xfrm>
          <a:prstGeom prst="roundRect">
            <a:avLst>
              <a:gd name="adj" fmla="val 5882"/>
            </a:avLst>
          </a:prstGeom>
          <a:solidFill>
            <a:srgbClr val="FCF3DF"/>
          </a:solidFill>
          <a:ln w="12700">
            <a:solidFill>
              <a:srgbClr val="B7791F"/>
            </a:solidFill>
            <a:prstDash val="solid"/>
          </a:ln>
        </p:spPr>
      </p:sp>
      <p:sp>
        <p:nvSpPr>
          <p:cNvPr id="20" name="Text 17"/>
          <p:cNvSpPr/>
          <p:nvPr/>
        </p:nvSpPr>
        <p:spPr>
          <a:xfrm>
            <a:off x="713232" y="4032504"/>
            <a:ext cx="5202936" cy="201168"/>
          </a:xfrm>
          <a:prstGeom prst="rect">
            <a:avLst/>
          </a:prstGeom>
          <a:noFill/>
          <a:ln/>
        </p:spPr>
        <p:txBody>
          <a:bodyPr wrap="square" lIns="0" tIns="0" rIns="0" bIns="0" rtlCol="0" anchor="ctr"/>
          <a:lstStyle/>
          <a:p>
            <a:pPr indent="0" marL="0">
              <a:buNone/>
            </a:pPr>
            <a:r>
              <a:rPr lang="en-US" sz="950" b="1" spc="100" kern="0" dirty="0">
                <a:solidFill>
                  <a:srgbClr val="B7791F"/>
                </a:solidFill>
                <a:latin typeface="Arial" pitchFamily="34" charset="0"/>
                <a:ea typeface="Arial" pitchFamily="34" charset="-122"/>
                <a:cs typeface="Arial" pitchFamily="34" charset="-120"/>
              </a:rPr>
              <a:t>REFINEMENT</a:t>
            </a:r>
            <a:endParaRPr lang="en-US" sz="950" dirty="0"/>
          </a:p>
        </p:txBody>
      </p:sp>
      <p:sp>
        <p:nvSpPr>
          <p:cNvPr id="21" name="Text 18"/>
          <p:cNvSpPr/>
          <p:nvPr/>
        </p:nvSpPr>
        <p:spPr>
          <a:xfrm>
            <a:off x="713232" y="4242816"/>
            <a:ext cx="5202936" cy="411480"/>
          </a:xfrm>
          <a:prstGeom prst="rect">
            <a:avLst/>
          </a:prstGeom>
          <a:noFill/>
          <a:ln/>
        </p:spPr>
        <p:txBody>
          <a:bodyPr wrap="square" lIns="0" tIns="0" rIns="0" bIns="0" rtlCol="0" anchor="t"/>
          <a:lstStyle/>
          <a:p>
            <a:pPr indent="0" marL="0">
              <a:lnSpc>
                <a:spcPts val="1450"/>
              </a:lnSpc>
              <a:buNone/>
            </a:pPr>
            <a:r>
              <a:rPr lang="en-US" sz="1080" dirty="0">
                <a:solidFill>
                  <a:srgbClr val="27364B"/>
                </a:solidFill>
                <a:latin typeface="Calibri" pitchFamily="34" charset="0"/>
                <a:ea typeface="Calibri" pitchFamily="34" charset="-122"/>
                <a:cs typeface="Calibri" pitchFamily="34" charset="-120"/>
              </a:rPr>
              <a:t>No documented per-call timeout yet — a slow branch has no defined cutoff.</a:t>
            </a:r>
            <a:endParaRPr lang="en-US" sz="1080" dirty="0"/>
          </a:p>
        </p:txBody>
      </p:sp>
      <p:sp>
        <p:nvSpPr>
          <p:cNvPr id="22" name="Text 19"/>
          <p:cNvSpPr/>
          <p:nvPr/>
        </p:nvSpPr>
        <p:spPr>
          <a:xfrm>
            <a:off x="548640" y="6263640"/>
            <a:ext cx="5486400" cy="219456"/>
          </a:xfrm>
          <a:prstGeom prst="rect">
            <a:avLst/>
          </a:prstGeom>
          <a:noFill/>
          <a:ln/>
        </p:spPr>
        <p:txBody>
          <a:bodyPr wrap="square" lIns="0" tIns="0" rIns="0" bIns="0"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SOURCE  ·  AD: Account Home (pg. 708936606)</a:t>
            </a:r>
            <a:endParaRPr lang="en-US" sz="900" dirty="0"/>
          </a:p>
        </p:txBody>
      </p:sp>
      <p:sp>
        <p:nvSpPr>
          <p:cNvPr id="23" name="Shape 20"/>
          <p:cNvSpPr/>
          <p:nvPr/>
        </p:nvSpPr>
        <p:spPr>
          <a:xfrm>
            <a:off x="6400800" y="1481328"/>
            <a:ext cx="5239512" cy="4828032"/>
          </a:xfrm>
          <a:prstGeom prst="roundRect">
            <a:avLst>
              <a:gd name="adj" fmla="val 1136"/>
            </a:avLst>
          </a:prstGeom>
          <a:solidFill>
            <a:srgbClr val="F5F9FE"/>
          </a:solidFill>
          <a:ln w="12700">
            <a:solidFill>
              <a:srgbClr val="D9E2EC"/>
            </a:solidFill>
            <a:prstDash val="solid"/>
          </a:ln>
        </p:spPr>
      </p:sp>
      <p:sp>
        <p:nvSpPr>
          <p:cNvPr id="24" name="Text 21"/>
          <p:cNvSpPr/>
          <p:nvPr/>
        </p:nvSpPr>
        <p:spPr>
          <a:xfrm>
            <a:off x="6583680" y="1627632"/>
            <a:ext cx="4873752" cy="219456"/>
          </a:xfrm>
          <a:prstGeom prst="rect">
            <a:avLst/>
          </a:prstGeom>
          <a:noFill/>
          <a:ln/>
        </p:spPr>
        <p:txBody>
          <a:bodyPr wrap="square" lIns="0" tIns="0" rIns="0" bIns="0" rtlCol="0" anchor="ctr"/>
          <a:lstStyle/>
          <a:p>
            <a:pPr indent="0" marL="0">
              <a:buNone/>
            </a:pPr>
            <a:r>
              <a:rPr lang="en-US" sz="950" b="1" spc="140" kern="0" dirty="0">
                <a:solidFill>
                  <a:srgbClr val="1B4F8C"/>
                </a:solidFill>
                <a:latin typeface="Arial" pitchFamily="34" charset="0"/>
                <a:ea typeface="Arial" pitchFamily="34" charset="-122"/>
                <a:cs typeface="Arial" pitchFamily="34" charset="-120"/>
              </a:rPr>
              <a:t>HOW IT WORKS</a:t>
            </a:r>
            <a:endParaRPr lang="en-US" sz="950" dirty="0"/>
          </a:p>
        </p:txBody>
      </p:sp>
      <p:sp>
        <p:nvSpPr>
          <p:cNvPr id="25" name="Shape 22"/>
          <p:cNvSpPr/>
          <p:nvPr/>
        </p:nvSpPr>
        <p:spPr>
          <a:xfrm>
            <a:off x="6583680" y="1920240"/>
            <a:ext cx="4873752" cy="0"/>
          </a:xfrm>
          <a:prstGeom prst="line">
            <a:avLst/>
          </a:prstGeom>
          <a:noFill/>
          <a:ln w="12700">
            <a:solidFill>
              <a:srgbClr val="D9E2EC"/>
            </a:solidFill>
            <a:prstDash val="solid"/>
          </a:ln>
        </p:spPr>
      </p:sp>
      <p:sp>
        <p:nvSpPr>
          <p:cNvPr id="26" name="Shape 23"/>
          <p:cNvSpPr/>
          <p:nvPr/>
        </p:nvSpPr>
        <p:spPr>
          <a:xfrm>
            <a:off x="7374636" y="1874520"/>
            <a:ext cx="3291840" cy="548640"/>
          </a:xfrm>
          <a:prstGeom prst="roundRect">
            <a:avLst>
              <a:gd name="adj" fmla="val 10000"/>
            </a:avLst>
          </a:prstGeom>
          <a:solidFill>
            <a:srgbClr val="EAF2FC"/>
          </a:solidFill>
          <a:ln w="17780">
            <a:solidFill>
              <a:srgbClr val="1B4F8C"/>
            </a:solidFill>
            <a:prstDash val="solid"/>
          </a:ln>
        </p:spPr>
      </p:sp>
      <p:sp>
        <p:nvSpPr>
          <p:cNvPr id="27" name="Text 24"/>
          <p:cNvSpPr/>
          <p:nvPr/>
        </p:nvSpPr>
        <p:spPr>
          <a:xfrm>
            <a:off x="7447788" y="1874520"/>
            <a:ext cx="3145536" cy="548640"/>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Account Home Request</a:t>
            </a:r>
            <a:endParaRPr lang="en-US" sz="1050" dirty="0"/>
          </a:p>
        </p:txBody>
      </p:sp>
      <p:sp>
        <p:nvSpPr>
          <p:cNvPr id="28" name="Shape 25"/>
          <p:cNvSpPr/>
          <p:nvPr/>
        </p:nvSpPr>
        <p:spPr>
          <a:xfrm>
            <a:off x="9020556" y="2441448"/>
            <a:ext cx="0" cy="365760"/>
          </a:xfrm>
          <a:prstGeom prst="line">
            <a:avLst/>
          </a:prstGeom>
          <a:noFill/>
          <a:ln w="19050">
            <a:solidFill>
              <a:srgbClr val="1B4F8C"/>
            </a:solidFill>
            <a:prstDash val="solid"/>
            <a:tailEnd type="triangle"/>
          </a:ln>
        </p:spPr>
      </p:sp>
      <p:sp>
        <p:nvSpPr>
          <p:cNvPr id="29" name="Shape 26"/>
          <p:cNvSpPr/>
          <p:nvPr/>
        </p:nvSpPr>
        <p:spPr>
          <a:xfrm>
            <a:off x="7054596" y="2880360"/>
            <a:ext cx="3931920" cy="777240"/>
          </a:xfrm>
          <a:prstGeom prst="roundRect">
            <a:avLst>
              <a:gd name="adj" fmla="val 7059"/>
            </a:avLst>
          </a:prstGeom>
          <a:solidFill>
            <a:srgbClr val="FFFFFF"/>
          </a:solidFill>
          <a:ln w="17780">
            <a:solidFill>
              <a:srgbClr val="1B4F8C"/>
            </a:solidFill>
            <a:prstDash val="solid"/>
          </a:ln>
        </p:spPr>
      </p:sp>
      <p:sp>
        <p:nvSpPr>
          <p:cNvPr id="30" name="Text 27"/>
          <p:cNvSpPr/>
          <p:nvPr/>
        </p:nvSpPr>
        <p:spPr>
          <a:xfrm>
            <a:off x="7127748" y="2935224"/>
            <a:ext cx="3785616" cy="427482"/>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5 calls fire in parallel</a:t>
            </a:r>
            <a:endParaRPr lang="en-US" sz="1050" dirty="0"/>
          </a:p>
        </p:txBody>
      </p:sp>
      <p:sp>
        <p:nvSpPr>
          <p:cNvPr id="31" name="Text 28"/>
          <p:cNvSpPr/>
          <p:nvPr/>
        </p:nvSpPr>
        <p:spPr>
          <a:xfrm>
            <a:off x="7127748" y="3284525"/>
            <a:ext cx="3785616" cy="326441"/>
          </a:xfrm>
          <a:prstGeom prst="rect">
            <a:avLst/>
          </a:prstGeom>
          <a:noFill/>
          <a:ln/>
        </p:spPr>
        <p:txBody>
          <a:bodyPr wrap="square" lIns="0" tIns="0" rIns="0" bIns="0" rtlCol="0" anchor="ctr"/>
          <a:lstStyle/>
          <a:p>
            <a:pPr algn="ctr" indent="0" marL="0">
              <a:buNone/>
            </a:pPr>
            <a:r>
              <a:rPr lang="en-US" sz="830" dirty="0">
                <a:solidFill>
                  <a:srgbClr val="1B4F8C"/>
                </a:solidFill>
                <a:latin typeface="Calibri" pitchFamily="34" charset="0"/>
                <a:ea typeface="Calibri" pitchFamily="34" charset="-122"/>
                <a:cs typeface="Calibri" pitchFamily="34" charset="-120"/>
              </a:rPr>
              <a:t>Profile · Account · Loan · Card · +1</a:t>
            </a:r>
            <a:endParaRPr lang="en-US" sz="830" dirty="0"/>
          </a:p>
        </p:txBody>
      </p:sp>
      <p:sp>
        <p:nvSpPr>
          <p:cNvPr id="32" name="Shape 29"/>
          <p:cNvSpPr/>
          <p:nvPr/>
        </p:nvSpPr>
        <p:spPr>
          <a:xfrm>
            <a:off x="9020556" y="3675888"/>
            <a:ext cx="0" cy="365760"/>
          </a:xfrm>
          <a:prstGeom prst="line">
            <a:avLst/>
          </a:prstGeom>
          <a:noFill/>
          <a:ln w="19050">
            <a:solidFill>
              <a:srgbClr val="1B4F8C"/>
            </a:solidFill>
            <a:prstDash val="solid"/>
            <a:tailEnd type="triangle"/>
          </a:ln>
        </p:spPr>
      </p:sp>
      <p:sp>
        <p:nvSpPr>
          <p:cNvPr id="33" name="Shape 30"/>
          <p:cNvSpPr/>
          <p:nvPr/>
        </p:nvSpPr>
        <p:spPr>
          <a:xfrm>
            <a:off x="7374636" y="4114800"/>
            <a:ext cx="3291840" cy="548640"/>
          </a:xfrm>
          <a:prstGeom prst="roundRect">
            <a:avLst>
              <a:gd name="adj" fmla="val 10000"/>
            </a:avLst>
          </a:prstGeom>
          <a:solidFill>
            <a:srgbClr val="FCF3DF"/>
          </a:solidFill>
          <a:ln w="17780">
            <a:solidFill>
              <a:srgbClr val="B7791F"/>
            </a:solidFill>
            <a:prstDash val="solid"/>
          </a:ln>
        </p:spPr>
      </p:sp>
      <p:sp>
        <p:nvSpPr>
          <p:cNvPr id="34" name="Text 31"/>
          <p:cNvSpPr/>
          <p:nvPr/>
        </p:nvSpPr>
        <p:spPr>
          <a:xfrm>
            <a:off x="7447788" y="4114800"/>
            <a:ext cx="3145536" cy="548640"/>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Slowest call sets the pace</a:t>
            </a:r>
            <a:endParaRPr lang="en-US" sz="1050" dirty="0"/>
          </a:p>
        </p:txBody>
      </p:sp>
      <p:sp>
        <p:nvSpPr>
          <p:cNvPr id="35" name="Shape 32"/>
          <p:cNvSpPr/>
          <p:nvPr/>
        </p:nvSpPr>
        <p:spPr>
          <a:xfrm>
            <a:off x="9020556" y="4681728"/>
            <a:ext cx="0" cy="365760"/>
          </a:xfrm>
          <a:prstGeom prst="line">
            <a:avLst/>
          </a:prstGeom>
          <a:noFill/>
          <a:ln w="19050">
            <a:solidFill>
              <a:srgbClr val="1E8449"/>
            </a:solidFill>
            <a:prstDash val="solid"/>
            <a:tailEnd type="triangle"/>
          </a:ln>
        </p:spPr>
      </p:sp>
      <p:sp>
        <p:nvSpPr>
          <p:cNvPr id="36" name="Shape 33"/>
          <p:cNvSpPr/>
          <p:nvPr/>
        </p:nvSpPr>
        <p:spPr>
          <a:xfrm>
            <a:off x="7374636" y="5120640"/>
            <a:ext cx="3291840" cy="548640"/>
          </a:xfrm>
          <a:prstGeom prst="roundRect">
            <a:avLst>
              <a:gd name="adj" fmla="val 10000"/>
            </a:avLst>
          </a:prstGeom>
          <a:solidFill>
            <a:srgbClr val="E7F5EC"/>
          </a:solidFill>
          <a:ln w="17780">
            <a:solidFill>
              <a:srgbClr val="1E8449"/>
            </a:solidFill>
            <a:prstDash val="solid"/>
          </a:ln>
        </p:spPr>
      </p:sp>
      <p:sp>
        <p:nvSpPr>
          <p:cNvPr id="37" name="Text 34"/>
          <p:cNvSpPr/>
          <p:nvPr/>
        </p:nvSpPr>
        <p:spPr>
          <a:xfrm>
            <a:off x="7447788" y="5120640"/>
            <a:ext cx="3145536" cy="548640"/>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Combined response returned</a:t>
            </a:r>
            <a:endParaRPr lang="en-US" sz="1050" dirty="0"/>
          </a:p>
        </p:txBody>
      </p:sp>
      <p:sp>
        <p:nvSpPr>
          <p:cNvPr id="38" name="Text 35"/>
          <p:cNvSpPr/>
          <p:nvPr/>
        </p:nvSpPr>
        <p:spPr>
          <a:xfrm>
            <a:off x="6675120" y="5806440"/>
            <a:ext cx="4690872" cy="411480"/>
          </a:xfrm>
          <a:prstGeom prst="rect">
            <a:avLst/>
          </a:prstGeom>
          <a:noFill/>
          <a:ln/>
        </p:spPr>
        <p:txBody>
          <a:bodyPr wrap="square" lIns="0" tIns="0" rIns="0" bIns="0" rtlCol="0" anchor="ctr"/>
          <a:lstStyle/>
          <a:p>
            <a:pPr indent="0" marL="0">
              <a:buNone/>
            </a:pPr>
            <a:r>
              <a:rPr lang="en-US" sz="900" i="1" dirty="0">
                <a:solidFill>
                  <a:srgbClr val="5B6472"/>
                </a:solidFill>
                <a:latin typeface="Calibri" pitchFamily="34" charset="0"/>
                <a:ea typeface="Calibri" pitchFamily="34" charset="-122"/>
                <a:cs typeface="Calibri" pitchFamily="34" charset="-120"/>
              </a:rPr>
              <a:t>Sequential would stack all five wait times. Parallel overlaps them.</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1B4F8C"/>
          </a:solidFill>
          <a:ln/>
        </p:spPr>
      </p:sp>
      <p:sp>
        <p:nvSpPr>
          <p:cNvPr id="3" name="Text 1"/>
          <p:cNvSpPr/>
          <p:nvPr/>
        </p:nvSpPr>
        <p:spPr>
          <a:xfrm>
            <a:off x="11155680" y="6519672"/>
            <a:ext cx="822960" cy="256032"/>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05 / 13</a:t>
            </a:r>
            <a:endParaRPr lang="en-US" sz="950" dirty="0"/>
          </a:p>
        </p:txBody>
      </p:sp>
      <p:sp>
        <p:nvSpPr>
          <p:cNvPr id="4" name="Text 2"/>
          <p:cNvSpPr/>
          <p:nvPr/>
        </p:nvSpPr>
        <p:spPr>
          <a:xfrm>
            <a:off x="548640" y="6519672"/>
            <a:ext cx="4572000" cy="256032"/>
          </a:xfrm>
          <a:prstGeom prst="rect">
            <a:avLst/>
          </a:prstGeom>
          <a:noFill/>
          <a:ln/>
        </p:spPr>
        <p:txBody>
          <a:bodyPr wrap="square" lIns="0" tIns="0" rIns="0" bIns="0" rtlCol="0" anchor="ctr"/>
          <a:lstStyle/>
          <a:p>
            <a:pPr indent="0" marL="0">
              <a:buNone/>
            </a:pPr>
            <a:r>
              <a:rPr lang="en-US" sz="850" spc="100" kern="0" dirty="0">
                <a:solidFill>
                  <a:srgbClr val="94A3B8"/>
                </a:solidFill>
                <a:latin typeface="Calibri" pitchFamily="34" charset="0"/>
                <a:ea typeface="Calibri" pitchFamily="34" charset="-122"/>
                <a:cs typeface="Calibri" pitchFamily="34" charset="-120"/>
              </a:rPr>
              <a:t>ACCOUNT HOME PERFORMANCE PROGRAM</a:t>
            </a:r>
            <a:endParaRPr lang="en-US" sz="850" dirty="0"/>
          </a:p>
        </p:txBody>
      </p:sp>
      <p:sp>
        <p:nvSpPr>
          <p:cNvPr id="5" name="Text 3"/>
          <p:cNvSpPr/>
          <p:nvPr/>
        </p:nvSpPr>
        <p:spPr>
          <a:xfrm>
            <a:off x="566928" y="310896"/>
            <a:ext cx="3657600" cy="237744"/>
          </a:xfrm>
          <a:prstGeom prst="rect">
            <a:avLst/>
          </a:prstGeom>
          <a:noFill/>
          <a:ln/>
        </p:spPr>
        <p:txBody>
          <a:bodyPr wrap="square" lIns="0" tIns="0" rIns="0" bIns="0" rtlCol="0" anchor="ctr"/>
          <a:lstStyle/>
          <a:p>
            <a:pPr indent="0" marL="0">
              <a:buNone/>
            </a:pPr>
            <a:r>
              <a:rPr lang="en-US" sz="1050" b="1" spc="220" kern="0" dirty="0">
                <a:solidFill>
                  <a:srgbClr val="1E8449"/>
                </a:solidFill>
                <a:latin typeface="Arial" pitchFamily="34" charset="0"/>
                <a:ea typeface="Arial" pitchFamily="34" charset="-122"/>
                <a:cs typeface="Arial" pitchFamily="34" charset="-120"/>
              </a:rPr>
              <a:t>PATTERN 04</a:t>
            </a:r>
            <a:endParaRPr lang="en-US" sz="1050" dirty="0"/>
          </a:p>
        </p:txBody>
      </p:sp>
      <p:sp>
        <p:nvSpPr>
          <p:cNvPr id="6" name="Text 4"/>
          <p:cNvSpPr/>
          <p:nvPr/>
        </p:nvSpPr>
        <p:spPr>
          <a:xfrm>
            <a:off x="548640" y="530352"/>
            <a:ext cx="8595360" cy="502920"/>
          </a:xfrm>
          <a:prstGeom prst="rect">
            <a:avLst/>
          </a:prstGeom>
          <a:noFill/>
          <a:ln/>
        </p:spPr>
        <p:txBody>
          <a:bodyPr wrap="square" lIns="0" tIns="0" rIns="0" bIns="0" rtlCol="0" anchor="ctr"/>
          <a:lstStyle/>
          <a:p>
            <a:pPr indent="0" marL="0">
              <a:buNone/>
            </a:pPr>
            <a:r>
              <a:rPr lang="en-US" sz="2400" b="1" dirty="0">
                <a:solidFill>
                  <a:srgbClr val="0B2545"/>
                </a:solidFill>
                <a:latin typeface="Arial" pitchFamily="34" charset="0"/>
                <a:ea typeface="Arial" pitchFamily="34" charset="-122"/>
                <a:cs typeface="Arial" pitchFamily="34" charset="-120"/>
              </a:rPr>
              <a:t>Redis Distributed Caching</a:t>
            </a:r>
            <a:endParaRPr lang="en-US" sz="2400" dirty="0"/>
          </a:p>
        </p:txBody>
      </p:sp>
      <p:sp>
        <p:nvSpPr>
          <p:cNvPr id="7" name="Shape 5"/>
          <p:cNvSpPr/>
          <p:nvPr/>
        </p:nvSpPr>
        <p:spPr>
          <a:xfrm>
            <a:off x="10058400" y="603504"/>
            <a:ext cx="1371600" cy="292608"/>
          </a:xfrm>
          <a:prstGeom prst="roundRect">
            <a:avLst>
              <a:gd name="adj" fmla="val 50000"/>
            </a:avLst>
          </a:prstGeom>
          <a:solidFill>
            <a:srgbClr val="E7F5EC"/>
          </a:solidFill>
          <a:ln w="13970">
            <a:solidFill>
              <a:srgbClr val="1E8449"/>
            </a:solidFill>
            <a:prstDash val="solid"/>
          </a:ln>
        </p:spPr>
      </p:sp>
      <p:sp>
        <p:nvSpPr>
          <p:cNvPr id="8" name="Text 6"/>
          <p:cNvSpPr/>
          <p:nvPr/>
        </p:nvSpPr>
        <p:spPr>
          <a:xfrm>
            <a:off x="10058400" y="603504"/>
            <a:ext cx="1371600" cy="292608"/>
          </a:xfrm>
          <a:prstGeom prst="rect">
            <a:avLst/>
          </a:prstGeom>
          <a:noFill/>
          <a:ln/>
        </p:spPr>
        <p:txBody>
          <a:bodyPr wrap="square" lIns="0" tIns="0" rIns="0" bIns="0" rtlCol="0" anchor="ctr"/>
          <a:lstStyle/>
          <a:p>
            <a:pPr algn="ctr" indent="0" marL="0">
              <a:buNone/>
            </a:pPr>
            <a:r>
              <a:rPr lang="en-US" sz="1100" b="1" dirty="0">
                <a:solidFill>
                  <a:srgbClr val="1E8449"/>
                </a:solidFill>
                <a:latin typeface="Arial" pitchFamily="34" charset="0"/>
                <a:ea typeface="Arial" pitchFamily="34" charset="-122"/>
                <a:cs typeface="Arial" pitchFamily="34" charset="-120"/>
              </a:rPr>
              <a:t>APPLIED</a:t>
            </a:r>
            <a:endParaRPr lang="en-US" sz="1100" dirty="0"/>
          </a:p>
        </p:txBody>
      </p:sp>
      <p:sp>
        <p:nvSpPr>
          <p:cNvPr id="9" name="Shape 7"/>
          <p:cNvSpPr/>
          <p:nvPr/>
        </p:nvSpPr>
        <p:spPr>
          <a:xfrm>
            <a:off x="566928" y="1298448"/>
            <a:ext cx="11064240" cy="0"/>
          </a:xfrm>
          <a:prstGeom prst="line">
            <a:avLst/>
          </a:prstGeom>
          <a:noFill/>
          <a:ln w="12700">
            <a:solidFill>
              <a:srgbClr val="D9E2EC"/>
            </a:solidFill>
            <a:prstDash val="solid"/>
          </a:ln>
        </p:spPr>
      </p:sp>
      <p:sp>
        <p:nvSpPr>
          <p:cNvPr id="10" name="Shape 8"/>
          <p:cNvSpPr/>
          <p:nvPr/>
        </p:nvSpPr>
        <p:spPr>
          <a:xfrm>
            <a:off x="548640" y="1444752"/>
            <a:ext cx="457200" cy="457200"/>
          </a:xfrm>
          <a:prstGeom prst="ellipse">
            <a:avLst/>
          </a:prstGeom>
          <a:solidFill>
            <a:srgbClr val="E7F5EC"/>
          </a:solidFill>
          <a:ln w="12700">
            <a:solidFill>
              <a:srgbClr val="1E8449"/>
            </a:solidFill>
            <a:prstDash val="solid"/>
          </a:ln>
        </p:spPr>
      </p:sp>
      <p:pic>
        <p:nvPicPr>
          <p:cNvPr id="11" name="Image 0" descr="preencoded.png">    </p:cNvPr>
          <p:cNvPicPr>
            <a:picLocks noChangeAspect="1"/>
          </p:cNvPicPr>
          <p:nvPr/>
        </p:nvPicPr>
        <p:blipFill>
          <a:blip r:embed="rId1"/>
          <a:stretch>
            <a:fillRect/>
          </a:stretch>
        </p:blipFill>
        <p:spPr>
          <a:xfrm>
            <a:off x="672084" y="1568196"/>
            <a:ext cx="210312" cy="210312"/>
          </a:xfrm>
          <a:prstGeom prst="rect">
            <a:avLst/>
          </a:prstGeom>
        </p:spPr>
      </p:pic>
      <p:sp>
        <p:nvSpPr>
          <p:cNvPr id="12" name="Shape 9"/>
          <p:cNvSpPr/>
          <p:nvPr/>
        </p:nvSpPr>
        <p:spPr>
          <a:xfrm>
            <a:off x="1170432" y="1499616"/>
            <a:ext cx="137160" cy="137160"/>
          </a:xfrm>
          <a:prstGeom prst="roundRect">
            <a:avLst>
              <a:gd name="adj" fmla="val 20000"/>
            </a:avLst>
          </a:prstGeom>
          <a:solidFill>
            <a:srgbClr val="1E8449"/>
          </a:solidFill>
          <a:ln/>
        </p:spPr>
      </p:sp>
      <p:sp>
        <p:nvSpPr>
          <p:cNvPr id="13" name="Text 10"/>
          <p:cNvSpPr/>
          <p:nvPr/>
        </p:nvSpPr>
        <p:spPr>
          <a:xfrm>
            <a:off x="1426464" y="1426464"/>
            <a:ext cx="4636008" cy="502920"/>
          </a:xfrm>
          <a:prstGeom prst="rect">
            <a:avLst/>
          </a:prstGeom>
          <a:noFill/>
          <a:ln/>
        </p:spPr>
        <p:txBody>
          <a:bodyPr wrap="square" lIns="0" tIns="0" rIns="0" bIns="0" rtlCol="0" anchor="t"/>
          <a:lstStyle/>
          <a:p>
            <a:pPr indent="0" marL="0">
              <a:lnSpc>
                <a:spcPts val="1550"/>
              </a:lnSpc>
              <a:buNone/>
            </a:pPr>
            <a:r>
              <a:rPr lang="en-US" sz="1150" dirty="0">
                <a:solidFill>
                  <a:srgbClr val="27364B"/>
                </a:solidFill>
                <a:latin typeface="Calibri" pitchFamily="34" charset="0"/>
                <a:ea typeface="Calibri" pitchFamily="34" charset="-122"/>
                <a:cs typeface="Calibri" pitchFamily="34" charset="-120"/>
              </a:rPr>
              <a:t>Confirmed via the shared ah-cache-manager library used across services.</a:t>
            </a:r>
            <a:endParaRPr lang="en-US" sz="1150" dirty="0"/>
          </a:p>
        </p:txBody>
      </p:sp>
      <p:sp>
        <p:nvSpPr>
          <p:cNvPr id="14" name="Shape 11"/>
          <p:cNvSpPr/>
          <p:nvPr/>
        </p:nvSpPr>
        <p:spPr>
          <a:xfrm>
            <a:off x="1170432" y="1875767"/>
            <a:ext cx="137160" cy="137160"/>
          </a:xfrm>
          <a:prstGeom prst="roundRect">
            <a:avLst>
              <a:gd name="adj" fmla="val 20000"/>
            </a:avLst>
          </a:prstGeom>
          <a:solidFill>
            <a:srgbClr val="1E8449"/>
          </a:solidFill>
          <a:ln/>
        </p:spPr>
      </p:sp>
      <p:sp>
        <p:nvSpPr>
          <p:cNvPr id="15" name="Text 12"/>
          <p:cNvSpPr/>
          <p:nvPr/>
        </p:nvSpPr>
        <p:spPr>
          <a:xfrm>
            <a:off x="1426464" y="1802615"/>
            <a:ext cx="4636008" cy="502920"/>
          </a:xfrm>
          <a:prstGeom prst="rect">
            <a:avLst/>
          </a:prstGeom>
          <a:noFill/>
          <a:ln/>
        </p:spPr>
        <p:txBody>
          <a:bodyPr wrap="square" lIns="0" tIns="0" rIns="0" bIns="0" rtlCol="0" anchor="t"/>
          <a:lstStyle/>
          <a:p>
            <a:pPr indent="0" marL="0">
              <a:lnSpc>
                <a:spcPts val="1550"/>
              </a:lnSpc>
              <a:buNone/>
            </a:pPr>
            <a:r>
              <a:rPr lang="en-US" sz="1150" dirty="0">
                <a:solidFill>
                  <a:srgbClr val="27364B"/>
                </a:solidFill>
                <a:latin typeface="Calibri" pitchFamily="34" charset="0"/>
                <a:ea typeface="Calibri" pitchFamily="34" charset="-122"/>
                <a:cs typeface="Calibri" pitchFamily="34" charset="-120"/>
              </a:rPr>
              <a:t>ah-accounts-bff: portfolio, balances, HSA — 1-minute TTL. retirementbalancedomainAPI: MIM, RetirePlus — 5-minute TTL.</a:t>
            </a:r>
            <a:endParaRPr lang="en-US" sz="1150" dirty="0"/>
          </a:p>
        </p:txBody>
      </p:sp>
      <p:sp>
        <p:nvSpPr>
          <p:cNvPr id="16" name="Shape 13"/>
          <p:cNvSpPr/>
          <p:nvPr/>
        </p:nvSpPr>
        <p:spPr>
          <a:xfrm>
            <a:off x="548640" y="2743200"/>
            <a:ext cx="5532120" cy="1051560"/>
          </a:xfrm>
          <a:prstGeom prst="roundRect">
            <a:avLst>
              <a:gd name="adj" fmla="val 4348"/>
            </a:avLst>
          </a:prstGeom>
          <a:solidFill>
            <a:srgbClr val="E7F5EC"/>
          </a:solidFill>
          <a:ln w="12700">
            <a:solidFill>
              <a:srgbClr val="1E8449"/>
            </a:solidFill>
            <a:prstDash val="solid"/>
          </a:ln>
        </p:spPr>
      </p:sp>
      <p:sp>
        <p:nvSpPr>
          <p:cNvPr id="17" name="Text 14"/>
          <p:cNvSpPr/>
          <p:nvPr/>
        </p:nvSpPr>
        <p:spPr>
          <a:xfrm>
            <a:off x="713232" y="2825496"/>
            <a:ext cx="5202936" cy="201168"/>
          </a:xfrm>
          <a:prstGeom prst="rect">
            <a:avLst/>
          </a:prstGeom>
          <a:noFill/>
          <a:ln/>
        </p:spPr>
        <p:txBody>
          <a:bodyPr wrap="square" lIns="0" tIns="0" rIns="0" bIns="0" rtlCol="0" anchor="ctr"/>
          <a:lstStyle/>
          <a:p>
            <a:pPr indent="0" marL="0">
              <a:buNone/>
            </a:pPr>
            <a:r>
              <a:rPr lang="en-US" sz="950" b="1" spc="100" kern="0" dirty="0">
                <a:solidFill>
                  <a:srgbClr val="1E8449"/>
                </a:solidFill>
                <a:latin typeface="Arial" pitchFamily="34" charset="0"/>
                <a:ea typeface="Arial" pitchFamily="34" charset="-122"/>
                <a:cs typeface="Arial" pitchFamily="34" charset="-120"/>
              </a:rPr>
              <a:t>ADVANTAGE</a:t>
            </a:r>
            <a:endParaRPr lang="en-US" sz="950" dirty="0"/>
          </a:p>
        </p:txBody>
      </p:sp>
      <p:sp>
        <p:nvSpPr>
          <p:cNvPr id="18" name="Text 15"/>
          <p:cNvSpPr/>
          <p:nvPr/>
        </p:nvSpPr>
        <p:spPr>
          <a:xfrm>
            <a:off x="713232" y="3035808"/>
            <a:ext cx="5202936" cy="685800"/>
          </a:xfrm>
          <a:prstGeom prst="rect">
            <a:avLst/>
          </a:prstGeom>
          <a:noFill/>
          <a:ln/>
        </p:spPr>
        <p:txBody>
          <a:bodyPr wrap="square" lIns="0" tIns="0" rIns="0" bIns="0" rtlCol="0" anchor="t"/>
          <a:lstStyle/>
          <a:p>
            <a:pPr indent="0" marL="0">
              <a:lnSpc>
                <a:spcPts val="1450"/>
              </a:lnSpc>
              <a:buNone/>
            </a:pPr>
            <a:r>
              <a:rPr lang="en-US" sz="1080" dirty="0">
                <a:solidFill>
                  <a:srgbClr val="27364B"/>
                </a:solidFill>
                <a:latin typeface="Calibri" pitchFamily="34" charset="0"/>
                <a:ea typeface="Calibri" pitchFamily="34" charset="-122"/>
                <a:cs typeface="Calibri" pitchFamily="34" charset="-120"/>
              </a:rPr>
              <a:t>Repeated reads for the same account data return from Redis in milliseconds instead of round-tripping to the origin service every time.</a:t>
            </a:r>
            <a:endParaRPr lang="en-US" sz="1080" dirty="0"/>
          </a:p>
        </p:txBody>
      </p:sp>
      <p:sp>
        <p:nvSpPr>
          <p:cNvPr id="19" name="Shape 16"/>
          <p:cNvSpPr/>
          <p:nvPr/>
        </p:nvSpPr>
        <p:spPr>
          <a:xfrm>
            <a:off x="548640" y="4087368"/>
            <a:ext cx="5532120" cy="777240"/>
          </a:xfrm>
          <a:prstGeom prst="roundRect">
            <a:avLst>
              <a:gd name="adj" fmla="val 5882"/>
            </a:avLst>
          </a:prstGeom>
          <a:solidFill>
            <a:srgbClr val="FCF3DF"/>
          </a:solidFill>
          <a:ln w="12700">
            <a:solidFill>
              <a:srgbClr val="B7791F"/>
            </a:solidFill>
            <a:prstDash val="solid"/>
          </a:ln>
        </p:spPr>
      </p:sp>
      <p:sp>
        <p:nvSpPr>
          <p:cNvPr id="20" name="Text 17"/>
          <p:cNvSpPr/>
          <p:nvPr/>
        </p:nvSpPr>
        <p:spPr>
          <a:xfrm>
            <a:off x="713232" y="4169664"/>
            <a:ext cx="5202936" cy="201168"/>
          </a:xfrm>
          <a:prstGeom prst="rect">
            <a:avLst/>
          </a:prstGeom>
          <a:noFill/>
          <a:ln/>
        </p:spPr>
        <p:txBody>
          <a:bodyPr wrap="square" lIns="0" tIns="0" rIns="0" bIns="0" rtlCol="0" anchor="ctr"/>
          <a:lstStyle/>
          <a:p>
            <a:pPr indent="0" marL="0">
              <a:buNone/>
            </a:pPr>
            <a:r>
              <a:rPr lang="en-US" sz="950" b="1" spc="100" kern="0" dirty="0">
                <a:solidFill>
                  <a:srgbClr val="B7791F"/>
                </a:solidFill>
                <a:latin typeface="Arial" pitchFamily="34" charset="0"/>
                <a:ea typeface="Arial" pitchFamily="34" charset="-122"/>
                <a:cs typeface="Arial" pitchFamily="34" charset="-120"/>
              </a:rPr>
              <a:t>REFINEMENT</a:t>
            </a:r>
            <a:endParaRPr lang="en-US" sz="950" dirty="0"/>
          </a:p>
        </p:txBody>
      </p:sp>
      <p:sp>
        <p:nvSpPr>
          <p:cNvPr id="21" name="Text 18"/>
          <p:cNvSpPr/>
          <p:nvPr/>
        </p:nvSpPr>
        <p:spPr>
          <a:xfrm>
            <a:off x="713232" y="4379976"/>
            <a:ext cx="5202936" cy="411480"/>
          </a:xfrm>
          <a:prstGeom prst="rect">
            <a:avLst/>
          </a:prstGeom>
          <a:noFill/>
          <a:ln/>
        </p:spPr>
        <p:txBody>
          <a:bodyPr wrap="square" lIns="0" tIns="0" rIns="0" bIns="0" rtlCol="0" anchor="t"/>
          <a:lstStyle/>
          <a:p>
            <a:pPr indent="0" marL="0">
              <a:lnSpc>
                <a:spcPts val="1450"/>
              </a:lnSpc>
              <a:buNone/>
            </a:pPr>
            <a:r>
              <a:rPr lang="en-US" sz="1080" dirty="0">
                <a:solidFill>
                  <a:srgbClr val="27364B"/>
                </a:solidFill>
                <a:latin typeface="Calibri" pitchFamily="34" charset="0"/>
                <a:ea typeface="Calibri" pitchFamily="34" charset="-122"/>
                <a:cs typeface="Calibri" pitchFamily="34" charset="-120"/>
              </a:rPr>
              <a:t>No published hit-rate metric, and no cross-pod eviction broadcast yet.</a:t>
            </a:r>
            <a:endParaRPr lang="en-US" sz="1080" dirty="0"/>
          </a:p>
        </p:txBody>
      </p:sp>
      <p:sp>
        <p:nvSpPr>
          <p:cNvPr id="22" name="Text 19"/>
          <p:cNvSpPr/>
          <p:nvPr/>
        </p:nvSpPr>
        <p:spPr>
          <a:xfrm>
            <a:off x="548640" y="6263640"/>
            <a:ext cx="5486400" cy="219456"/>
          </a:xfrm>
          <a:prstGeom prst="rect">
            <a:avLst/>
          </a:prstGeom>
          <a:noFill/>
          <a:ln/>
        </p:spPr>
        <p:txBody>
          <a:bodyPr wrap="square" lIns="0" tIns="0" rIns="0" bIns="0"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SOURCE  ·  Cache Implementation (pg. 708940873)</a:t>
            </a:r>
            <a:endParaRPr lang="en-US" sz="900" dirty="0"/>
          </a:p>
        </p:txBody>
      </p:sp>
      <p:sp>
        <p:nvSpPr>
          <p:cNvPr id="23" name="Shape 20"/>
          <p:cNvSpPr/>
          <p:nvPr/>
        </p:nvSpPr>
        <p:spPr>
          <a:xfrm>
            <a:off x="6400800" y="1481328"/>
            <a:ext cx="5239512" cy="4828032"/>
          </a:xfrm>
          <a:prstGeom prst="roundRect">
            <a:avLst>
              <a:gd name="adj" fmla="val 1136"/>
            </a:avLst>
          </a:prstGeom>
          <a:solidFill>
            <a:srgbClr val="F5F9FE"/>
          </a:solidFill>
          <a:ln w="12700">
            <a:solidFill>
              <a:srgbClr val="D9E2EC"/>
            </a:solidFill>
            <a:prstDash val="solid"/>
          </a:ln>
        </p:spPr>
      </p:sp>
      <p:sp>
        <p:nvSpPr>
          <p:cNvPr id="24" name="Text 21"/>
          <p:cNvSpPr/>
          <p:nvPr/>
        </p:nvSpPr>
        <p:spPr>
          <a:xfrm>
            <a:off x="6583680" y="1627632"/>
            <a:ext cx="4873752" cy="219456"/>
          </a:xfrm>
          <a:prstGeom prst="rect">
            <a:avLst/>
          </a:prstGeom>
          <a:noFill/>
          <a:ln/>
        </p:spPr>
        <p:txBody>
          <a:bodyPr wrap="square" lIns="0" tIns="0" rIns="0" bIns="0" rtlCol="0" anchor="ctr"/>
          <a:lstStyle/>
          <a:p>
            <a:pPr indent="0" marL="0">
              <a:buNone/>
            </a:pPr>
            <a:r>
              <a:rPr lang="en-US" sz="950" b="1" spc="140" kern="0" dirty="0">
                <a:solidFill>
                  <a:srgbClr val="1B4F8C"/>
                </a:solidFill>
                <a:latin typeface="Arial" pitchFamily="34" charset="0"/>
                <a:ea typeface="Arial" pitchFamily="34" charset="-122"/>
                <a:cs typeface="Arial" pitchFamily="34" charset="-120"/>
              </a:rPr>
              <a:t>HOW IT WORKS</a:t>
            </a:r>
            <a:endParaRPr lang="en-US" sz="950" dirty="0"/>
          </a:p>
        </p:txBody>
      </p:sp>
      <p:sp>
        <p:nvSpPr>
          <p:cNvPr id="25" name="Shape 22"/>
          <p:cNvSpPr/>
          <p:nvPr/>
        </p:nvSpPr>
        <p:spPr>
          <a:xfrm>
            <a:off x="6583680" y="1920240"/>
            <a:ext cx="4873752" cy="0"/>
          </a:xfrm>
          <a:prstGeom prst="line">
            <a:avLst/>
          </a:prstGeom>
          <a:noFill/>
          <a:ln w="12700">
            <a:solidFill>
              <a:srgbClr val="D9E2EC"/>
            </a:solidFill>
            <a:prstDash val="solid"/>
          </a:ln>
        </p:spPr>
      </p:sp>
      <p:sp>
        <p:nvSpPr>
          <p:cNvPr id="26" name="Shape 23"/>
          <p:cNvSpPr/>
          <p:nvPr/>
        </p:nvSpPr>
        <p:spPr>
          <a:xfrm>
            <a:off x="7374636" y="1874520"/>
            <a:ext cx="3291840" cy="502920"/>
          </a:xfrm>
          <a:prstGeom prst="roundRect">
            <a:avLst>
              <a:gd name="adj" fmla="val 10909"/>
            </a:avLst>
          </a:prstGeom>
          <a:solidFill>
            <a:srgbClr val="EAF2FC"/>
          </a:solidFill>
          <a:ln w="17780">
            <a:solidFill>
              <a:srgbClr val="1B4F8C"/>
            </a:solidFill>
            <a:prstDash val="solid"/>
          </a:ln>
        </p:spPr>
      </p:sp>
      <p:sp>
        <p:nvSpPr>
          <p:cNvPr id="27" name="Text 24"/>
          <p:cNvSpPr/>
          <p:nvPr/>
        </p:nvSpPr>
        <p:spPr>
          <a:xfrm>
            <a:off x="7447788" y="1874520"/>
            <a:ext cx="3145536" cy="502920"/>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Request for account data</a:t>
            </a:r>
            <a:endParaRPr lang="en-US" sz="1050" dirty="0"/>
          </a:p>
        </p:txBody>
      </p:sp>
      <p:sp>
        <p:nvSpPr>
          <p:cNvPr id="28" name="Shape 25"/>
          <p:cNvSpPr/>
          <p:nvPr/>
        </p:nvSpPr>
        <p:spPr>
          <a:xfrm>
            <a:off x="9020556" y="2395728"/>
            <a:ext cx="0" cy="365760"/>
          </a:xfrm>
          <a:prstGeom prst="line">
            <a:avLst/>
          </a:prstGeom>
          <a:noFill/>
          <a:ln w="19050">
            <a:solidFill>
              <a:srgbClr val="1B4F8C"/>
            </a:solidFill>
            <a:prstDash val="solid"/>
            <a:tailEnd type="triangle"/>
          </a:ln>
        </p:spPr>
      </p:sp>
      <p:sp>
        <p:nvSpPr>
          <p:cNvPr id="29" name="Shape 26"/>
          <p:cNvSpPr/>
          <p:nvPr/>
        </p:nvSpPr>
        <p:spPr>
          <a:xfrm>
            <a:off x="7374636" y="2788920"/>
            <a:ext cx="3291840" cy="548640"/>
          </a:xfrm>
          <a:prstGeom prst="roundRect">
            <a:avLst>
              <a:gd name="adj" fmla="val 10000"/>
            </a:avLst>
          </a:prstGeom>
          <a:solidFill>
            <a:srgbClr val="FFFFFF"/>
          </a:solidFill>
          <a:ln w="17780">
            <a:solidFill>
              <a:srgbClr val="1B4F8C"/>
            </a:solidFill>
            <a:prstDash val="solid"/>
          </a:ln>
        </p:spPr>
      </p:sp>
      <p:sp>
        <p:nvSpPr>
          <p:cNvPr id="30" name="Text 27"/>
          <p:cNvSpPr/>
          <p:nvPr/>
        </p:nvSpPr>
        <p:spPr>
          <a:xfrm>
            <a:off x="7447788" y="2788920"/>
            <a:ext cx="3145536" cy="548640"/>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Redis cache check (ah-cache-manager)</a:t>
            </a:r>
            <a:endParaRPr lang="en-US" sz="1050" dirty="0"/>
          </a:p>
        </p:txBody>
      </p:sp>
      <p:sp>
        <p:nvSpPr>
          <p:cNvPr id="31" name="Shape 28"/>
          <p:cNvSpPr/>
          <p:nvPr/>
        </p:nvSpPr>
        <p:spPr>
          <a:xfrm>
            <a:off x="8151876" y="3364992"/>
            <a:ext cx="0" cy="347472"/>
          </a:xfrm>
          <a:prstGeom prst="line">
            <a:avLst/>
          </a:prstGeom>
          <a:noFill/>
          <a:ln w="19050">
            <a:solidFill>
              <a:srgbClr val="1E8449"/>
            </a:solidFill>
            <a:prstDash val="solid"/>
            <a:tailEnd type="triangle"/>
          </a:ln>
        </p:spPr>
      </p:sp>
      <p:sp>
        <p:nvSpPr>
          <p:cNvPr id="32" name="Shape 29"/>
          <p:cNvSpPr/>
          <p:nvPr/>
        </p:nvSpPr>
        <p:spPr>
          <a:xfrm>
            <a:off x="9889236" y="3364992"/>
            <a:ext cx="0" cy="347472"/>
          </a:xfrm>
          <a:prstGeom prst="line">
            <a:avLst/>
          </a:prstGeom>
          <a:noFill/>
          <a:ln w="19050">
            <a:solidFill>
              <a:srgbClr val="B7791F"/>
            </a:solidFill>
            <a:prstDash val="solid"/>
            <a:tailEnd type="triangle"/>
          </a:ln>
        </p:spPr>
      </p:sp>
      <p:sp>
        <p:nvSpPr>
          <p:cNvPr id="33" name="Shape 30"/>
          <p:cNvSpPr/>
          <p:nvPr/>
        </p:nvSpPr>
        <p:spPr>
          <a:xfrm>
            <a:off x="7328916" y="3749040"/>
            <a:ext cx="1645920" cy="640080"/>
          </a:xfrm>
          <a:prstGeom prst="roundRect">
            <a:avLst>
              <a:gd name="adj" fmla="val 8571"/>
            </a:avLst>
          </a:prstGeom>
          <a:solidFill>
            <a:srgbClr val="E7F5EC"/>
          </a:solidFill>
          <a:ln w="17780">
            <a:solidFill>
              <a:srgbClr val="1E8449"/>
            </a:solidFill>
            <a:prstDash val="solid"/>
          </a:ln>
        </p:spPr>
      </p:sp>
      <p:sp>
        <p:nvSpPr>
          <p:cNvPr id="34" name="Text 31"/>
          <p:cNvSpPr/>
          <p:nvPr/>
        </p:nvSpPr>
        <p:spPr>
          <a:xfrm>
            <a:off x="7402068" y="3803904"/>
            <a:ext cx="1499616" cy="352044"/>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Hit</a:t>
            </a:r>
            <a:endParaRPr lang="en-US" sz="1050" dirty="0"/>
          </a:p>
        </p:txBody>
      </p:sp>
      <p:sp>
        <p:nvSpPr>
          <p:cNvPr id="35" name="Text 32"/>
          <p:cNvSpPr/>
          <p:nvPr/>
        </p:nvSpPr>
        <p:spPr>
          <a:xfrm>
            <a:off x="7402068" y="4081882"/>
            <a:ext cx="1499616" cy="268834"/>
          </a:xfrm>
          <a:prstGeom prst="rect">
            <a:avLst/>
          </a:prstGeom>
          <a:noFill/>
          <a:ln/>
        </p:spPr>
        <p:txBody>
          <a:bodyPr wrap="square" lIns="0" tIns="0" rIns="0" bIns="0" rtlCol="0" anchor="ctr"/>
          <a:lstStyle/>
          <a:p>
            <a:pPr algn="ctr" indent="0" marL="0">
              <a:buNone/>
            </a:pPr>
            <a:r>
              <a:rPr lang="en-US" sz="830" dirty="0">
                <a:solidFill>
                  <a:srgbClr val="1E8449"/>
                </a:solidFill>
                <a:latin typeface="Calibri" pitchFamily="34" charset="0"/>
                <a:ea typeface="Calibri" pitchFamily="34" charset="-122"/>
                <a:cs typeface="Calibri" pitchFamily="34" charset="-120"/>
              </a:rPr>
              <a:t>Return cached value</a:t>
            </a:r>
            <a:endParaRPr lang="en-US" sz="830" dirty="0"/>
          </a:p>
        </p:txBody>
      </p:sp>
      <p:sp>
        <p:nvSpPr>
          <p:cNvPr id="36" name="Shape 33"/>
          <p:cNvSpPr/>
          <p:nvPr/>
        </p:nvSpPr>
        <p:spPr>
          <a:xfrm>
            <a:off x="9066276" y="3749040"/>
            <a:ext cx="1645920" cy="640080"/>
          </a:xfrm>
          <a:prstGeom prst="roundRect">
            <a:avLst>
              <a:gd name="adj" fmla="val 8571"/>
            </a:avLst>
          </a:prstGeom>
          <a:solidFill>
            <a:srgbClr val="FCF3DF"/>
          </a:solidFill>
          <a:ln w="17780">
            <a:solidFill>
              <a:srgbClr val="B7791F"/>
            </a:solidFill>
            <a:prstDash val="solid"/>
          </a:ln>
        </p:spPr>
      </p:sp>
      <p:sp>
        <p:nvSpPr>
          <p:cNvPr id="37" name="Text 34"/>
          <p:cNvSpPr/>
          <p:nvPr/>
        </p:nvSpPr>
        <p:spPr>
          <a:xfrm>
            <a:off x="9139428" y="3803904"/>
            <a:ext cx="1499616" cy="352044"/>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Miss</a:t>
            </a:r>
            <a:endParaRPr lang="en-US" sz="1050" dirty="0"/>
          </a:p>
        </p:txBody>
      </p:sp>
      <p:sp>
        <p:nvSpPr>
          <p:cNvPr id="38" name="Text 35"/>
          <p:cNvSpPr/>
          <p:nvPr/>
        </p:nvSpPr>
        <p:spPr>
          <a:xfrm>
            <a:off x="9139428" y="4081882"/>
            <a:ext cx="1499616" cy="268834"/>
          </a:xfrm>
          <a:prstGeom prst="rect">
            <a:avLst/>
          </a:prstGeom>
          <a:noFill/>
          <a:ln/>
        </p:spPr>
        <p:txBody>
          <a:bodyPr wrap="square" lIns="0" tIns="0" rIns="0" bIns="0" rtlCol="0" anchor="ctr"/>
          <a:lstStyle/>
          <a:p>
            <a:pPr algn="ctr" indent="0" marL="0">
              <a:buNone/>
            </a:pPr>
            <a:r>
              <a:rPr lang="en-US" sz="830" dirty="0">
                <a:solidFill>
                  <a:srgbClr val="B7791F"/>
                </a:solidFill>
                <a:latin typeface="Calibri" pitchFamily="34" charset="0"/>
                <a:ea typeface="Calibri" pitchFamily="34" charset="-122"/>
                <a:cs typeface="Calibri" pitchFamily="34" charset="-120"/>
              </a:rPr>
              <a:t>Call origin, populate cache</a:t>
            </a:r>
            <a:endParaRPr lang="en-US" sz="830" dirty="0"/>
          </a:p>
        </p:txBody>
      </p:sp>
      <p:sp>
        <p:nvSpPr>
          <p:cNvPr id="39" name="Shape 36"/>
          <p:cNvSpPr/>
          <p:nvPr/>
        </p:nvSpPr>
        <p:spPr>
          <a:xfrm>
            <a:off x="8151876" y="4416552"/>
            <a:ext cx="0" cy="201168"/>
          </a:xfrm>
          <a:prstGeom prst="line">
            <a:avLst/>
          </a:prstGeom>
          <a:noFill/>
          <a:ln w="16510">
            <a:solidFill>
              <a:srgbClr val="1E8449"/>
            </a:solidFill>
            <a:prstDash val="solid"/>
          </a:ln>
        </p:spPr>
      </p:sp>
      <p:sp>
        <p:nvSpPr>
          <p:cNvPr id="40" name="Shape 37"/>
          <p:cNvSpPr/>
          <p:nvPr/>
        </p:nvSpPr>
        <p:spPr>
          <a:xfrm>
            <a:off x="9889236" y="4416552"/>
            <a:ext cx="0" cy="201168"/>
          </a:xfrm>
          <a:prstGeom prst="line">
            <a:avLst/>
          </a:prstGeom>
          <a:noFill/>
          <a:ln w="16510">
            <a:solidFill>
              <a:srgbClr val="B7791F"/>
            </a:solidFill>
            <a:prstDash val="solid"/>
          </a:ln>
        </p:spPr>
      </p:sp>
      <p:sp>
        <p:nvSpPr>
          <p:cNvPr id="41" name="Shape 38"/>
          <p:cNvSpPr/>
          <p:nvPr/>
        </p:nvSpPr>
        <p:spPr>
          <a:xfrm>
            <a:off x="8151876" y="4617720"/>
            <a:ext cx="1737360" cy="0"/>
          </a:xfrm>
          <a:prstGeom prst="line">
            <a:avLst/>
          </a:prstGeom>
          <a:noFill/>
          <a:ln w="15240">
            <a:solidFill>
              <a:srgbClr val="94A3B8"/>
            </a:solidFill>
            <a:prstDash val="solid"/>
          </a:ln>
        </p:spPr>
      </p:sp>
      <p:sp>
        <p:nvSpPr>
          <p:cNvPr id="42" name="Shape 39"/>
          <p:cNvSpPr/>
          <p:nvPr/>
        </p:nvSpPr>
        <p:spPr>
          <a:xfrm>
            <a:off x="9020556" y="4617720"/>
            <a:ext cx="0" cy="320040"/>
          </a:xfrm>
          <a:prstGeom prst="line">
            <a:avLst/>
          </a:prstGeom>
          <a:noFill/>
          <a:ln w="19050">
            <a:solidFill>
              <a:srgbClr val="94A3B8"/>
            </a:solidFill>
            <a:prstDash val="solid"/>
            <a:tailEnd type="triangle"/>
          </a:ln>
        </p:spPr>
      </p:sp>
      <p:sp>
        <p:nvSpPr>
          <p:cNvPr id="43" name="Shape 40"/>
          <p:cNvSpPr/>
          <p:nvPr/>
        </p:nvSpPr>
        <p:spPr>
          <a:xfrm>
            <a:off x="7374636" y="4983480"/>
            <a:ext cx="3291840" cy="548640"/>
          </a:xfrm>
          <a:prstGeom prst="roundRect">
            <a:avLst>
              <a:gd name="adj" fmla="val 10000"/>
            </a:avLst>
          </a:prstGeom>
          <a:solidFill>
            <a:srgbClr val="E7F5EC"/>
          </a:solidFill>
          <a:ln w="17780">
            <a:solidFill>
              <a:srgbClr val="1E8449"/>
            </a:solidFill>
            <a:prstDash val="solid"/>
          </a:ln>
        </p:spPr>
      </p:sp>
      <p:sp>
        <p:nvSpPr>
          <p:cNvPr id="44" name="Text 41"/>
          <p:cNvSpPr/>
          <p:nvPr/>
        </p:nvSpPr>
        <p:spPr>
          <a:xfrm>
            <a:off x="7447788" y="4983480"/>
            <a:ext cx="3145536" cy="548640"/>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Response returned</a:t>
            </a:r>
            <a:endParaRPr lang="en-US" sz="1050" dirty="0"/>
          </a:p>
        </p:txBody>
      </p:sp>
      <p:sp>
        <p:nvSpPr>
          <p:cNvPr id="45" name="Text 42"/>
          <p:cNvSpPr/>
          <p:nvPr/>
        </p:nvSpPr>
        <p:spPr>
          <a:xfrm>
            <a:off x="6675120" y="5669280"/>
            <a:ext cx="4690872" cy="502920"/>
          </a:xfrm>
          <a:prstGeom prst="rect">
            <a:avLst/>
          </a:prstGeom>
          <a:noFill/>
          <a:ln/>
        </p:spPr>
        <p:txBody>
          <a:bodyPr wrap="square" lIns="0" tIns="0" rIns="0" bIns="0" rtlCol="0" anchor="ctr"/>
          <a:lstStyle/>
          <a:p>
            <a:pPr indent="0" marL="0">
              <a:buNone/>
            </a:pPr>
            <a:r>
              <a:rPr lang="en-US" sz="900" i="1" dirty="0">
                <a:solidFill>
                  <a:srgbClr val="5B6472"/>
                </a:solidFill>
                <a:latin typeface="Calibri" pitchFamily="34" charset="0"/>
                <a:ea typeface="Calibri" pitchFamily="34" charset="-122"/>
                <a:cs typeface="Calibri" pitchFamily="34" charset="-120"/>
              </a:rPr>
              <a:t>The TTL is a deliberate trade-off: shorter for fast-changing balances, longer for stable reference data.</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1B4F8C"/>
          </a:solidFill>
          <a:ln/>
        </p:spPr>
      </p:sp>
      <p:sp>
        <p:nvSpPr>
          <p:cNvPr id="3" name="Text 1"/>
          <p:cNvSpPr/>
          <p:nvPr/>
        </p:nvSpPr>
        <p:spPr>
          <a:xfrm>
            <a:off x="11155680" y="6519672"/>
            <a:ext cx="822960" cy="256032"/>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06 / 13</a:t>
            </a:r>
            <a:endParaRPr lang="en-US" sz="950" dirty="0"/>
          </a:p>
        </p:txBody>
      </p:sp>
      <p:sp>
        <p:nvSpPr>
          <p:cNvPr id="4" name="Text 2"/>
          <p:cNvSpPr/>
          <p:nvPr/>
        </p:nvSpPr>
        <p:spPr>
          <a:xfrm>
            <a:off x="548640" y="6519672"/>
            <a:ext cx="4572000" cy="256032"/>
          </a:xfrm>
          <a:prstGeom prst="rect">
            <a:avLst/>
          </a:prstGeom>
          <a:noFill/>
          <a:ln/>
        </p:spPr>
        <p:txBody>
          <a:bodyPr wrap="square" lIns="0" tIns="0" rIns="0" bIns="0" rtlCol="0" anchor="ctr"/>
          <a:lstStyle/>
          <a:p>
            <a:pPr indent="0" marL="0">
              <a:buNone/>
            </a:pPr>
            <a:r>
              <a:rPr lang="en-US" sz="850" spc="100" kern="0" dirty="0">
                <a:solidFill>
                  <a:srgbClr val="94A3B8"/>
                </a:solidFill>
                <a:latin typeface="Calibri" pitchFamily="34" charset="0"/>
                <a:ea typeface="Calibri" pitchFamily="34" charset="-122"/>
                <a:cs typeface="Calibri" pitchFamily="34" charset="-120"/>
              </a:rPr>
              <a:t>ACCOUNT HOME PERFORMANCE PROGRAM</a:t>
            </a:r>
            <a:endParaRPr lang="en-US" sz="850" dirty="0"/>
          </a:p>
        </p:txBody>
      </p:sp>
      <p:sp>
        <p:nvSpPr>
          <p:cNvPr id="5" name="Text 3"/>
          <p:cNvSpPr/>
          <p:nvPr/>
        </p:nvSpPr>
        <p:spPr>
          <a:xfrm>
            <a:off x="566928" y="310896"/>
            <a:ext cx="3657600" cy="237744"/>
          </a:xfrm>
          <a:prstGeom prst="rect">
            <a:avLst/>
          </a:prstGeom>
          <a:noFill/>
          <a:ln/>
        </p:spPr>
        <p:txBody>
          <a:bodyPr wrap="square" lIns="0" tIns="0" rIns="0" bIns="0" rtlCol="0" anchor="ctr"/>
          <a:lstStyle/>
          <a:p>
            <a:pPr indent="0" marL="0">
              <a:buNone/>
            </a:pPr>
            <a:r>
              <a:rPr lang="en-US" sz="1050" b="1" spc="220" kern="0" dirty="0">
                <a:solidFill>
                  <a:srgbClr val="1E8449"/>
                </a:solidFill>
                <a:latin typeface="Arial" pitchFamily="34" charset="0"/>
                <a:ea typeface="Arial" pitchFamily="34" charset="-122"/>
                <a:cs typeface="Arial" pitchFamily="34" charset="-120"/>
              </a:rPr>
              <a:t>PATTERN 09</a:t>
            </a:r>
            <a:endParaRPr lang="en-US" sz="1050" dirty="0"/>
          </a:p>
        </p:txBody>
      </p:sp>
      <p:sp>
        <p:nvSpPr>
          <p:cNvPr id="6" name="Text 4"/>
          <p:cNvSpPr/>
          <p:nvPr/>
        </p:nvSpPr>
        <p:spPr>
          <a:xfrm>
            <a:off x="548640" y="530352"/>
            <a:ext cx="8595360" cy="502920"/>
          </a:xfrm>
          <a:prstGeom prst="rect">
            <a:avLst/>
          </a:prstGeom>
          <a:noFill/>
          <a:ln/>
        </p:spPr>
        <p:txBody>
          <a:bodyPr wrap="square" lIns="0" tIns="0" rIns="0" bIns="0" rtlCol="0" anchor="ctr"/>
          <a:lstStyle/>
          <a:p>
            <a:pPr indent="0" marL="0">
              <a:buNone/>
            </a:pPr>
            <a:r>
              <a:rPr lang="en-US" sz="2400" b="1" dirty="0">
                <a:solidFill>
                  <a:srgbClr val="0B2545"/>
                </a:solidFill>
                <a:latin typeface="Arial" pitchFamily="34" charset="0"/>
                <a:ea typeface="Arial" pitchFamily="34" charset="-122"/>
                <a:cs typeface="Arial" pitchFamily="34" charset="-120"/>
              </a:rPr>
              <a:t>Distributed Tracing &amp; RED Metrics</a:t>
            </a:r>
            <a:endParaRPr lang="en-US" sz="2400" dirty="0"/>
          </a:p>
        </p:txBody>
      </p:sp>
      <p:sp>
        <p:nvSpPr>
          <p:cNvPr id="7" name="Shape 5"/>
          <p:cNvSpPr/>
          <p:nvPr/>
        </p:nvSpPr>
        <p:spPr>
          <a:xfrm>
            <a:off x="10058400" y="603504"/>
            <a:ext cx="1371600" cy="292608"/>
          </a:xfrm>
          <a:prstGeom prst="roundRect">
            <a:avLst>
              <a:gd name="adj" fmla="val 50000"/>
            </a:avLst>
          </a:prstGeom>
          <a:solidFill>
            <a:srgbClr val="E7F5EC"/>
          </a:solidFill>
          <a:ln w="13970">
            <a:solidFill>
              <a:srgbClr val="1E8449"/>
            </a:solidFill>
            <a:prstDash val="solid"/>
          </a:ln>
        </p:spPr>
      </p:sp>
      <p:sp>
        <p:nvSpPr>
          <p:cNvPr id="8" name="Text 6"/>
          <p:cNvSpPr/>
          <p:nvPr/>
        </p:nvSpPr>
        <p:spPr>
          <a:xfrm>
            <a:off x="10058400" y="603504"/>
            <a:ext cx="1371600" cy="292608"/>
          </a:xfrm>
          <a:prstGeom prst="rect">
            <a:avLst/>
          </a:prstGeom>
          <a:noFill/>
          <a:ln/>
        </p:spPr>
        <p:txBody>
          <a:bodyPr wrap="square" lIns="0" tIns="0" rIns="0" bIns="0" rtlCol="0" anchor="ctr"/>
          <a:lstStyle/>
          <a:p>
            <a:pPr algn="ctr" indent="0" marL="0">
              <a:buNone/>
            </a:pPr>
            <a:r>
              <a:rPr lang="en-US" sz="1100" b="1" dirty="0">
                <a:solidFill>
                  <a:srgbClr val="1E8449"/>
                </a:solidFill>
                <a:latin typeface="Arial" pitchFamily="34" charset="0"/>
                <a:ea typeface="Arial" pitchFamily="34" charset="-122"/>
                <a:cs typeface="Arial" pitchFamily="34" charset="-120"/>
              </a:rPr>
              <a:t>APPLIED</a:t>
            </a:r>
            <a:endParaRPr lang="en-US" sz="1100" dirty="0"/>
          </a:p>
        </p:txBody>
      </p:sp>
      <p:sp>
        <p:nvSpPr>
          <p:cNvPr id="9" name="Shape 7"/>
          <p:cNvSpPr/>
          <p:nvPr/>
        </p:nvSpPr>
        <p:spPr>
          <a:xfrm>
            <a:off x="566928" y="1298448"/>
            <a:ext cx="11064240" cy="0"/>
          </a:xfrm>
          <a:prstGeom prst="line">
            <a:avLst/>
          </a:prstGeom>
          <a:noFill/>
          <a:ln w="12700">
            <a:solidFill>
              <a:srgbClr val="D9E2EC"/>
            </a:solidFill>
            <a:prstDash val="solid"/>
          </a:ln>
        </p:spPr>
      </p:sp>
      <p:sp>
        <p:nvSpPr>
          <p:cNvPr id="10" name="Shape 8"/>
          <p:cNvSpPr/>
          <p:nvPr/>
        </p:nvSpPr>
        <p:spPr>
          <a:xfrm>
            <a:off x="548640" y="1444752"/>
            <a:ext cx="457200" cy="457200"/>
          </a:xfrm>
          <a:prstGeom prst="ellipse">
            <a:avLst/>
          </a:prstGeom>
          <a:solidFill>
            <a:srgbClr val="E7F5EC"/>
          </a:solidFill>
          <a:ln w="12700">
            <a:solidFill>
              <a:srgbClr val="1E8449"/>
            </a:solidFill>
            <a:prstDash val="solid"/>
          </a:ln>
        </p:spPr>
      </p:sp>
      <p:pic>
        <p:nvPicPr>
          <p:cNvPr id="11" name="Image 0" descr="preencoded.png">    </p:cNvPr>
          <p:cNvPicPr>
            <a:picLocks noChangeAspect="1"/>
          </p:cNvPicPr>
          <p:nvPr/>
        </p:nvPicPr>
        <p:blipFill>
          <a:blip r:embed="rId1"/>
          <a:stretch>
            <a:fillRect/>
          </a:stretch>
        </p:blipFill>
        <p:spPr>
          <a:xfrm>
            <a:off x="672084" y="1568196"/>
            <a:ext cx="210312" cy="210312"/>
          </a:xfrm>
          <a:prstGeom prst="rect">
            <a:avLst/>
          </a:prstGeom>
        </p:spPr>
      </p:pic>
      <p:sp>
        <p:nvSpPr>
          <p:cNvPr id="12" name="Shape 9"/>
          <p:cNvSpPr/>
          <p:nvPr/>
        </p:nvSpPr>
        <p:spPr>
          <a:xfrm>
            <a:off x="1170432" y="1499616"/>
            <a:ext cx="137160" cy="137160"/>
          </a:xfrm>
          <a:prstGeom prst="roundRect">
            <a:avLst>
              <a:gd name="adj" fmla="val 20000"/>
            </a:avLst>
          </a:prstGeom>
          <a:solidFill>
            <a:srgbClr val="1E8449"/>
          </a:solidFill>
          <a:ln/>
        </p:spPr>
      </p:sp>
      <p:sp>
        <p:nvSpPr>
          <p:cNvPr id="13" name="Text 10"/>
          <p:cNvSpPr/>
          <p:nvPr/>
        </p:nvSpPr>
        <p:spPr>
          <a:xfrm>
            <a:off x="1426464" y="1426464"/>
            <a:ext cx="4636008" cy="502920"/>
          </a:xfrm>
          <a:prstGeom prst="rect">
            <a:avLst/>
          </a:prstGeom>
          <a:noFill/>
          <a:ln/>
        </p:spPr>
        <p:txBody>
          <a:bodyPr wrap="square" lIns="0" tIns="0" rIns="0" bIns="0" rtlCol="0" anchor="t"/>
          <a:lstStyle/>
          <a:p>
            <a:pPr indent="0" marL="0">
              <a:lnSpc>
                <a:spcPts val="1550"/>
              </a:lnSpc>
              <a:buNone/>
            </a:pPr>
            <a:r>
              <a:rPr lang="en-US" sz="1150" dirty="0">
                <a:solidFill>
                  <a:srgbClr val="27364B"/>
                </a:solidFill>
                <a:latin typeface="Calibri" pitchFamily="34" charset="0"/>
                <a:ea typeface="Calibri" pitchFamily="34" charset="-122"/>
                <a:cs typeface="Calibri" pitchFamily="34" charset="-120"/>
              </a:rPr>
              <a:t>Dynatrace is used extensively — Experience Vitals and Error Inspector are both active.</a:t>
            </a:r>
            <a:endParaRPr lang="en-US" sz="1150" dirty="0"/>
          </a:p>
        </p:txBody>
      </p:sp>
      <p:sp>
        <p:nvSpPr>
          <p:cNvPr id="14" name="Shape 11"/>
          <p:cNvSpPr/>
          <p:nvPr/>
        </p:nvSpPr>
        <p:spPr>
          <a:xfrm>
            <a:off x="1170432" y="2114758"/>
            <a:ext cx="137160" cy="137160"/>
          </a:xfrm>
          <a:prstGeom prst="roundRect">
            <a:avLst>
              <a:gd name="adj" fmla="val 20000"/>
            </a:avLst>
          </a:prstGeom>
          <a:solidFill>
            <a:srgbClr val="1E8449"/>
          </a:solidFill>
          <a:ln/>
        </p:spPr>
      </p:sp>
      <p:sp>
        <p:nvSpPr>
          <p:cNvPr id="15" name="Text 12"/>
          <p:cNvSpPr/>
          <p:nvPr/>
        </p:nvSpPr>
        <p:spPr>
          <a:xfrm>
            <a:off x="1426464" y="2041606"/>
            <a:ext cx="4636008" cy="502920"/>
          </a:xfrm>
          <a:prstGeom prst="rect">
            <a:avLst/>
          </a:prstGeom>
          <a:noFill/>
          <a:ln/>
        </p:spPr>
        <p:txBody>
          <a:bodyPr wrap="square" lIns="0" tIns="0" rIns="0" bIns="0" rtlCol="0" anchor="t"/>
          <a:lstStyle/>
          <a:p>
            <a:pPr indent="0" marL="0">
              <a:lnSpc>
                <a:spcPts val="1550"/>
              </a:lnSpc>
              <a:buNone/>
            </a:pPr>
            <a:r>
              <a:rPr lang="en-US" sz="1150" dirty="0">
                <a:solidFill>
                  <a:srgbClr val="27364B"/>
                </a:solidFill>
                <a:latin typeface="Calibri" pitchFamily="34" charset="0"/>
                <a:ea typeface="Calibri" pitchFamily="34" charset="-122"/>
                <a:cs typeface="Calibri" pitchFamily="34" charset="-120"/>
              </a:rPr>
              <a:t>A Lighthouse report is attached and current (participantHome_lightHouse.pdf).</a:t>
            </a:r>
            <a:endParaRPr lang="en-US" sz="1150" dirty="0"/>
          </a:p>
        </p:txBody>
      </p:sp>
      <p:sp>
        <p:nvSpPr>
          <p:cNvPr id="16" name="Shape 13"/>
          <p:cNvSpPr/>
          <p:nvPr/>
        </p:nvSpPr>
        <p:spPr>
          <a:xfrm>
            <a:off x="548640" y="2711612"/>
            <a:ext cx="5532120" cy="1051560"/>
          </a:xfrm>
          <a:prstGeom prst="roundRect">
            <a:avLst>
              <a:gd name="adj" fmla="val 4348"/>
            </a:avLst>
          </a:prstGeom>
          <a:solidFill>
            <a:srgbClr val="E7F5EC"/>
          </a:solidFill>
          <a:ln w="12700">
            <a:solidFill>
              <a:srgbClr val="1E8449"/>
            </a:solidFill>
            <a:prstDash val="solid"/>
          </a:ln>
        </p:spPr>
      </p:sp>
      <p:sp>
        <p:nvSpPr>
          <p:cNvPr id="17" name="Text 14"/>
          <p:cNvSpPr/>
          <p:nvPr/>
        </p:nvSpPr>
        <p:spPr>
          <a:xfrm>
            <a:off x="713232" y="2793908"/>
            <a:ext cx="5202936" cy="201168"/>
          </a:xfrm>
          <a:prstGeom prst="rect">
            <a:avLst/>
          </a:prstGeom>
          <a:noFill/>
          <a:ln/>
        </p:spPr>
        <p:txBody>
          <a:bodyPr wrap="square" lIns="0" tIns="0" rIns="0" bIns="0" rtlCol="0" anchor="ctr"/>
          <a:lstStyle/>
          <a:p>
            <a:pPr indent="0" marL="0">
              <a:buNone/>
            </a:pPr>
            <a:r>
              <a:rPr lang="en-US" sz="950" b="1" spc="100" kern="0" dirty="0">
                <a:solidFill>
                  <a:srgbClr val="1E8449"/>
                </a:solidFill>
                <a:latin typeface="Arial" pitchFamily="34" charset="0"/>
                <a:ea typeface="Arial" pitchFamily="34" charset="-122"/>
                <a:cs typeface="Arial" pitchFamily="34" charset="-120"/>
              </a:rPr>
              <a:t>ADVANTAGE</a:t>
            </a:r>
            <a:endParaRPr lang="en-US" sz="950" dirty="0"/>
          </a:p>
        </p:txBody>
      </p:sp>
      <p:sp>
        <p:nvSpPr>
          <p:cNvPr id="18" name="Text 15"/>
          <p:cNvSpPr/>
          <p:nvPr/>
        </p:nvSpPr>
        <p:spPr>
          <a:xfrm>
            <a:off x="713232" y="3004220"/>
            <a:ext cx="5202936" cy="685800"/>
          </a:xfrm>
          <a:prstGeom prst="rect">
            <a:avLst/>
          </a:prstGeom>
          <a:noFill/>
          <a:ln/>
        </p:spPr>
        <p:txBody>
          <a:bodyPr wrap="square" lIns="0" tIns="0" rIns="0" bIns="0" rtlCol="0" anchor="t"/>
          <a:lstStyle/>
          <a:p>
            <a:pPr indent="0" marL="0">
              <a:lnSpc>
                <a:spcPts val="1450"/>
              </a:lnSpc>
              <a:buNone/>
            </a:pPr>
            <a:r>
              <a:rPr lang="en-US" sz="1080" dirty="0">
                <a:solidFill>
                  <a:srgbClr val="27364B"/>
                </a:solidFill>
                <a:latin typeface="Calibri" pitchFamily="34" charset="0"/>
                <a:ea typeface="Calibri" pitchFamily="34" charset="-122"/>
                <a:cs typeface="Calibri" pitchFamily="34" charset="-120"/>
              </a:rPr>
              <a:t>A slow or failing hop shows up on a dashboard within minutes, instead of being discovered from a user complaint days later.</a:t>
            </a:r>
            <a:endParaRPr lang="en-US" sz="1080" dirty="0"/>
          </a:p>
        </p:txBody>
      </p:sp>
      <p:sp>
        <p:nvSpPr>
          <p:cNvPr id="19" name="Shape 16"/>
          <p:cNvSpPr/>
          <p:nvPr/>
        </p:nvSpPr>
        <p:spPr>
          <a:xfrm>
            <a:off x="548640" y="3950208"/>
            <a:ext cx="5532120" cy="777240"/>
          </a:xfrm>
          <a:prstGeom prst="roundRect">
            <a:avLst>
              <a:gd name="adj" fmla="val 5882"/>
            </a:avLst>
          </a:prstGeom>
          <a:solidFill>
            <a:srgbClr val="FCF3DF"/>
          </a:solidFill>
          <a:ln w="12700">
            <a:solidFill>
              <a:srgbClr val="B7791F"/>
            </a:solidFill>
            <a:prstDash val="solid"/>
          </a:ln>
        </p:spPr>
      </p:sp>
      <p:sp>
        <p:nvSpPr>
          <p:cNvPr id="20" name="Text 17"/>
          <p:cNvSpPr/>
          <p:nvPr/>
        </p:nvSpPr>
        <p:spPr>
          <a:xfrm>
            <a:off x="713232" y="4032504"/>
            <a:ext cx="5202936" cy="201168"/>
          </a:xfrm>
          <a:prstGeom prst="rect">
            <a:avLst/>
          </a:prstGeom>
          <a:noFill/>
          <a:ln/>
        </p:spPr>
        <p:txBody>
          <a:bodyPr wrap="square" lIns="0" tIns="0" rIns="0" bIns="0" rtlCol="0" anchor="ctr"/>
          <a:lstStyle/>
          <a:p>
            <a:pPr indent="0" marL="0">
              <a:buNone/>
            </a:pPr>
            <a:r>
              <a:rPr lang="en-US" sz="950" b="1" spc="100" kern="0" dirty="0">
                <a:solidFill>
                  <a:srgbClr val="B7791F"/>
                </a:solidFill>
                <a:latin typeface="Arial" pitchFamily="34" charset="0"/>
                <a:ea typeface="Arial" pitchFamily="34" charset="-122"/>
                <a:cs typeface="Arial" pitchFamily="34" charset="-120"/>
              </a:rPr>
              <a:t>REFINEMENT</a:t>
            </a:r>
            <a:endParaRPr lang="en-US" sz="950" dirty="0"/>
          </a:p>
        </p:txBody>
      </p:sp>
      <p:sp>
        <p:nvSpPr>
          <p:cNvPr id="21" name="Text 18"/>
          <p:cNvSpPr/>
          <p:nvPr/>
        </p:nvSpPr>
        <p:spPr>
          <a:xfrm>
            <a:off x="713232" y="4242816"/>
            <a:ext cx="5202936" cy="411480"/>
          </a:xfrm>
          <a:prstGeom prst="rect">
            <a:avLst/>
          </a:prstGeom>
          <a:noFill/>
          <a:ln/>
        </p:spPr>
        <p:txBody>
          <a:bodyPr wrap="square" lIns="0" tIns="0" rIns="0" bIns="0" rtlCol="0" anchor="t"/>
          <a:lstStyle/>
          <a:p>
            <a:pPr indent="0" marL="0">
              <a:lnSpc>
                <a:spcPts val="1450"/>
              </a:lnSpc>
              <a:buNone/>
            </a:pPr>
            <a:r>
              <a:rPr lang="en-US" sz="1080" dirty="0">
                <a:solidFill>
                  <a:srgbClr val="27364B"/>
                </a:solidFill>
                <a:latin typeface="Calibri" pitchFamily="34" charset="0"/>
                <a:ea typeface="Calibri" pitchFamily="34" charset="-122"/>
                <a:cs typeface="Calibri" pitchFamily="34" charset="-120"/>
              </a:rPr>
              <a:t>No Splunk, and coverage skews toward frontend metrics rather than backend RED metrics.</a:t>
            </a:r>
            <a:endParaRPr lang="en-US" sz="1080" dirty="0"/>
          </a:p>
        </p:txBody>
      </p:sp>
      <p:sp>
        <p:nvSpPr>
          <p:cNvPr id="22" name="Text 19"/>
          <p:cNvSpPr/>
          <p:nvPr/>
        </p:nvSpPr>
        <p:spPr>
          <a:xfrm>
            <a:off x="548640" y="6263640"/>
            <a:ext cx="5486400" cy="219456"/>
          </a:xfrm>
          <a:prstGeom prst="rect">
            <a:avLst/>
          </a:prstGeom>
          <a:noFill/>
          <a:ln/>
        </p:spPr>
        <p:txBody>
          <a:bodyPr wrap="square" lIns="0" tIns="0" rIns="0" bIns="0"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SOURCE  ·  Performance - Analysis (pg. 719633849)</a:t>
            </a:r>
            <a:endParaRPr lang="en-US" sz="900" dirty="0"/>
          </a:p>
        </p:txBody>
      </p:sp>
      <p:sp>
        <p:nvSpPr>
          <p:cNvPr id="23" name="Shape 20"/>
          <p:cNvSpPr/>
          <p:nvPr/>
        </p:nvSpPr>
        <p:spPr>
          <a:xfrm>
            <a:off x="6400800" y="1481328"/>
            <a:ext cx="5239512" cy="4828032"/>
          </a:xfrm>
          <a:prstGeom prst="roundRect">
            <a:avLst>
              <a:gd name="adj" fmla="val 1136"/>
            </a:avLst>
          </a:prstGeom>
          <a:solidFill>
            <a:srgbClr val="F5F9FE"/>
          </a:solidFill>
          <a:ln w="12700">
            <a:solidFill>
              <a:srgbClr val="D9E2EC"/>
            </a:solidFill>
            <a:prstDash val="solid"/>
          </a:ln>
        </p:spPr>
      </p:sp>
      <p:sp>
        <p:nvSpPr>
          <p:cNvPr id="24" name="Text 21"/>
          <p:cNvSpPr/>
          <p:nvPr/>
        </p:nvSpPr>
        <p:spPr>
          <a:xfrm>
            <a:off x="6583680" y="1627632"/>
            <a:ext cx="4873752" cy="219456"/>
          </a:xfrm>
          <a:prstGeom prst="rect">
            <a:avLst/>
          </a:prstGeom>
          <a:noFill/>
          <a:ln/>
        </p:spPr>
        <p:txBody>
          <a:bodyPr wrap="square" lIns="0" tIns="0" rIns="0" bIns="0" rtlCol="0" anchor="ctr"/>
          <a:lstStyle/>
          <a:p>
            <a:pPr indent="0" marL="0">
              <a:buNone/>
            </a:pPr>
            <a:r>
              <a:rPr lang="en-US" sz="950" b="1" spc="140" kern="0" dirty="0">
                <a:solidFill>
                  <a:srgbClr val="1B4F8C"/>
                </a:solidFill>
                <a:latin typeface="Arial" pitchFamily="34" charset="0"/>
                <a:ea typeface="Arial" pitchFamily="34" charset="-122"/>
                <a:cs typeface="Arial" pitchFamily="34" charset="-120"/>
              </a:rPr>
              <a:t>HOW IT WORKS</a:t>
            </a:r>
            <a:endParaRPr lang="en-US" sz="950" dirty="0"/>
          </a:p>
        </p:txBody>
      </p:sp>
      <p:sp>
        <p:nvSpPr>
          <p:cNvPr id="25" name="Shape 22"/>
          <p:cNvSpPr/>
          <p:nvPr/>
        </p:nvSpPr>
        <p:spPr>
          <a:xfrm>
            <a:off x="6583680" y="1920240"/>
            <a:ext cx="4873752" cy="0"/>
          </a:xfrm>
          <a:prstGeom prst="line">
            <a:avLst/>
          </a:prstGeom>
          <a:noFill/>
          <a:ln w="12700">
            <a:solidFill>
              <a:srgbClr val="D9E2EC"/>
            </a:solidFill>
            <a:prstDash val="solid"/>
          </a:ln>
        </p:spPr>
      </p:sp>
      <p:sp>
        <p:nvSpPr>
          <p:cNvPr id="26" name="Shape 23"/>
          <p:cNvSpPr/>
          <p:nvPr/>
        </p:nvSpPr>
        <p:spPr>
          <a:xfrm>
            <a:off x="7374636" y="1874520"/>
            <a:ext cx="3291840" cy="502920"/>
          </a:xfrm>
          <a:prstGeom prst="roundRect">
            <a:avLst>
              <a:gd name="adj" fmla="val 10909"/>
            </a:avLst>
          </a:prstGeom>
          <a:solidFill>
            <a:srgbClr val="EAF2FC"/>
          </a:solidFill>
          <a:ln w="17780">
            <a:solidFill>
              <a:srgbClr val="1B4F8C"/>
            </a:solidFill>
            <a:prstDash val="solid"/>
          </a:ln>
        </p:spPr>
      </p:sp>
      <p:sp>
        <p:nvSpPr>
          <p:cNvPr id="27" name="Text 24"/>
          <p:cNvSpPr/>
          <p:nvPr/>
        </p:nvSpPr>
        <p:spPr>
          <a:xfrm>
            <a:off x="7447788" y="1874520"/>
            <a:ext cx="3145536" cy="502920"/>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User request</a:t>
            </a:r>
            <a:endParaRPr lang="en-US" sz="1050" dirty="0"/>
          </a:p>
        </p:txBody>
      </p:sp>
      <p:sp>
        <p:nvSpPr>
          <p:cNvPr id="28" name="Shape 25"/>
          <p:cNvSpPr/>
          <p:nvPr/>
        </p:nvSpPr>
        <p:spPr>
          <a:xfrm>
            <a:off x="9020556" y="2395728"/>
            <a:ext cx="0" cy="320040"/>
          </a:xfrm>
          <a:prstGeom prst="line">
            <a:avLst/>
          </a:prstGeom>
          <a:noFill/>
          <a:ln w="19050">
            <a:solidFill>
              <a:srgbClr val="1B4F8C"/>
            </a:solidFill>
            <a:prstDash val="solid"/>
            <a:tailEnd type="triangle"/>
          </a:ln>
        </p:spPr>
      </p:sp>
      <p:sp>
        <p:nvSpPr>
          <p:cNvPr id="29" name="Shape 26"/>
          <p:cNvSpPr/>
          <p:nvPr/>
        </p:nvSpPr>
        <p:spPr>
          <a:xfrm>
            <a:off x="7374636" y="2743200"/>
            <a:ext cx="3291840" cy="777240"/>
          </a:xfrm>
          <a:prstGeom prst="roundRect">
            <a:avLst>
              <a:gd name="adj" fmla="val 7059"/>
            </a:avLst>
          </a:prstGeom>
          <a:solidFill>
            <a:srgbClr val="FFFFFF"/>
          </a:solidFill>
          <a:ln w="17780">
            <a:solidFill>
              <a:srgbClr val="1B4F8C"/>
            </a:solidFill>
            <a:prstDash val="solid"/>
          </a:ln>
        </p:spPr>
      </p:sp>
      <p:sp>
        <p:nvSpPr>
          <p:cNvPr id="30" name="Text 27"/>
          <p:cNvSpPr/>
          <p:nvPr/>
        </p:nvSpPr>
        <p:spPr>
          <a:xfrm>
            <a:off x="7447788" y="2798064"/>
            <a:ext cx="3145536" cy="427482"/>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Instrumented at every hop</a:t>
            </a:r>
            <a:endParaRPr lang="en-US" sz="1050" dirty="0"/>
          </a:p>
        </p:txBody>
      </p:sp>
      <p:sp>
        <p:nvSpPr>
          <p:cNvPr id="31" name="Text 28"/>
          <p:cNvSpPr/>
          <p:nvPr/>
        </p:nvSpPr>
        <p:spPr>
          <a:xfrm>
            <a:off x="7447788" y="3147365"/>
            <a:ext cx="3145536" cy="326441"/>
          </a:xfrm>
          <a:prstGeom prst="rect">
            <a:avLst/>
          </a:prstGeom>
          <a:noFill/>
          <a:ln/>
        </p:spPr>
        <p:txBody>
          <a:bodyPr wrap="square" lIns="0" tIns="0" rIns="0" bIns="0" rtlCol="0" anchor="ctr"/>
          <a:lstStyle/>
          <a:p>
            <a:pPr algn="ctr" indent="0" marL="0">
              <a:buNone/>
            </a:pPr>
            <a:r>
              <a:rPr lang="en-US" sz="830" dirty="0">
                <a:solidFill>
                  <a:srgbClr val="1B4F8C"/>
                </a:solidFill>
                <a:latin typeface="Calibri" pitchFamily="34" charset="0"/>
                <a:ea typeface="Calibri" pitchFamily="34" charset="-122"/>
                <a:cs typeface="Calibri" pitchFamily="34" charset="-120"/>
              </a:rPr>
              <a:t>Gateway → BFF → Downstream calls</a:t>
            </a:r>
            <a:endParaRPr lang="en-US" sz="830" dirty="0"/>
          </a:p>
        </p:txBody>
      </p:sp>
      <p:sp>
        <p:nvSpPr>
          <p:cNvPr id="32" name="Shape 29"/>
          <p:cNvSpPr/>
          <p:nvPr/>
        </p:nvSpPr>
        <p:spPr>
          <a:xfrm>
            <a:off x="9020556" y="3547872"/>
            <a:ext cx="0" cy="320040"/>
          </a:xfrm>
          <a:prstGeom prst="line">
            <a:avLst/>
          </a:prstGeom>
          <a:noFill/>
          <a:ln w="19050">
            <a:solidFill>
              <a:srgbClr val="1B4F8C"/>
            </a:solidFill>
            <a:prstDash val="solid"/>
            <a:tailEnd type="triangle"/>
          </a:ln>
        </p:spPr>
      </p:sp>
      <p:sp>
        <p:nvSpPr>
          <p:cNvPr id="33" name="Shape 30"/>
          <p:cNvSpPr/>
          <p:nvPr/>
        </p:nvSpPr>
        <p:spPr>
          <a:xfrm>
            <a:off x="7374636" y="3895344"/>
            <a:ext cx="3291840" cy="548640"/>
          </a:xfrm>
          <a:prstGeom prst="roundRect">
            <a:avLst>
              <a:gd name="adj" fmla="val 10000"/>
            </a:avLst>
          </a:prstGeom>
          <a:solidFill>
            <a:srgbClr val="FFFFFF"/>
          </a:solidFill>
          <a:ln w="17780">
            <a:solidFill>
              <a:srgbClr val="1B4F8C"/>
            </a:solidFill>
            <a:prstDash val="solid"/>
          </a:ln>
        </p:spPr>
      </p:sp>
      <p:sp>
        <p:nvSpPr>
          <p:cNvPr id="34" name="Text 31"/>
          <p:cNvSpPr/>
          <p:nvPr/>
        </p:nvSpPr>
        <p:spPr>
          <a:xfrm>
            <a:off x="7447788" y="3895344"/>
            <a:ext cx="3145536" cy="548640"/>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Dynatrace captures timing + errors</a:t>
            </a:r>
            <a:endParaRPr lang="en-US" sz="1050" dirty="0"/>
          </a:p>
        </p:txBody>
      </p:sp>
      <p:sp>
        <p:nvSpPr>
          <p:cNvPr id="35" name="Shape 32"/>
          <p:cNvSpPr/>
          <p:nvPr/>
        </p:nvSpPr>
        <p:spPr>
          <a:xfrm>
            <a:off x="9020556" y="4471416"/>
            <a:ext cx="0" cy="320040"/>
          </a:xfrm>
          <a:prstGeom prst="line">
            <a:avLst/>
          </a:prstGeom>
          <a:noFill/>
          <a:ln w="19050">
            <a:solidFill>
              <a:srgbClr val="1E8449"/>
            </a:solidFill>
            <a:prstDash val="solid"/>
            <a:tailEnd type="triangle"/>
          </a:ln>
        </p:spPr>
      </p:sp>
      <p:sp>
        <p:nvSpPr>
          <p:cNvPr id="36" name="Shape 33"/>
          <p:cNvSpPr/>
          <p:nvPr/>
        </p:nvSpPr>
        <p:spPr>
          <a:xfrm>
            <a:off x="7374636" y="4818888"/>
            <a:ext cx="3291840" cy="594360"/>
          </a:xfrm>
          <a:prstGeom prst="roundRect">
            <a:avLst>
              <a:gd name="adj" fmla="val 9231"/>
            </a:avLst>
          </a:prstGeom>
          <a:solidFill>
            <a:srgbClr val="E7F5EC"/>
          </a:solidFill>
          <a:ln w="17780">
            <a:solidFill>
              <a:srgbClr val="1E8449"/>
            </a:solidFill>
            <a:prstDash val="solid"/>
          </a:ln>
        </p:spPr>
      </p:sp>
      <p:sp>
        <p:nvSpPr>
          <p:cNvPr id="37" name="Text 34"/>
          <p:cNvSpPr/>
          <p:nvPr/>
        </p:nvSpPr>
        <p:spPr>
          <a:xfrm>
            <a:off x="7447788" y="4818888"/>
            <a:ext cx="3145536" cy="594360"/>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Visible in Experience Vitals dashboard</a:t>
            </a:r>
            <a:endParaRPr lang="en-US" sz="1050" dirty="0"/>
          </a:p>
        </p:txBody>
      </p:sp>
      <p:sp>
        <p:nvSpPr>
          <p:cNvPr id="38" name="Text 35"/>
          <p:cNvSpPr/>
          <p:nvPr/>
        </p:nvSpPr>
        <p:spPr>
          <a:xfrm>
            <a:off x="6675120" y="5623560"/>
            <a:ext cx="4690872" cy="502920"/>
          </a:xfrm>
          <a:prstGeom prst="rect">
            <a:avLst/>
          </a:prstGeom>
          <a:noFill/>
          <a:ln/>
        </p:spPr>
        <p:txBody>
          <a:bodyPr wrap="square" lIns="0" tIns="0" rIns="0" bIns="0" rtlCol="0" anchor="ctr"/>
          <a:lstStyle/>
          <a:p>
            <a:pPr indent="0" marL="0">
              <a:buNone/>
            </a:pPr>
            <a:r>
              <a:rPr lang="en-US" sz="900" i="1" dirty="0">
                <a:solidFill>
                  <a:srgbClr val="5B6472"/>
                </a:solidFill>
                <a:latin typeface="Calibri" pitchFamily="34" charset="0"/>
                <a:ea typeface="Calibri" pitchFamily="34" charset="-122"/>
                <a:cs typeface="Calibri" pitchFamily="34" charset="-120"/>
              </a:rPr>
              <a:t>Frontend coverage is strong today; backend RED metrics on the aggregation flow are the next step.</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1B4F8C"/>
          </a:solidFill>
          <a:ln/>
        </p:spPr>
      </p:sp>
      <p:sp>
        <p:nvSpPr>
          <p:cNvPr id="3" name="Text 1"/>
          <p:cNvSpPr/>
          <p:nvPr/>
        </p:nvSpPr>
        <p:spPr>
          <a:xfrm>
            <a:off x="11155680" y="6519672"/>
            <a:ext cx="822960" cy="256032"/>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07 / 13</a:t>
            </a:r>
            <a:endParaRPr lang="en-US" sz="950" dirty="0"/>
          </a:p>
        </p:txBody>
      </p:sp>
      <p:sp>
        <p:nvSpPr>
          <p:cNvPr id="4" name="Text 2"/>
          <p:cNvSpPr/>
          <p:nvPr/>
        </p:nvSpPr>
        <p:spPr>
          <a:xfrm>
            <a:off x="548640" y="6519672"/>
            <a:ext cx="4572000" cy="256032"/>
          </a:xfrm>
          <a:prstGeom prst="rect">
            <a:avLst/>
          </a:prstGeom>
          <a:noFill/>
          <a:ln/>
        </p:spPr>
        <p:txBody>
          <a:bodyPr wrap="square" lIns="0" tIns="0" rIns="0" bIns="0" rtlCol="0" anchor="ctr"/>
          <a:lstStyle/>
          <a:p>
            <a:pPr indent="0" marL="0">
              <a:buNone/>
            </a:pPr>
            <a:r>
              <a:rPr lang="en-US" sz="850" spc="100" kern="0" dirty="0">
                <a:solidFill>
                  <a:srgbClr val="94A3B8"/>
                </a:solidFill>
                <a:latin typeface="Calibri" pitchFamily="34" charset="0"/>
                <a:ea typeface="Calibri" pitchFamily="34" charset="-122"/>
                <a:cs typeface="Calibri" pitchFamily="34" charset="-120"/>
              </a:rPr>
              <a:t>ACCOUNT HOME PERFORMANCE PROGRAM</a:t>
            </a:r>
            <a:endParaRPr lang="en-US" sz="850" dirty="0"/>
          </a:p>
        </p:txBody>
      </p:sp>
      <p:sp>
        <p:nvSpPr>
          <p:cNvPr id="5" name="Text 3"/>
          <p:cNvSpPr/>
          <p:nvPr/>
        </p:nvSpPr>
        <p:spPr>
          <a:xfrm>
            <a:off x="566928" y="310896"/>
            <a:ext cx="3657600" cy="237744"/>
          </a:xfrm>
          <a:prstGeom prst="rect">
            <a:avLst/>
          </a:prstGeom>
          <a:noFill/>
          <a:ln/>
        </p:spPr>
        <p:txBody>
          <a:bodyPr wrap="square" lIns="0" tIns="0" rIns="0" bIns="0" rtlCol="0" anchor="ctr"/>
          <a:lstStyle/>
          <a:p>
            <a:pPr indent="0" marL="0">
              <a:buNone/>
            </a:pPr>
            <a:r>
              <a:rPr lang="en-US" sz="1050" b="1" spc="220" kern="0" dirty="0">
                <a:solidFill>
                  <a:srgbClr val="1E8449"/>
                </a:solidFill>
                <a:latin typeface="Arial" pitchFamily="34" charset="0"/>
                <a:ea typeface="Arial" pitchFamily="34" charset="-122"/>
                <a:cs typeface="Arial" pitchFamily="34" charset="-120"/>
              </a:rPr>
              <a:t>PATTERN 05</a:t>
            </a:r>
            <a:endParaRPr lang="en-US" sz="1050" dirty="0"/>
          </a:p>
        </p:txBody>
      </p:sp>
      <p:sp>
        <p:nvSpPr>
          <p:cNvPr id="6" name="Text 4"/>
          <p:cNvSpPr/>
          <p:nvPr/>
        </p:nvSpPr>
        <p:spPr>
          <a:xfrm>
            <a:off x="548640" y="530352"/>
            <a:ext cx="8595360" cy="502920"/>
          </a:xfrm>
          <a:prstGeom prst="rect">
            <a:avLst/>
          </a:prstGeom>
          <a:noFill/>
          <a:ln/>
        </p:spPr>
        <p:txBody>
          <a:bodyPr wrap="square" lIns="0" tIns="0" rIns="0" bIns="0" rtlCol="0" anchor="ctr"/>
          <a:lstStyle/>
          <a:p>
            <a:pPr indent="0" marL="0">
              <a:buNone/>
            </a:pPr>
            <a:r>
              <a:rPr lang="en-US" sz="2400" b="1" dirty="0">
                <a:solidFill>
                  <a:srgbClr val="0B2545"/>
                </a:solidFill>
                <a:latin typeface="Arial" pitchFamily="34" charset="0"/>
                <a:ea typeface="Arial" pitchFamily="34" charset="-122"/>
                <a:cs typeface="Arial" pitchFamily="34" charset="-120"/>
              </a:rPr>
              <a:t>Async / Event-Driven Processing</a:t>
            </a:r>
            <a:endParaRPr lang="en-US" sz="2400" dirty="0"/>
          </a:p>
        </p:txBody>
      </p:sp>
      <p:sp>
        <p:nvSpPr>
          <p:cNvPr id="7" name="Shape 5"/>
          <p:cNvSpPr/>
          <p:nvPr/>
        </p:nvSpPr>
        <p:spPr>
          <a:xfrm>
            <a:off x="10058400" y="603504"/>
            <a:ext cx="1371600" cy="292608"/>
          </a:xfrm>
          <a:prstGeom prst="roundRect">
            <a:avLst>
              <a:gd name="adj" fmla="val 50000"/>
            </a:avLst>
          </a:prstGeom>
          <a:solidFill>
            <a:srgbClr val="E7F5EC"/>
          </a:solidFill>
          <a:ln w="13970">
            <a:solidFill>
              <a:srgbClr val="1E8449"/>
            </a:solidFill>
            <a:prstDash val="solid"/>
          </a:ln>
        </p:spPr>
      </p:sp>
      <p:sp>
        <p:nvSpPr>
          <p:cNvPr id="8" name="Text 6"/>
          <p:cNvSpPr/>
          <p:nvPr/>
        </p:nvSpPr>
        <p:spPr>
          <a:xfrm>
            <a:off x="10058400" y="603504"/>
            <a:ext cx="1371600" cy="292608"/>
          </a:xfrm>
          <a:prstGeom prst="rect">
            <a:avLst/>
          </a:prstGeom>
          <a:noFill/>
          <a:ln/>
        </p:spPr>
        <p:txBody>
          <a:bodyPr wrap="square" lIns="0" tIns="0" rIns="0" bIns="0" rtlCol="0" anchor="ctr"/>
          <a:lstStyle/>
          <a:p>
            <a:pPr algn="ctr" indent="0" marL="0">
              <a:buNone/>
            </a:pPr>
            <a:r>
              <a:rPr lang="en-US" sz="1100" b="1" dirty="0">
                <a:solidFill>
                  <a:srgbClr val="1E8449"/>
                </a:solidFill>
                <a:latin typeface="Arial" pitchFamily="34" charset="0"/>
                <a:ea typeface="Arial" pitchFamily="34" charset="-122"/>
                <a:cs typeface="Arial" pitchFamily="34" charset="-120"/>
              </a:rPr>
              <a:t>APPLIED</a:t>
            </a:r>
            <a:endParaRPr lang="en-US" sz="1100" dirty="0"/>
          </a:p>
        </p:txBody>
      </p:sp>
      <p:sp>
        <p:nvSpPr>
          <p:cNvPr id="9" name="Shape 7"/>
          <p:cNvSpPr/>
          <p:nvPr/>
        </p:nvSpPr>
        <p:spPr>
          <a:xfrm>
            <a:off x="566928" y="1298448"/>
            <a:ext cx="11064240" cy="0"/>
          </a:xfrm>
          <a:prstGeom prst="line">
            <a:avLst/>
          </a:prstGeom>
          <a:noFill/>
          <a:ln w="12700">
            <a:solidFill>
              <a:srgbClr val="D9E2EC"/>
            </a:solidFill>
            <a:prstDash val="solid"/>
          </a:ln>
        </p:spPr>
      </p:sp>
      <p:sp>
        <p:nvSpPr>
          <p:cNvPr id="10" name="Shape 8"/>
          <p:cNvSpPr/>
          <p:nvPr/>
        </p:nvSpPr>
        <p:spPr>
          <a:xfrm>
            <a:off x="548640" y="1444752"/>
            <a:ext cx="457200" cy="457200"/>
          </a:xfrm>
          <a:prstGeom prst="ellipse">
            <a:avLst/>
          </a:prstGeom>
          <a:solidFill>
            <a:srgbClr val="E7F5EC"/>
          </a:solidFill>
          <a:ln w="12700">
            <a:solidFill>
              <a:srgbClr val="1E8449"/>
            </a:solidFill>
            <a:prstDash val="solid"/>
          </a:ln>
        </p:spPr>
      </p:sp>
      <p:pic>
        <p:nvPicPr>
          <p:cNvPr id="11" name="Image 0" descr="preencoded.png">    </p:cNvPr>
          <p:cNvPicPr>
            <a:picLocks noChangeAspect="1"/>
          </p:cNvPicPr>
          <p:nvPr/>
        </p:nvPicPr>
        <p:blipFill>
          <a:blip r:embed="rId1"/>
          <a:stretch>
            <a:fillRect/>
          </a:stretch>
        </p:blipFill>
        <p:spPr>
          <a:xfrm>
            <a:off x="672084" y="1568196"/>
            <a:ext cx="210312" cy="210312"/>
          </a:xfrm>
          <a:prstGeom prst="rect">
            <a:avLst/>
          </a:prstGeom>
        </p:spPr>
      </p:pic>
      <p:sp>
        <p:nvSpPr>
          <p:cNvPr id="12" name="Shape 9"/>
          <p:cNvSpPr/>
          <p:nvPr/>
        </p:nvSpPr>
        <p:spPr>
          <a:xfrm>
            <a:off x="1170432" y="1499616"/>
            <a:ext cx="137160" cy="137160"/>
          </a:xfrm>
          <a:prstGeom prst="roundRect">
            <a:avLst>
              <a:gd name="adj" fmla="val 20000"/>
            </a:avLst>
          </a:prstGeom>
          <a:solidFill>
            <a:srgbClr val="1E8449"/>
          </a:solidFill>
          <a:ln/>
        </p:spPr>
      </p:sp>
      <p:sp>
        <p:nvSpPr>
          <p:cNvPr id="13" name="Text 10"/>
          <p:cNvSpPr/>
          <p:nvPr/>
        </p:nvSpPr>
        <p:spPr>
          <a:xfrm>
            <a:off x="1426464" y="1426464"/>
            <a:ext cx="4636008" cy="502920"/>
          </a:xfrm>
          <a:prstGeom prst="rect">
            <a:avLst/>
          </a:prstGeom>
          <a:noFill/>
          <a:ln/>
        </p:spPr>
        <p:txBody>
          <a:bodyPr wrap="square" lIns="0" tIns="0" rIns="0" bIns="0" rtlCol="0" anchor="t"/>
          <a:lstStyle/>
          <a:p>
            <a:pPr indent="0" marL="0">
              <a:lnSpc>
                <a:spcPts val="1550"/>
              </a:lnSpc>
              <a:buNone/>
            </a:pPr>
            <a:r>
              <a:rPr lang="en-US" sz="1150" dirty="0">
                <a:solidFill>
                  <a:srgbClr val="27364B"/>
                </a:solidFill>
                <a:latin typeface="Calibri" pitchFamily="34" charset="0"/>
                <a:ea typeface="Calibri" pitchFamily="34" charset="-122"/>
                <a:cs typeface="Calibri" pitchFamily="34" charset="-120"/>
              </a:rPr>
              <a:t>asyncPreLoad fires fire-and-forget preload calls off the critical path.</a:t>
            </a:r>
            <a:endParaRPr lang="en-US" sz="1150" dirty="0"/>
          </a:p>
        </p:txBody>
      </p:sp>
      <p:sp>
        <p:nvSpPr>
          <p:cNvPr id="14" name="Shape 11"/>
          <p:cNvSpPr/>
          <p:nvPr/>
        </p:nvSpPr>
        <p:spPr>
          <a:xfrm>
            <a:off x="1170432" y="1875767"/>
            <a:ext cx="137160" cy="137160"/>
          </a:xfrm>
          <a:prstGeom prst="roundRect">
            <a:avLst>
              <a:gd name="adj" fmla="val 20000"/>
            </a:avLst>
          </a:prstGeom>
          <a:solidFill>
            <a:srgbClr val="1E8449"/>
          </a:solidFill>
          <a:ln/>
        </p:spPr>
      </p:sp>
      <p:sp>
        <p:nvSpPr>
          <p:cNvPr id="15" name="Text 12"/>
          <p:cNvSpPr/>
          <p:nvPr/>
        </p:nvSpPr>
        <p:spPr>
          <a:xfrm>
            <a:off x="1426464" y="1802615"/>
            <a:ext cx="4636008" cy="502920"/>
          </a:xfrm>
          <a:prstGeom prst="rect">
            <a:avLst/>
          </a:prstGeom>
          <a:noFill/>
          <a:ln/>
        </p:spPr>
        <p:txBody>
          <a:bodyPr wrap="square" lIns="0" tIns="0" rIns="0" bIns="0" rtlCol="0" anchor="t"/>
          <a:lstStyle/>
          <a:p>
            <a:pPr indent="0" marL="0">
              <a:lnSpc>
                <a:spcPts val="1550"/>
              </a:lnSpc>
              <a:buNone/>
            </a:pPr>
            <a:r>
              <a:rPr lang="en-US" sz="1150" dirty="0">
                <a:solidFill>
                  <a:srgbClr val="27364B"/>
                </a:solidFill>
                <a:latin typeface="Calibri" pitchFamily="34" charset="0"/>
                <a:ea typeface="Calibri" pitchFamily="34" charset="-122"/>
                <a:cs typeface="Calibri" pitchFamily="34" charset="-120"/>
              </a:rPr>
              <a:t>CoBrowse deferral is live in production; GTM, Evergage, and Adobe Target deferral is completing the same rollout.</a:t>
            </a:r>
            <a:endParaRPr lang="en-US" sz="1150" dirty="0"/>
          </a:p>
        </p:txBody>
      </p:sp>
      <p:sp>
        <p:nvSpPr>
          <p:cNvPr id="16" name="Shape 13"/>
          <p:cNvSpPr/>
          <p:nvPr/>
        </p:nvSpPr>
        <p:spPr>
          <a:xfrm>
            <a:off x="548640" y="2743200"/>
            <a:ext cx="5532120" cy="1051560"/>
          </a:xfrm>
          <a:prstGeom prst="roundRect">
            <a:avLst>
              <a:gd name="adj" fmla="val 4348"/>
            </a:avLst>
          </a:prstGeom>
          <a:solidFill>
            <a:srgbClr val="E7F5EC"/>
          </a:solidFill>
          <a:ln w="12700">
            <a:solidFill>
              <a:srgbClr val="1E8449"/>
            </a:solidFill>
            <a:prstDash val="solid"/>
          </a:ln>
        </p:spPr>
      </p:sp>
      <p:sp>
        <p:nvSpPr>
          <p:cNvPr id="17" name="Text 14"/>
          <p:cNvSpPr/>
          <p:nvPr/>
        </p:nvSpPr>
        <p:spPr>
          <a:xfrm>
            <a:off x="713232" y="2825496"/>
            <a:ext cx="5202936" cy="201168"/>
          </a:xfrm>
          <a:prstGeom prst="rect">
            <a:avLst/>
          </a:prstGeom>
          <a:noFill/>
          <a:ln/>
        </p:spPr>
        <p:txBody>
          <a:bodyPr wrap="square" lIns="0" tIns="0" rIns="0" bIns="0" rtlCol="0" anchor="ctr"/>
          <a:lstStyle/>
          <a:p>
            <a:pPr indent="0" marL="0">
              <a:buNone/>
            </a:pPr>
            <a:r>
              <a:rPr lang="en-US" sz="950" b="1" spc="100" kern="0" dirty="0">
                <a:solidFill>
                  <a:srgbClr val="1E8449"/>
                </a:solidFill>
                <a:latin typeface="Arial" pitchFamily="34" charset="0"/>
                <a:ea typeface="Arial" pitchFamily="34" charset="-122"/>
                <a:cs typeface="Arial" pitchFamily="34" charset="-120"/>
              </a:rPr>
              <a:t>ADVANTAGE</a:t>
            </a:r>
            <a:endParaRPr lang="en-US" sz="950" dirty="0"/>
          </a:p>
        </p:txBody>
      </p:sp>
      <p:sp>
        <p:nvSpPr>
          <p:cNvPr id="18" name="Text 15"/>
          <p:cNvSpPr/>
          <p:nvPr/>
        </p:nvSpPr>
        <p:spPr>
          <a:xfrm>
            <a:off x="713232" y="3035808"/>
            <a:ext cx="5202936" cy="685800"/>
          </a:xfrm>
          <a:prstGeom prst="rect">
            <a:avLst/>
          </a:prstGeom>
          <a:noFill/>
          <a:ln/>
        </p:spPr>
        <p:txBody>
          <a:bodyPr wrap="square" lIns="0" tIns="0" rIns="0" bIns="0" rtlCol="0" anchor="t"/>
          <a:lstStyle/>
          <a:p>
            <a:pPr indent="0" marL="0">
              <a:lnSpc>
                <a:spcPts val="1450"/>
              </a:lnSpc>
              <a:buNone/>
            </a:pPr>
            <a:r>
              <a:rPr lang="en-US" sz="1080" dirty="0">
                <a:solidFill>
                  <a:srgbClr val="27364B"/>
                </a:solidFill>
                <a:latin typeface="Calibri" pitchFamily="34" charset="0"/>
                <a:ea typeface="Calibri" pitchFamily="34" charset="-122"/>
                <a:cs typeface="Calibri" pitchFamily="34" charset="-120"/>
              </a:rPr>
              <a:t>The user isn't kept waiting for work that has no effect on what they see first — the page responds sooner.</a:t>
            </a:r>
            <a:endParaRPr lang="en-US" sz="1080" dirty="0"/>
          </a:p>
        </p:txBody>
      </p:sp>
      <p:sp>
        <p:nvSpPr>
          <p:cNvPr id="19" name="Shape 16"/>
          <p:cNvSpPr/>
          <p:nvPr/>
        </p:nvSpPr>
        <p:spPr>
          <a:xfrm>
            <a:off x="548640" y="4087368"/>
            <a:ext cx="5532120" cy="777240"/>
          </a:xfrm>
          <a:prstGeom prst="roundRect">
            <a:avLst>
              <a:gd name="adj" fmla="val 5882"/>
            </a:avLst>
          </a:prstGeom>
          <a:solidFill>
            <a:srgbClr val="FCF3DF"/>
          </a:solidFill>
          <a:ln w="12700">
            <a:solidFill>
              <a:srgbClr val="B7791F"/>
            </a:solidFill>
            <a:prstDash val="solid"/>
          </a:ln>
        </p:spPr>
      </p:sp>
      <p:sp>
        <p:nvSpPr>
          <p:cNvPr id="20" name="Text 17"/>
          <p:cNvSpPr/>
          <p:nvPr/>
        </p:nvSpPr>
        <p:spPr>
          <a:xfrm>
            <a:off x="713232" y="4169664"/>
            <a:ext cx="5202936" cy="201168"/>
          </a:xfrm>
          <a:prstGeom prst="rect">
            <a:avLst/>
          </a:prstGeom>
          <a:noFill/>
          <a:ln/>
        </p:spPr>
        <p:txBody>
          <a:bodyPr wrap="square" lIns="0" tIns="0" rIns="0" bIns="0" rtlCol="0" anchor="ctr"/>
          <a:lstStyle/>
          <a:p>
            <a:pPr indent="0" marL="0">
              <a:buNone/>
            </a:pPr>
            <a:r>
              <a:rPr lang="en-US" sz="950" b="1" spc="100" kern="0" dirty="0">
                <a:solidFill>
                  <a:srgbClr val="B7791F"/>
                </a:solidFill>
                <a:latin typeface="Arial" pitchFamily="34" charset="0"/>
                <a:ea typeface="Arial" pitchFamily="34" charset="-122"/>
                <a:cs typeface="Arial" pitchFamily="34" charset="-120"/>
              </a:rPr>
              <a:t>REFINEMENT</a:t>
            </a:r>
            <a:endParaRPr lang="en-US" sz="950" dirty="0"/>
          </a:p>
        </p:txBody>
      </p:sp>
      <p:sp>
        <p:nvSpPr>
          <p:cNvPr id="21" name="Text 18"/>
          <p:cNvSpPr/>
          <p:nvPr/>
        </p:nvSpPr>
        <p:spPr>
          <a:xfrm>
            <a:off x="713232" y="4379976"/>
            <a:ext cx="5202936" cy="411480"/>
          </a:xfrm>
          <a:prstGeom prst="rect">
            <a:avLst/>
          </a:prstGeom>
          <a:noFill/>
          <a:ln/>
        </p:spPr>
        <p:txBody>
          <a:bodyPr wrap="square" lIns="0" tIns="0" rIns="0" bIns="0" rtlCol="0" anchor="t"/>
          <a:lstStyle/>
          <a:p>
            <a:pPr indent="0" marL="0">
              <a:lnSpc>
                <a:spcPts val="1450"/>
              </a:lnSpc>
              <a:buNone/>
            </a:pPr>
            <a:r>
              <a:rPr lang="en-US" sz="1080" dirty="0">
                <a:solidFill>
                  <a:srgbClr val="27364B"/>
                </a:solidFill>
                <a:latin typeface="Calibri" pitchFamily="34" charset="0"/>
                <a:ea typeface="Calibri" pitchFamily="34" charset="-122"/>
                <a:cs typeface="Calibri" pitchFamily="34" charset="-120"/>
              </a:rPr>
              <a:t>No documented async handling yet for analytics or audit work.</a:t>
            </a:r>
            <a:endParaRPr lang="en-US" sz="1080" dirty="0"/>
          </a:p>
        </p:txBody>
      </p:sp>
      <p:sp>
        <p:nvSpPr>
          <p:cNvPr id="22" name="Text 19"/>
          <p:cNvSpPr/>
          <p:nvPr/>
        </p:nvSpPr>
        <p:spPr>
          <a:xfrm>
            <a:off x="548640" y="6263640"/>
            <a:ext cx="5486400" cy="219456"/>
          </a:xfrm>
          <a:prstGeom prst="rect">
            <a:avLst/>
          </a:prstGeom>
          <a:noFill/>
          <a:ln/>
        </p:spPr>
        <p:txBody>
          <a:bodyPr wrap="square" lIns="0" tIns="0" rIns="0" bIns="0"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SOURCE  ·  AD: Account Home + 2026 Improvements (pg. 709830164)</a:t>
            </a:r>
            <a:endParaRPr lang="en-US" sz="900" dirty="0"/>
          </a:p>
        </p:txBody>
      </p:sp>
      <p:sp>
        <p:nvSpPr>
          <p:cNvPr id="23" name="Shape 20"/>
          <p:cNvSpPr/>
          <p:nvPr/>
        </p:nvSpPr>
        <p:spPr>
          <a:xfrm>
            <a:off x="6400800" y="1481328"/>
            <a:ext cx="5239512" cy="4828032"/>
          </a:xfrm>
          <a:prstGeom prst="roundRect">
            <a:avLst>
              <a:gd name="adj" fmla="val 1136"/>
            </a:avLst>
          </a:prstGeom>
          <a:solidFill>
            <a:srgbClr val="F5F9FE"/>
          </a:solidFill>
          <a:ln w="12700">
            <a:solidFill>
              <a:srgbClr val="D9E2EC"/>
            </a:solidFill>
            <a:prstDash val="solid"/>
          </a:ln>
        </p:spPr>
      </p:sp>
      <p:sp>
        <p:nvSpPr>
          <p:cNvPr id="24" name="Text 21"/>
          <p:cNvSpPr/>
          <p:nvPr/>
        </p:nvSpPr>
        <p:spPr>
          <a:xfrm>
            <a:off x="6583680" y="1627632"/>
            <a:ext cx="4873752" cy="219456"/>
          </a:xfrm>
          <a:prstGeom prst="rect">
            <a:avLst/>
          </a:prstGeom>
          <a:noFill/>
          <a:ln/>
        </p:spPr>
        <p:txBody>
          <a:bodyPr wrap="square" lIns="0" tIns="0" rIns="0" bIns="0" rtlCol="0" anchor="ctr"/>
          <a:lstStyle/>
          <a:p>
            <a:pPr indent="0" marL="0">
              <a:buNone/>
            </a:pPr>
            <a:r>
              <a:rPr lang="en-US" sz="950" b="1" spc="140" kern="0" dirty="0">
                <a:solidFill>
                  <a:srgbClr val="1B4F8C"/>
                </a:solidFill>
                <a:latin typeface="Arial" pitchFamily="34" charset="0"/>
                <a:ea typeface="Arial" pitchFamily="34" charset="-122"/>
                <a:cs typeface="Arial" pitchFamily="34" charset="-120"/>
              </a:rPr>
              <a:t>HOW IT WORKS</a:t>
            </a:r>
            <a:endParaRPr lang="en-US" sz="950" dirty="0"/>
          </a:p>
        </p:txBody>
      </p:sp>
      <p:sp>
        <p:nvSpPr>
          <p:cNvPr id="25" name="Shape 22"/>
          <p:cNvSpPr/>
          <p:nvPr/>
        </p:nvSpPr>
        <p:spPr>
          <a:xfrm>
            <a:off x="6583680" y="1920240"/>
            <a:ext cx="4873752" cy="0"/>
          </a:xfrm>
          <a:prstGeom prst="line">
            <a:avLst/>
          </a:prstGeom>
          <a:noFill/>
          <a:ln w="12700">
            <a:solidFill>
              <a:srgbClr val="D9E2EC"/>
            </a:solidFill>
            <a:prstDash val="solid"/>
          </a:ln>
        </p:spPr>
      </p:sp>
      <p:sp>
        <p:nvSpPr>
          <p:cNvPr id="26" name="Shape 23"/>
          <p:cNvSpPr/>
          <p:nvPr/>
        </p:nvSpPr>
        <p:spPr>
          <a:xfrm>
            <a:off x="7374636" y="1874520"/>
            <a:ext cx="3291840" cy="502920"/>
          </a:xfrm>
          <a:prstGeom prst="roundRect">
            <a:avLst>
              <a:gd name="adj" fmla="val 10909"/>
            </a:avLst>
          </a:prstGeom>
          <a:solidFill>
            <a:srgbClr val="EAF2FC"/>
          </a:solidFill>
          <a:ln w="17780">
            <a:solidFill>
              <a:srgbClr val="1B4F8C"/>
            </a:solidFill>
            <a:prstDash val="solid"/>
          </a:ln>
        </p:spPr>
      </p:sp>
      <p:sp>
        <p:nvSpPr>
          <p:cNvPr id="27" name="Text 24"/>
          <p:cNvSpPr/>
          <p:nvPr/>
        </p:nvSpPr>
        <p:spPr>
          <a:xfrm>
            <a:off x="7447788" y="1874520"/>
            <a:ext cx="3145536" cy="502920"/>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User request</a:t>
            </a:r>
            <a:endParaRPr lang="en-US" sz="1050" dirty="0"/>
          </a:p>
        </p:txBody>
      </p:sp>
      <p:sp>
        <p:nvSpPr>
          <p:cNvPr id="28" name="Shape 25"/>
          <p:cNvSpPr/>
          <p:nvPr/>
        </p:nvSpPr>
        <p:spPr>
          <a:xfrm>
            <a:off x="9020556" y="2395728"/>
            <a:ext cx="0" cy="320040"/>
          </a:xfrm>
          <a:prstGeom prst="line">
            <a:avLst/>
          </a:prstGeom>
          <a:noFill/>
          <a:ln w="19050">
            <a:solidFill>
              <a:srgbClr val="1E8449"/>
            </a:solidFill>
            <a:prstDash val="solid"/>
            <a:tailEnd type="triangle"/>
          </a:ln>
        </p:spPr>
      </p:sp>
      <p:sp>
        <p:nvSpPr>
          <p:cNvPr id="29" name="Shape 26"/>
          <p:cNvSpPr/>
          <p:nvPr/>
        </p:nvSpPr>
        <p:spPr>
          <a:xfrm>
            <a:off x="7374636" y="2743200"/>
            <a:ext cx="3291840" cy="548640"/>
          </a:xfrm>
          <a:prstGeom prst="roundRect">
            <a:avLst>
              <a:gd name="adj" fmla="val 10000"/>
            </a:avLst>
          </a:prstGeom>
          <a:solidFill>
            <a:srgbClr val="E7F5EC"/>
          </a:solidFill>
          <a:ln w="17780">
            <a:solidFill>
              <a:srgbClr val="1E8449"/>
            </a:solidFill>
            <a:prstDash val="solid"/>
          </a:ln>
        </p:spPr>
      </p:sp>
      <p:sp>
        <p:nvSpPr>
          <p:cNvPr id="30" name="Text 27"/>
          <p:cNvSpPr/>
          <p:nvPr/>
        </p:nvSpPr>
        <p:spPr>
          <a:xfrm>
            <a:off x="7447788" y="2743200"/>
            <a:ext cx="3145536" cy="548640"/>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Response returned immediately</a:t>
            </a:r>
            <a:endParaRPr lang="en-US" sz="1050" dirty="0"/>
          </a:p>
        </p:txBody>
      </p:sp>
      <p:sp>
        <p:nvSpPr>
          <p:cNvPr id="31" name="Shape 28"/>
          <p:cNvSpPr/>
          <p:nvPr/>
        </p:nvSpPr>
        <p:spPr>
          <a:xfrm>
            <a:off x="9020556" y="2560320"/>
            <a:ext cx="1783080" cy="0"/>
          </a:xfrm>
          <a:prstGeom prst="line">
            <a:avLst/>
          </a:prstGeom>
          <a:noFill/>
          <a:ln w="16510">
            <a:solidFill>
              <a:srgbClr val="B7791F"/>
            </a:solidFill>
            <a:prstDash val="dash"/>
          </a:ln>
        </p:spPr>
      </p:sp>
      <p:sp>
        <p:nvSpPr>
          <p:cNvPr id="32" name="Shape 29"/>
          <p:cNvSpPr/>
          <p:nvPr/>
        </p:nvSpPr>
        <p:spPr>
          <a:xfrm>
            <a:off x="10803636" y="2560320"/>
            <a:ext cx="0" cy="777240"/>
          </a:xfrm>
          <a:prstGeom prst="line">
            <a:avLst/>
          </a:prstGeom>
          <a:noFill/>
          <a:ln w="16510">
            <a:solidFill>
              <a:srgbClr val="B7791F"/>
            </a:solidFill>
            <a:prstDash val="dash"/>
            <a:tailEnd type="triangle"/>
          </a:ln>
        </p:spPr>
      </p:sp>
      <p:sp>
        <p:nvSpPr>
          <p:cNvPr id="33" name="Shape 30"/>
          <p:cNvSpPr/>
          <p:nvPr/>
        </p:nvSpPr>
        <p:spPr>
          <a:xfrm>
            <a:off x="7511796" y="3520440"/>
            <a:ext cx="3017520" cy="777240"/>
          </a:xfrm>
          <a:prstGeom prst="roundRect">
            <a:avLst>
              <a:gd name="adj" fmla="val 7059"/>
            </a:avLst>
          </a:prstGeom>
          <a:solidFill>
            <a:srgbClr val="FCF3DF"/>
          </a:solidFill>
          <a:ln w="17780">
            <a:solidFill>
              <a:srgbClr val="B7791F"/>
            </a:solidFill>
            <a:prstDash val="solid"/>
          </a:ln>
        </p:spPr>
      </p:sp>
      <p:sp>
        <p:nvSpPr>
          <p:cNvPr id="34" name="Text 31"/>
          <p:cNvSpPr/>
          <p:nvPr/>
        </p:nvSpPr>
        <p:spPr>
          <a:xfrm>
            <a:off x="7584948" y="3575304"/>
            <a:ext cx="2871216" cy="427482"/>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Background (fire-and-forget)</a:t>
            </a:r>
            <a:endParaRPr lang="en-US" sz="1050" dirty="0"/>
          </a:p>
        </p:txBody>
      </p:sp>
      <p:sp>
        <p:nvSpPr>
          <p:cNvPr id="35" name="Text 32"/>
          <p:cNvSpPr/>
          <p:nvPr/>
        </p:nvSpPr>
        <p:spPr>
          <a:xfrm>
            <a:off x="7584948" y="3924605"/>
            <a:ext cx="2871216" cy="326441"/>
          </a:xfrm>
          <a:prstGeom prst="rect">
            <a:avLst/>
          </a:prstGeom>
          <a:noFill/>
          <a:ln/>
        </p:spPr>
        <p:txBody>
          <a:bodyPr wrap="square" lIns="0" tIns="0" rIns="0" bIns="0" rtlCol="0" anchor="ctr"/>
          <a:lstStyle/>
          <a:p>
            <a:pPr algn="ctr" indent="0" marL="0">
              <a:buNone/>
            </a:pPr>
            <a:r>
              <a:rPr lang="en-US" sz="830" dirty="0">
                <a:solidFill>
                  <a:srgbClr val="B7791F"/>
                </a:solidFill>
                <a:latin typeface="Calibri" pitchFamily="34" charset="0"/>
                <a:ea typeface="Calibri" pitchFamily="34" charset="-122"/>
                <a:cs typeface="Calibri" pitchFamily="34" charset="-120"/>
              </a:rPr>
              <a:t>asyncPreLoad · CoBrowse defer</a:t>
            </a:r>
            <a:endParaRPr lang="en-US" sz="830" dirty="0"/>
          </a:p>
        </p:txBody>
      </p:sp>
      <p:sp>
        <p:nvSpPr>
          <p:cNvPr id="36" name="Text 33"/>
          <p:cNvSpPr/>
          <p:nvPr/>
        </p:nvSpPr>
        <p:spPr>
          <a:xfrm>
            <a:off x="10712196" y="2788920"/>
            <a:ext cx="1280160" cy="548640"/>
          </a:xfrm>
          <a:prstGeom prst="rect">
            <a:avLst/>
          </a:prstGeom>
          <a:noFill/>
          <a:ln/>
        </p:spPr>
        <p:txBody>
          <a:bodyPr wrap="square" lIns="0" tIns="0" rIns="0" bIns="0" rtlCol="0" anchor="ctr"/>
          <a:lstStyle/>
          <a:p>
            <a:pPr indent="0" marL="0">
              <a:buNone/>
            </a:pPr>
            <a:r>
              <a:rPr lang="en-US" sz="780" i="1" dirty="0">
                <a:solidFill>
                  <a:srgbClr val="B7791F"/>
                </a:solidFill>
                <a:latin typeface="Calibri" pitchFamily="34" charset="0"/>
                <a:ea typeface="Calibri" pitchFamily="34" charset="-122"/>
                <a:cs typeface="Calibri" pitchFamily="34" charset="-120"/>
              </a:rPr>
              <a:t>does not block the response</a:t>
            </a:r>
            <a:endParaRPr lang="en-US" sz="780" dirty="0"/>
          </a:p>
        </p:txBody>
      </p:sp>
      <p:sp>
        <p:nvSpPr>
          <p:cNvPr id="37" name="Shape 34"/>
          <p:cNvSpPr/>
          <p:nvPr/>
        </p:nvSpPr>
        <p:spPr>
          <a:xfrm>
            <a:off x="9020556" y="4434840"/>
            <a:ext cx="0" cy="365760"/>
          </a:xfrm>
          <a:prstGeom prst="line">
            <a:avLst/>
          </a:prstGeom>
          <a:noFill/>
          <a:ln w="19050">
            <a:solidFill>
              <a:srgbClr val="94A3B8"/>
            </a:solidFill>
            <a:prstDash val="solid"/>
            <a:tailEnd type="triangle"/>
          </a:ln>
        </p:spPr>
      </p:sp>
      <p:sp>
        <p:nvSpPr>
          <p:cNvPr id="38" name="Shape 35"/>
          <p:cNvSpPr/>
          <p:nvPr/>
        </p:nvSpPr>
        <p:spPr>
          <a:xfrm>
            <a:off x="7374636" y="4937760"/>
            <a:ext cx="3291840" cy="457200"/>
          </a:xfrm>
          <a:prstGeom prst="roundRect">
            <a:avLst>
              <a:gd name="adj" fmla="val 12000"/>
            </a:avLst>
          </a:prstGeom>
          <a:solidFill>
            <a:srgbClr val="FFFFFF"/>
          </a:solidFill>
          <a:ln w="17780">
            <a:solidFill>
              <a:srgbClr val="27364B"/>
            </a:solidFill>
            <a:prstDash val="solid"/>
          </a:ln>
        </p:spPr>
      </p:sp>
      <p:sp>
        <p:nvSpPr>
          <p:cNvPr id="39" name="Text 36"/>
          <p:cNvSpPr/>
          <p:nvPr/>
        </p:nvSpPr>
        <p:spPr>
          <a:xfrm>
            <a:off x="7447788" y="4937760"/>
            <a:ext cx="3145536" cy="457200"/>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Page fully rendered</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1B4F8C"/>
          </a:solidFill>
          <a:ln/>
        </p:spPr>
      </p:sp>
      <p:sp>
        <p:nvSpPr>
          <p:cNvPr id="3" name="Text 1"/>
          <p:cNvSpPr/>
          <p:nvPr/>
        </p:nvSpPr>
        <p:spPr>
          <a:xfrm>
            <a:off x="11155680" y="6519672"/>
            <a:ext cx="822960" cy="256032"/>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08 / 13</a:t>
            </a:r>
            <a:endParaRPr lang="en-US" sz="950" dirty="0"/>
          </a:p>
        </p:txBody>
      </p:sp>
      <p:sp>
        <p:nvSpPr>
          <p:cNvPr id="4" name="Text 2"/>
          <p:cNvSpPr/>
          <p:nvPr/>
        </p:nvSpPr>
        <p:spPr>
          <a:xfrm>
            <a:off x="548640" y="6519672"/>
            <a:ext cx="4572000" cy="256032"/>
          </a:xfrm>
          <a:prstGeom prst="rect">
            <a:avLst/>
          </a:prstGeom>
          <a:noFill/>
          <a:ln/>
        </p:spPr>
        <p:txBody>
          <a:bodyPr wrap="square" lIns="0" tIns="0" rIns="0" bIns="0" rtlCol="0" anchor="ctr"/>
          <a:lstStyle/>
          <a:p>
            <a:pPr indent="0" marL="0">
              <a:buNone/>
            </a:pPr>
            <a:r>
              <a:rPr lang="en-US" sz="850" spc="100" kern="0" dirty="0">
                <a:solidFill>
                  <a:srgbClr val="94A3B8"/>
                </a:solidFill>
                <a:latin typeface="Calibri" pitchFamily="34" charset="0"/>
                <a:ea typeface="Calibri" pitchFamily="34" charset="-122"/>
                <a:cs typeface="Calibri" pitchFamily="34" charset="-120"/>
              </a:rPr>
              <a:t>ACCOUNT HOME PERFORMANCE PROGRAM</a:t>
            </a:r>
            <a:endParaRPr lang="en-US" sz="850" dirty="0"/>
          </a:p>
        </p:txBody>
      </p:sp>
      <p:sp>
        <p:nvSpPr>
          <p:cNvPr id="5" name="Text 3"/>
          <p:cNvSpPr/>
          <p:nvPr/>
        </p:nvSpPr>
        <p:spPr>
          <a:xfrm>
            <a:off x="566928" y="310896"/>
            <a:ext cx="3657600" cy="237744"/>
          </a:xfrm>
          <a:prstGeom prst="rect">
            <a:avLst/>
          </a:prstGeom>
          <a:noFill/>
          <a:ln/>
        </p:spPr>
        <p:txBody>
          <a:bodyPr wrap="square" lIns="0" tIns="0" rIns="0" bIns="0" rtlCol="0" anchor="ctr"/>
          <a:lstStyle/>
          <a:p>
            <a:pPr indent="0" marL="0">
              <a:buNone/>
            </a:pPr>
            <a:r>
              <a:rPr lang="en-US" sz="1050" b="1" spc="220" kern="0" dirty="0">
                <a:solidFill>
                  <a:srgbClr val="1E8449"/>
                </a:solidFill>
                <a:latin typeface="Arial" pitchFamily="34" charset="0"/>
                <a:ea typeface="Arial" pitchFamily="34" charset="-122"/>
                <a:cs typeface="Arial" pitchFamily="34" charset="-120"/>
              </a:rPr>
              <a:t>PATTERN 07</a:t>
            </a:r>
            <a:endParaRPr lang="en-US" sz="1050" dirty="0"/>
          </a:p>
        </p:txBody>
      </p:sp>
      <p:sp>
        <p:nvSpPr>
          <p:cNvPr id="6" name="Text 4"/>
          <p:cNvSpPr/>
          <p:nvPr/>
        </p:nvSpPr>
        <p:spPr>
          <a:xfrm>
            <a:off x="548640" y="530352"/>
            <a:ext cx="8595360" cy="502920"/>
          </a:xfrm>
          <a:prstGeom prst="rect">
            <a:avLst/>
          </a:prstGeom>
          <a:noFill/>
          <a:ln/>
        </p:spPr>
        <p:txBody>
          <a:bodyPr wrap="square" lIns="0" tIns="0" rIns="0" bIns="0" rtlCol="0" anchor="ctr"/>
          <a:lstStyle/>
          <a:p>
            <a:pPr indent="0" marL="0">
              <a:buNone/>
            </a:pPr>
            <a:r>
              <a:rPr lang="en-US" sz="2400" b="1" dirty="0">
                <a:solidFill>
                  <a:srgbClr val="0B2545"/>
                </a:solidFill>
                <a:latin typeface="Arial" pitchFamily="34" charset="0"/>
                <a:ea typeface="Arial" pitchFamily="34" charset="-122"/>
                <a:cs typeface="Arial" pitchFamily="34" charset="-120"/>
              </a:rPr>
              <a:t>Resilience Framework</a:t>
            </a:r>
            <a:endParaRPr lang="en-US" sz="2400" dirty="0"/>
          </a:p>
        </p:txBody>
      </p:sp>
      <p:sp>
        <p:nvSpPr>
          <p:cNvPr id="7" name="Shape 5"/>
          <p:cNvSpPr/>
          <p:nvPr/>
        </p:nvSpPr>
        <p:spPr>
          <a:xfrm>
            <a:off x="10058400" y="603504"/>
            <a:ext cx="1371600" cy="292608"/>
          </a:xfrm>
          <a:prstGeom prst="roundRect">
            <a:avLst>
              <a:gd name="adj" fmla="val 50000"/>
            </a:avLst>
          </a:prstGeom>
          <a:solidFill>
            <a:srgbClr val="E7F5EC"/>
          </a:solidFill>
          <a:ln w="13970">
            <a:solidFill>
              <a:srgbClr val="1E8449"/>
            </a:solidFill>
            <a:prstDash val="solid"/>
          </a:ln>
        </p:spPr>
      </p:sp>
      <p:sp>
        <p:nvSpPr>
          <p:cNvPr id="8" name="Text 6"/>
          <p:cNvSpPr/>
          <p:nvPr/>
        </p:nvSpPr>
        <p:spPr>
          <a:xfrm>
            <a:off x="10058400" y="603504"/>
            <a:ext cx="1371600" cy="292608"/>
          </a:xfrm>
          <a:prstGeom prst="rect">
            <a:avLst/>
          </a:prstGeom>
          <a:noFill/>
          <a:ln/>
        </p:spPr>
        <p:txBody>
          <a:bodyPr wrap="square" lIns="0" tIns="0" rIns="0" bIns="0" rtlCol="0" anchor="ctr"/>
          <a:lstStyle/>
          <a:p>
            <a:pPr algn="ctr" indent="0" marL="0">
              <a:buNone/>
            </a:pPr>
            <a:r>
              <a:rPr lang="en-US" sz="1100" b="1" dirty="0">
                <a:solidFill>
                  <a:srgbClr val="1E8449"/>
                </a:solidFill>
                <a:latin typeface="Arial" pitchFamily="34" charset="0"/>
                <a:ea typeface="Arial" pitchFamily="34" charset="-122"/>
                <a:cs typeface="Arial" pitchFamily="34" charset="-120"/>
              </a:rPr>
              <a:t>APPLIED</a:t>
            </a:r>
            <a:endParaRPr lang="en-US" sz="1100" dirty="0"/>
          </a:p>
        </p:txBody>
      </p:sp>
      <p:sp>
        <p:nvSpPr>
          <p:cNvPr id="9" name="Shape 7"/>
          <p:cNvSpPr/>
          <p:nvPr/>
        </p:nvSpPr>
        <p:spPr>
          <a:xfrm>
            <a:off x="566928" y="1298448"/>
            <a:ext cx="11064240" cy="0"/>
          </a:xfrm>
          <a:prstGeom prst="line">
            <a:avLst/>
          </a:prstGeom>
          <a:noFill/>
          <a:ln w="12700">
            <a:solidFill>
              <a:srgbClr val="D9E2EC"/>
            </a:solidFill>
            <a:prstDash val="solid"/>
          </a:ln>
        </p:spPr>
      </p:sp>
      <p:sp>
        <p:nvSpPr>
          <p:cNvPr id="10" name="Shape 8"/>
          <p:cNvSpPr/>
          <p:nvPr/>
        </p:nvSpPr>
        <p:spPr>
          <a:xfrm>
            <a:off x="548640" y="1444752"/>
            <a:ext cx="457200" cy="457200"/>
          </a:xfrm>
          <a:prstGeom prst="ellipse">
            <a:avLst/>
          </a:prstGeom>
          <a:solidFill>
            <a:srgbClr val="E7F5EC"/>
          </a:solidFill>
          <a:ln w="12700">
            <a:solidFill>
              <a:srgbClr val="1E8449"/>
            </a:solidFill>
            <a:prstDash val="solid"/>
          </a:ln>
        </p:spPr>
      </p:sp>
      <p:pic>
        <p:nvPicPr>
          <p:cNvPr id="11" name="Image 0" descr="preencoded.png">    </p:cNvPr>
          <p:cNvPicPr>
            <a:picLocks noChangeAspect="1"/>
          </p:cNvPicPr>
          <p:nvPr/>
        </p:nvPicPr>
        <p:blipFill>
          <a:blip r:embed="rId1"/>
          <a:stretch>
            <a:fillRect/>
          </a:stretch>
        </p:blipFill>
        <p:spPr>
          <a:xfrm>
            <a:off x="672084" y="1568196"/>
            <a:ext cx="210312" cy="210312"/>
          </a:xfrm>
          <a:prstGeom prst="rect">
            <a:avLst/>
          </a:prstGeom>
        </p:spPr>
      </p:pic>
      <p:sp>
        <p:nvSpPr>
          <p:cNvPr id="12" name="Shape 9"/>
          <p:cNvSpPr/>
          <p:nvPr/>
        </p:nvSpPr>
        <p:spPr>
          <a:xfrm>
            <a:off x="1170432" y="1499616"/>
            <a:ext cx="137160" cy="137160"/>
          </a:xfrm>
          <a:prstGeom prst="roundRect">
            <a:avLst>
              <a:gd name="adj" fmla="val 20000"/>
            </a:avLst>
          </a:prstGeom>
          <a:solidFill>
            <a:srgbClr val="1E8449"/>
          </a:solidFill>
          <a:ln/>
        </p:spPr>
      </p:sp>
      <p:sp>
        <p:nvSpPr>
          <p:cNvPr id="13" name="Text 10"/>
          <p:cNvSpPr/>
          <p:nvPr/>
        </p:nvSpPr>
        <p:spPr>
          <a:xfrm>
            <a:off x="1426464" y="1426464"/>
            <a:ext cx="4636008" cy="502920"/>
          </a:xfrm>
          <a:prstGeom prst="rect">
            <a:avLst/>
          </a:prstGeom>
          <a:noFill/>
          <a:ln/>
        </p:spPr>
        <p:txBody>
          <a:bodyPr wrap="square" lIns="0" tIns="0" rIns="0" bIns="0" rtlCol="0" anchor="t"/>
          <a:lstStyle/>
          <a:p>
            <a:pPr indent="0" marL="0">
              <a:lnSpc>
                <a:spcPts val="1550"/>
              </a:lnSpc>
              <a:buNone/>
            </a:pPr>
            <a:r>
              <a:rPr lang="en-US" sz="1150" dirty="0">
                <a:solidFill>
                  <a:srgbClr val="27364B"/>
                </a:solidFill>
                <a:latin typeface="Calibri" pitchFamily="34" charset="0"/>
                <a:ea typeface="Calibri" pitchFamily="34" charset="-122"/>
                <a:cs typeface="Calibri" pitchFamily="34" charset="-120"/>
              </a:rPr>
              <a:t>Two circuit breakers are documented and running on Resilience4j.</a:t>
            </a:r>
            <a:endParaRPr lang="en-US" sz="1150" dirty="0"/>
          </a:p>
        </p:txBody>
      </p:sp>
      <p:sp>
        <p:nvSpPr>
          <p:cNvPr id="14" name="Shape 11"/>
          <p:cNvSpPr/>
          <p:nvPr/>
        </p:nvSpPr>
        <p:spPr>
          <a:xfrm>
            <a:off x="1170432" y="1875767"/>
            <a:ext cx="137160" cy="137160"/>
          </a:xfrm>
          <a:prstGeom prst="roundRect">
            <a:avLst>
              <a:gd name="adj" fmla="val 20000"/>
            </a:avLst>
          </a:prstGeom>
          <a:solidFill>
            <a:srgbClr val="1E8449"/>
          </a:solidFill>
          <a:ln/>
        </p:spPr>
      </p:sp>
      <p:sp>
        <p:nvSpPr>
          <p:cNvPr id="15" name="Text 12"/>
          <p:cNvSpPr/>
          <p:nvPr/>
        </p:nvSpPr>
        <p:spPr>
          <a:xfrm>
            <a:off x="1426464" y="1802615"/>
            <a:ext cx="4636008" cy="502920"/>
          </a:xfrm>
          <a:prstGeom prst="rect">
            <a:avLst/>
          </a:prstGeom>
          <a:noFill/>
          <a:ln/>
        </p:spPr>
        <p:txBody>
          <a:bodyPr wrap="square" lIns="0" tIns="0" rIns="0" bIns="0" rtlCol="0" anchor="t"/>
          <a:lstStyle/>
          <a:p>
            <a:pPr indent="0" marL="0">
              <a:lnSpc>
                <a:spcPts val="1550"/>
              </a:lnSpc>
              <a:buNone/>
            </a:pPr>
            <a:r>
              <a:rPr lang="en-US" sz="1150" dirty="0">
                <a:solidFill>
                  <a:srgbClr val="27364B"/>
                </a:solidFill>
                <a:latin typeface="Calibri" pitchFamily="34" charset="0"/>
                <a:ea typeface="Calibri" pitchFamily="34" charset="-122"/>
                <a:cs typeface="Calibri" pitchFamily="34" charset="-120"/>
              </a:rPr>
              <a:t>Graceful degradation exists specifically for trust account failures.</a:t>
            </a:r>
            <a:endParaRPr lang="en-US" sz="1150" dirty="0"/>
          </a:p>
        </p:txBody>
      </p:sp>
      <p:sp>
        <p:nvSpPr>
          <p:cNvPr id="16" name="Shape 13"/>
          <p:cNvSpPr/>
          <p:nvPr/>
        </p:nvSpPr>
        <p:spPr>
          <a:xfrm>
            <a:off x="548640" y="2743200"/>
            <a:ext cx="5532120" cy="1051560"/>
          </a:xfrm>
          <a:prstGeom prst="roundRect">
            <a:avLst>
              <a:gd name="adj" fmla="val 4348"/>
            </a:avLst>
          </a:prstGeom>
          <a:solidFill>
            <a:srgbClr val="E7F5EC"/>
          </a:solidFill>
          <a:ln w="12700">
            <a:solidFill>
              <a:srgbClr val="1E8449"/>
            </a:solidFill>
            <a:prstDash val="solid"/>
          </a:ln>
        </p:spPr>
      </p:sp>
      <p:sp>
        <p:nvSpPr>
          <p:cNvPr id="17" name="Text 14"/>
          <p:cNvSpPr/>
          <p:nvPr/>
        </p:nvSpPr>
        <p:spPr>
          <a:xfrm>
            <a:off x="713232" y="2825496"/>
            <a:ext cx="5202936" cy="201168"/>
          </a:xfrm>
          <a:prstGeom prst="rect">
            <a:avLst/>
          </a:prstGeom>
          <a:noFill/>
          <a:ln/>
        </p:spPr>
        <p:txBody>
          <a:bodyPr wrap="square" lIns="0" tIns="0" rIns="0" bIns="0" rtlCol="0" anchor="ctr"/>
          <a:lstStyle/>
          <a:p>
            <a:pPr indent="0" marL="0">
              <a:buNone/>
            </a:pPr>
            <a:r>
              <a:rPr lang="en-US" sz="950" b="1" spc="100" kern="0" dirty="0">
                <a:solidFill>
                  <a:srgbClr val="1E8449"/>
                </a:solidFill>
                <a:latin typeface="Arial" pitchFamily="34" charset="0"/>
                <a:ea typeface="Arial" pitchFamily="34" charset="-122"/>
                <a:cs typeface="Arial" pitchFamily="34" charset="-120"/>
              </a:rPr>
              <a:t>ADVANTAGE</a:t>
            </a:r>
            <a:endParaRPr lang="en-US" sz="950" dirty="0"/>
          </a:p>
        </p:txBody>
      </p:sp>
      <p:sp>
        <p:nvSpPr>
          <p:cNvPr id="18" name="Text 15"/>
          <p:cNvSpPr/>
          <p:nvPr/>
        </p:nvSpPr>
        <p:spPr>
          <a:xfrm>
            <a:off x="713232" y="3035808"/>
            <a:ext cx="5202936" cy="685800"/>
          </a:xfrm>
          <a:prstGeom prst="rect">
            <a:avLst/>
          </a:prstGeom>
          <a:noFill/>
          <a:ln/>
        </p:spPr>
        <p:txBody>
          <a:bodyPr wrap="square" lIns="0" tIns="0" rIns="0" bIns="0" rtlCol="0" anchor="t"/>
          <a:lstStyle/>
          <a:p>
            <a:pPr indent="0" marL="0">
              <a:lnSpc>
                <a:spcPts val="1450"/>
              </a:lnSpc>
              <a:buNone/>
            </a:pPr>
            <a:r>
              <a:rPr lang="en-US" sz="1080" dirty="0">
                <a:solidFill>
                  <a:srgbClr val="27364B"/>
                </a:solidFill>
                <a:latin typeface="Calibri" pitchFamily="34" charset="0"/>
                <a:ea typeface="Calibri" pitchFamily="34" charset="-122"/>
                <a:cs typeface="Calibri" pitchFamily="34" charset="-120"/>
              </a:rPr>
              <a:t>A struggling dependency degrades gracefully — the page still renders — instead of the whole request failing.</a:t>
            </a:r>
            <a:endParaRPr lang="en-US" sz="1080" dirty="0"/>
          </a:p>
        </p:txBody>
      </p:sp>
      <p:sp>
        <p:nvSpPr>
          <p:cNvPr id="19" name="Shape 16"/>
          <p:cNvSpPr/>
          <p:nvPr/>
        </p:nvSpPr>
        <p:spPr>
          <a:xfrm>
            <a:off x="548640" y="4087368"/>
            <a:ext cx="5532120" cy="777240"/>
          </a:xfrm>
          <a:prstGeom prst="roundRect">
            <a:avLst>
              <a:gd name="adj" fmla="val 5882"/>
            </a:avLst>
          </a:prstGeom>
          <a:solidFill>
            <a:srgbClr val="FCF3DF"/>
          </a:solidFill>
          <a:ln w="12700">
            <a:solidFill>
              <a:srgbClr val="B7791F"/>
            </a:solidFill>
            <a:prstDash val="solid"/>
          </a:ln>
        </p:spPr>
      </p:sp>
      <p:sp>
        <p:nvSpPr>
          <p:cNvPr id="20" name="Text 17"/>
          <p:cNvSpPr/>
          <p:nvPr/>
        </p:nvSpPr>
        <p:spPr>
          <a:xfrm>
            <a:off x="713232" y="4169664"/>
            <a:ext cx="5202936" cy="201168"/>
          </a:xfrm>
          <a:prstGeom prst="rect">
            <a:avLst/>
          </a:prstGeom>
          <a:noFill/>
          <a:ln/>
        </p:spPr>
        <p:txBody>
          <a:bodyPr wrap="square" lIns="0" tIns="0" rIns="0" bIns="0" rtlCol="0" anchor="ctr"/>
          <a:lstStyle/>
          <a:p>
            <a:pPr indent="0" marL="0">
              <a:buNone/>
            </a:pPr>
            <a:r>
              <a:rPr lang="en-US" sz="950" b="1" spc="100" kern="0" dirty="0">
                <a:solidFill>
                  <a:srgbClr val="B7791F"/>
                </a:solidFill>
                <a:latin typeface="Arial" pitchFamily="34" charset="0"/>
                <a:ea typeface="Arial" pitchFamily="34" charset="-122"/>
                <a:cs typeface="Arial" pitchFamily="34" charset="-120"/>
              </a:rPr>
              <a:t>REFINEMENT</a:t>
            </a:r>
            <a:endParaRPr lang="en-US" sz="950" dirty="0"/>
          </a:p>
        </p:txBody>
      </p:sp>
      <p:sp>
        <p:nvSpPr>
          <p:cNvPr id="21" name="Text 18"/>
          <p:cNvSpPr/>
          <p:nvPr/>
        </p:nvSpPr>
        <p:spPr>
          <a:xfrm>
            <a:off x="713232" y="4379976"/>
            <a:ext cx="5202936" cy="411480"/>
          </a:xfrm>
          <a:prstGeom prst="rect">
            <a:avLst/>
          </a:prstGeom>
          <a:noFill/>
          <a:ln/>
        </p:spPr>
        <p:txBody>
          <a:bodyPr wrap="square" lIns="0" tIns="0" rIns="0" bIns="0" rtlCol="0" anchor="t"/>
          <a:lstStyle/>
          <a:p>
            <a:pPr indent="0" marL="0">
              <a:lnSpc>
                <a:spcPts val="1450"/>
              </a:lnSpc>
              <a:buNone/>
            </a:pPr>
            <a:r>
              <a:rPr lang="en-US" sz="1080" dirty="0">
                <a:solidFill>
                  <a:srgbClr val="27364B"/>
                </a:solidFill>
                <a:latin typeface="Calibri" pitchFamily="34" charset="0"/>
                <a:ea typeface="Calibri" pitchFamily="34" charset="-122"/>
                <a:cs typeface="Calibri" pitchFamily="34" charset="-120"/>
              </a:rPr>
              <a:t>No timeout, retry, or fallback yet for three of the five parallel calls.</a:t>
            </a:r>
            <a:endParaRPr lang="en-US" sz="1080" dirty="0"/>
          </a:p>
        </p:txBody>
      </p:sp>
      <p:sp>
        <p:nvSpPr>
          <p:cNvPr id="22" name="Text 19"/>
          <p:cNvSpPr/>
          <p:nvPr/>
        </p:nvSpPr>
        <p:spPr>
          <a:xfrm>
            <a:off x="548640" y="6263640"/>
            <a:ext cx="5486400" cy="219456"/>
          </a:xfrm>
          <a:prstGeom prst="rect">
            <a:avLst/>
          </a:prstGeom>
          <a:noFill/>
          <a:ln/>
        </p:spPr>
        <p:txBody>
          <a:bodyPr wrap="square" lIns="0" tIns="0" rIns="0" bIns="0"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SOURCE  ·  AD: Account Home (pg. 708936606)</a:t>
            </a:r>
            <a:endParaRPr lang="en-US" sz="900" dirty="0"/>
          </a:p>
        </p:txBody>
      </p:sp>
      <p:sp>
        <p:nvSpPr>
          <p:cNvPr id="23" name="Shape 20"/>
          <p:cNvSpPr/>
          <p:nvPr/>
        </p:nvSpPr>
        <p:spPr>
          <a:xfrm>
            <a:off x="6400800" y="1481328"/>
            <a:ext cx="5239512" cy="4828032"/>
          </a:xfrm>
          <a:prstGeom prst="roundRect">
            <a:avLst>
              <a:gd name="adj" fmla="val 1136"/>
            </a:avLst>
          </a:prstGeom>
          <a:solidFill>
            <a:srgbClr val="F5F9FE"/>
          </a:solidFill>
          <a:ln w="12700">
            <a:solidFill>
              <a:srgbClr val="D9E2EC"/>
            </a:solidFill>
            <a:prstDash val="solid"/>
          </a:ln>
        </p:spPr>
      </p:sp>
      <p:sp>
        <p:nvSpPr>
          <p:cNvPr id="24" name="Text 21"/>
          <p:cNvSpPr/>
          <p:nvPr/>
        </p:nvSpPr>
        <p:spPr>
          <a:xfrm>
            <a:off x="6583680" y="1627632"/>
            <a:ext cx="4873752" cy="219456"/>
          </a:xfrm>
          <a:prstGeom prst="rect">
            <a:avLst/>
          </a:prstGeom>
          <a:noFill/>
          <a:ln/>
        </p:spPr>
        <p:txBody>
          <a:bodyPr wrap="square" lIns="0" tIns="0" rIns="0" bIns="0" rtlCol="0" anchor="ctr"/>
          <a:lstStyle/>
          <a:p>
            <a:pPr indent="0" marL="0">
              <a:buNone/>
            </a:pPr>
            <a:r>
              <a:rPr lang="en-US" sz="950" b="1" spc="140" kern="0" dirty="0">
                <a:solidFill>
                  <a:srgbClr val="1B4F8C"/>
                </a:solidFill>
                <a:latin typeface="Arial" pitchFamily="34" charset="0"/>
                <a:ea typeface="Arial" pitchFamily="34" charset="-122"/>
                <a:cs typeface="Arial" pitchFamily="34" charset="-120"/>
              </a:rPr>
              <a:t>HOW IT WORKS</a:t>
            </a:r>
            <a:endParaRPr lang="en-US" sz="950" dirty="0"/>
          </a:p>
        </p:txBody>
      </p:sp>
      <p:sp>
        <p:nvSpPr>
          <p:cNvPr id="25" name="Shape 22"/>
          <p:cNvSpPr/>
          <p:nvPr/>
        </p:nvSpPr>
        <p:spPr>
          <a:xfrm>
            <a:off x="6583680" y="1920240"/>
            <a:ext cx="4873752" cy="0"/>
          </a:xfrm>
          <a:prstGeom prst="line">
            <a:avLst/>
          </a:prstGeom>
          <a:noFill/>
          <a:ln w="12700">
            <a:solidFill>
              <a:srgbClr val="D9E2EC"/>
            </a:solidFill>
            <a:prstDash val="solid"/>
          </a:ln>
        </p:spPr>
      </p:sp>
      <p:sp>
        <p:nvSpPr>
          <p:cNvPr id="26" name="Shape 23"/>
          <p:cNvSpPr/>
          <p:nvPr/>
        </p:nvSpPr>
        <p:spPr>
          <a:xfrm>
            <a:off x="7374636" y="1874520"/>
            <a:ext cx="3291840" cy="502920"/>
          </a:xfrm>
          <a:prstGeom prst="roundRect">
            <a:avLst>
              <a:gd name="adj" fmla="val 10909"/>
            </a:avLst>
          </a:prstGeom>
          <a:solidFill>
            <a:srgbClr val="EAF2FC"/>
          </a:solidFill>
          <a:ln w="17780">
            <a:solidFill>
              <a:srgbClr val="1B4F8C"/>
            </a:solidFill>
            <a:prstDash val="solid"/>
          </a:ln>
        </p:spPr>
      </p:sp>
      <p:sp>
        <p:nvSpPr>
          <p:cNvPr id="27" name="Text 24"/>
          <p:cNvSpPr/>
          <p:nvPr/>
        </p:nvSpPr>
        <p:spPr>
          <a:xfrm>
            <a:off x="7447788" y="1874520"/>
            <a:ext cx="3145536" cy="502920"/>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Downstream call (e.g. trust account)</a:t>
            </a:r>
            <a:endParaRPr lang="en-US" sz="1050" dirty="0"/>
          </a:p>
        </p:txBody>
      </p:sp>
      <p:sp>
        <p:nvSpPr>
          <p:cNvPr id="28" name="Shape 25"/>
          <p:cNvSpPr/>
          <p:nvPr/>
        </p:nvSpPr>
        <p:spPr>
          <a:xfrm>
            <a:off x="9020556" y="2395728"/>
            <a:ext cx="0" cy="320040"/>
          </a:xfrm>
          <a:prstGeom prst="line">
            <a:avLst/>
          </a:prstGeom>
          <a:noFill/>
          <a:ln w="19050">
            <a:solidFill>
              <a:srgbClr val="1B4F8C"/>
            </a:solidFill>
            <a:prstDash val="solid"/>
            <a:tailEnd type="triangle"/>
          </a:ln>
        </p:spPr>
      </p:sp>
      <p:sp>
        <p:nvSpPr>
          <p:cNvPr id="29" name="Shape 26"/>
          <p:cNvSpPr/>
          <p:nvPr/>
        </p:nvSpPr>
        <p:spPr>
          <a:xfrm>
            <a:off x="7374636" y="2743200"/>
            <a:ext cx="3291840" cy="548640"/>
          </a:xfrm>
          <a:prstGeom prst="roundRect">
            <a:avLst>
              <a:gd name="adj" fmla="val 10000"/>
            </a:avLst>
          </a:prstGeom>
          <a:solidFill>
            <a:srgbClr val="FFFFFF"/>
          </a:solidFill>
          <a:ln w="17780">
            <a:solidFill>
              <a:srgbClr val="1B4F8C"/>
            </a:solidFill>
            <a:prstDash val="solid"/>
          </a:ln>
        </p:spPr>
      </p:sp>
      <p:sp>
        <p:nvSpPr>
          <p:cNvPr id="30" name="Text 27"/>
          <p:cNvSpPr/>
          <p:nvPr/>
        </p:nvSpPr>
        <p:spPr>
          <a:xfrm>
            <a:off x="7447788" y="2743200"/>
            <a:ext cx="3145536" cy="548640"/>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Circuit breaker (Resilience4j)</a:t>
            </a:r>
            <a:endParaRPr lang="en-US" sz="1050" dirty="0"/>
          </a:p>
        </p:txBody>
      </p:sp>
      <p:sp>
        <p:nvSpPr>
          <p:cNvPr id="31" name="Shape 28"/>
          <p:cNvSpPr/>
          <p:nvPr/>
        </p:nvSpPr>
        <p:spPr>
          <a:xfrm>
            <a:off x="8151876" y="3319272"/>
            <a:ext cx="0" cy="347472"/>
          </a:xfrm>
          <a:prstGeom prst="line">
            <a:avLst/>
          </a:prstGeom>
          <a:noFill/>
          <a:ln w="19050">
            <a:solidFill>
              <a:srgbClr val="1E8449"/>
            </a:solidFill>
            <a:prstDash val="solid"/>
            <a:tailEnd type="triangle"/>
          </a:ln>
        </p:spPr>
      </p:sp>
      <p:sp>
        <p:nvSpPr>
          <p:cNvPr id="32" name="Shape 29"/>
          <p:cNvSpPr/>
          <p:nvPr/>
        </p:nvSpPr>
        <p:spPr>
          <a:xfrm>
            <a:off x="9889236" y="3319272"/>
            <a:ext cx="0" cy="347472"/>
          </a:xfrm>
          <a:prstGeom prst="line">
            <a:avLst/>
          </a:prstGeom>
          <a:noFill/>
          <a:ln w="19050">
            <a:solidFill>
              <a:srgbClr val="B7791F"/>
            </a:solidFill>
            <a:prstDash val="solid"/>
            <a:tailEnd type="triangle"/>
          </a:ln>
        </p:spPr>
      </p:sp>
      <p:sp>
        <p:nvSpPr>
          <p:cNvPr id="33" name="Shape 30"/>
          <p:cNvSpPr/>
          <p:nvPr/>
        </p:nvSpPr>
        <p:spPr>
          <a:xfrm>
            <a:off x="7328916" y="3703320"/>
            <a:ext cx="1645920" cy="640080"/>
          </a:xfrm>
          <a:prstGeom prst="roundRect">
            <a:avLst>
              <a:gd name="adj" fmla="val 8571"/>
            </a:avLst>
          </a:prstGeom>
          <a:solidFill>
            <a:srgbClr val="E7F5EC"/>
          </a:solidFill>
          <a:ln w="17780">
            <a:solidFill>
              <a:srgbClr val="1E8449"/>
            </a:solidFill>
            <a:prstDash val="solid"/>
          </a:ln>
        </p:spPr>
      </p:sp>
      <p:sp>
        <p:nvSpPr>
          <p:cNvPr id="34" name="Text 31"/>
          <p:cNvSpPr/>
          <p:nvPr/>
        </p:nvSpPr>
        <p:spPr>
          <a:xfrm>
            <a:off x="7402068" y="3758184"/>
            <a:ext cx="1499616" cy="352044"/>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Healthy</a:t>
            </a:r>
            <a:endParaRPr lang="en-US" sz="1050" dirty="0"/>
          </a:p>
        </p:txBody>
      </p:sp>
      <p:sp>
        <p:nvSpPr>
          <p:cNvPr id="35" name="Text 32"/>
          <p:cNvSpPr/>
          <p:nvPr/>
        </p:nvSpPr>
        <p:spPr>
          <a:xfrm>
            <a:off x="7402068" y="4036162"/>
            <a:ext cx="1499616" cy="268834"/>
          </a:xfrm>
          <a:prstGeom prst="rect">
            <a:avLst/>
          </a:prstGeom>
          <a:noFill/>
          <a:ln/>
        </p:spPr>
        <p:txBody>
          <a:bodyPr wrap="square" lIns="0" tIns="0" rIns="0" bIns="0" rtlCol="0" anchor="ctr"/>
          <a:lstStyle/>
          <a:p>
            <a:pPr algn="ctr" indent="0" marL="0">
              <a:buNone/>
            </a:pPr>
            <a:r>
              <a:rPr lang="en-US" sz="830" dirty="0">
                <a:solidFill>
                  <a:srgbClr val="1E8449"/>
                </a:solidFill>
                <a:latin typeface="Calibri" pitchFamily="34" charset="0"/>
                <a:ea typeface="Calibri" pitchFamily="34" charset="-122"/>
                <a:cs typeface="Calibri" pitchFamily="34" charset="-120"/>
              </a:rPr>
              <a:t>Call proceeds normally</a:t>
            </a:r>
            <a:endParaRPr lang="en-US" sz="830" dirty="0"/>
          </a:p>
        </p:txBody>
      </p:sp>
      <p:sp>
        <p:nvSpPr>
          <p:cNvPr id="36" name="Shape 33"/>
          <p:cNvSpPr/>
          <p:nvPr/>
        </p:nvSpPr>
        <p:spPr>
          <a:xfrm>
            <a:off x="9066276" y="3703320"/>
            <a:ext cx="1645920" cy="640080"/>
          </a:xfrm>
          <a:prstGeom prst="roundRect">
            <a:avLst>
              <a:gd name="adj" fmla="val 8571"/>
            </a:avLst>
          </a:prstGeom>
          <a:solidFill>
            <a:srgbClr val="FCF3DF"/>
          </a:solidFill>
          <a:ln w="17780">
            <a:solidFill>
              <a:srgbClr val="B7791F"/>
            </a:solidFill>
            <a:prstDash val="solid"/>
          </a:ln>
        </p:spPr>
      </p:sp>
      <p:sp>
        <p:nvSpPr>
          <p:cNvPr id="37" name="Text 34"/>
          <p:cNvSpPr/>
          <p:nvPr/>
        </p:nvSpPr>
        <p:spPr>
          <a:xfrm>
            <a:off x="9139428" y="3758184"/>
            <a:ext cx="1499616" cy="352044"/>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Degraded</a:t>
            </a:r>
            <a:endParaRPr lang="en-US" sz="1050" dirty="0"/>
          </a:p>
        </p:txBody>
      </p:sp>
      <p:sp>
        <p:nvSpPr>
          <p:cNvPr id="38" name="Text 35"/>
          <p:cNvSpPr/>
          <p:nvPr/>
        </p:nvSpPr>
        <p:spPr>
          <a:xfrm>
            <a:off x="9139428" y="4036162"/>
            <a:ext cx="1499616" cy="268834"/>
          </a:xfrm>
          <a:prstGeom prst="rect">
            <a:avLst/>
          </a:prstGeom>
          <a:noFill/>
          <a:ln/>
        </p:spPr>
        <p:txBody>
          <a:bodyPr wrap="square" lIns="0" tIns="0" rIns="0" bIns="0" rtlCol="0" anchor="ctr"/>
          <a:lstStyle/>
          <a:p>
            <a:pPr algn="ctr" indent="0" marL="0">
              <a:buNone/>
            </a:pPr>
            <a:r>
              <a:rPr lang="en-US" sz="830" dirty="0">
                <a:solidFill>
                  <a:srgbClr val="B7791F"/>
                </a:solidFill>
                <a:latin typeface="Calibri" pitchFamily="34" charset="0"/>
                <a:ea typeface="Calibri" pitchFamily="34" charset="-122"/>
                <a:cs typeface="Calibri" pitchFamily="34" charset="-120"/>
              </a:rPr>
              <a:t>Fallback response used</a:t>
            </a:r>
            <a:endParaRPr lang="en-US" sz="830" dirty="0"/>
          </a:p>
        </p:txBody>
      </p:sp>
      <p:sp>
        <p:nvSpPr>
          <p:cNvPr id="39" name="Shape 36"/>
          <p:cNvSpPr/>
          <p:nvPr/>
        </p:nvSpPr>
        <p:spPr>
          <a:xfrm>
            <a:off x="8151876" y="4370832"/>
            <a:ext cx="0" cy="201168"/>
          </a:xfrm>
          <a:prstGeom prst="line">
            <a:avLst/>
          </a:prstGeom>
          <a:noFill/>
          <a:ln w="16510">
            <a:solidFill>
              <a:srgbClr val="1E8449"/>
            </a:solidFill>
            <a:prstDash val="solid"/>
          </a:ln>
        </p:spPr>
      </p:sp>
      <p:sp>
        <p:nvSpPr>
          <p:cNvPr id="40" name="Shape 37"/>
          <p:cNvSpPr/>
          <p:nvPr/>
        </p:nvSpPr>
        <p:spPr>
          <a:xfrm>
            <a:off x="9889236" y="4370832"/>
            <a:ext cx="0" cy="201168"/>
          </a:xfrm>
          <a:prstGeom prst="line">
            <a:avLst/>
          </a:prstGeom>
          <a:noFill/>
          <a:ln w="16510">
            <a:solidFill>
              <a:srgbClr val="B7791F"/>
            </a:solidFill>
            <a:prstDash val="solid"/>
          </a:ln>
        </p:spPr>
      </p:sp>
      <p:sp>
        <p:nvSpPr>
          <p:cNvPr id="41" name="Shape 38"/>
          <p:cNvSpPr/>
          <p:nvPr/>
        </p:nvSpPr>
        <p:spPr>
          <a:xfrm>
            <a:off x="8151876" y="4572000"/>
            <a:ext cx="1737360" cy="0"/>
          </a:xfrm>
          <a:prstGeom prst="line">
            <a:avLst/>
          </a:prstGeom>
          <a:noFill/>
          <a:ln w="15240">
            <a:solidFill>
              <a:srgbClr val="94A3B8"/>
            </a:solidFill>
            <a:prstDash val="solid"/>
          </a:ln>
        </p:spPr>
      </p:sp>
      <p:sp>
        <p:nvSpPr>
          <p:cNvPr id="42" name="Shape 39"/>
          <p:cNvSpPr/>
          <p:nvPr/>
        </p:nvSpPr>
        <p:spPr>
          <a:xfrm>
            <a:off x="9020556" y="4572000"/>
            <a:ext cx="0" cy="320040"/>
          </a:xfrm>
          <a:prstGeom prst="line">
            <a:avLst/>
          </a:prstGeom>
          <a:noFill/>
          <a:ln w="19050">
            <a:solidFill>
              <a:srgbClr val="94A3B8"/>
            </a:solidFill>
            <a:prstDash val="solid"/>
            <a:tailEnd type="triangle"/>
          </a:ln>
        </p:spPr>
      </p:sp>
      <p:sp>
        <p:nvSpPr>
          <p:cNvPr id="43" name="Shape 40"/>
          <p:cNvSpPr/>
          <p:nvPr/>
        </p:nvSpPr>
        <p:spPr>
          <a:xfrm>
            <a:off x="7374636" y="4937760"/>
            <a:ext cx="3291840" cy="548640"/>
          </a:xfrm>
          <a:prstGeom prst="roundRect">
            <a:avLst>
              <a:gd name="adj" fmla="val 10000"/>
            </a:avLst>
          </a:prstGeom>
          <a:solidFill>
            <a:srgbClr val="E7F5EC"/>
          </a:solidFill>
          <a:ln w="17780">
            <a:solidFill>
              <a:srgbClr val="1E8449"/>
            </a:solidFill>
            <a:prstDash val="solid"/>
          </a:ln>
        </p:spPr>
      </p:sp>
      <p:sp>
        <p:nvSpPr>
          <p:cNvPr id="44" name="Text 41"/>
          <p:cNvSpPr/>
          <p:nvPr/>
        </p:nvSpPr>
        <p:spPr>
          <a:xfrm>
            <a:off x="7447788" y="4937760"/>
            <a:ext cx="3145536" cy="548640"/>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Page renders either way</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1B4F8C"/>
          </a:solidFill>
          <a:ln/>
        </p:spPr>
      </p:sp>
      <p:sp>
        <p:nvSpPr>
          <p:cNvPr id="3" name="Text 1"/>
          <p:cNvSpPr/>
          <p:nvPr/>
        </p:nvSpPr>
        <p:spPr>
          <a:xfrm>
            <a:off x="11155680" y="6519672"/>
            <a:ext cx="822960" cy="256032"/>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09 / 13</a:t>
            </a:r>
            <a:endParaRPr lang="en-US" sz="950" dirty="0"/>
          </a:p>
        </p:txBody>
      </p:sp>
      <p:sp>
        <p:nvSpPr>
          <p:cNvPr id="4" name="Text 2"/>
          <p:cNvSpPr/>
          <p:nvPr/>
        </p:nvSpPr>
        <p:spPr>
          <a:xfrm>
            <a:off x="548640" y="6519672"/>
            <a:ext cx="4572000" cy="256032"/>
          </a:xfrm>
          <a:prstGeom prst="rect">
            <a:avLst/>
          </a:prstGeom>
          <a:noFill/>
          <a:ln/>
        </p:spPr>
        <p:txBody>
          <a:bodyPr wrap="square" lIns="0" tIns="0" rIns="0" bIns="0" rtlCol="0" anchor="ctr"/>
          <a:lstStyle/>
          <a:p>
            <a:pPr indent="0" marL="0">
              <a:buNone/>
            </a:pPr>
            <a:r>
              <a:rPr lang="en-US" sz="850" spc="100" kern="0" dirty="0">
                <a:solidFill>
                  <a:srgbClr val="94A3B8"/>
                </a:solidFill>
                <a:latin typeface="Calibri" pitchFamily="34" charset="0"/>
                <a:ea typeface="Calibri" pitchFamily="34" charset="-122"/>
                <a:cs typeface="Calibri" pitchFamily="34" charset="-120"/>
              </a:rPr>
              <a:t>ACCOUNT HOME PERFORMANCE PROGRAM</a:t>
            </a:r>
            <a:endParaRPr lang="en-US" sz="850" dirty="0"/>
          </a:p>
        </p:txBody>
      </p:sp>
      <p:sp>
        <p:nvSpPr>
          <p:cNvPr id="5" name="Text 3"/>
          <p:cNvSpPr/>
          <p:nvPr/>
        </p:nvSpPr>
        <p:spPr>
          <a:xfrm>
            <a:off x="566928" y="310896"/>
            <a:ext cx="3657600" cy="237744"/>
          </a:xfrm>
          <a:prstGeom prst="rect">
            <a:avLst/>
          </a:prstGeom>
          <a:noFill/>
          <a:ln/>
        </p:spPr>
        <p:txBody>
          <a:bodyPr wrap="square" lIns="0" tIns="0" rIns="0" bIns="0" rtlCol="0" anchor="ctr"/>
          <a:lstStyle/>
          <a:p>
            <a:pPr indent="0" marL="0">
              <a:buNone/>
            </a:pPr>
            <a:r>
              <a:rPr lang="en-US" sz="1050" b="1" spc="220" kern="0" dirty="0">
                <a:solidFill>
                  <a:srgbClr val="1E8449"/>
                </a:solidFill>
                <a:latin typeface="Arial" pitchFamily="34" charset="0"/>
                <a:ea typeface="Arial" pitchFamily="34" charset="-122"/>
                <a:cs typeface="Arial" pitchFamily="34" charset="-120"/>
              </a:rPr>
              <a:t>PATTERN 08</a:t>
            </a:r>
            <a:endParaRPr lang="en-US" sz="1050" dirty="0"/>
          </a:p>
        </p:txBody>
      </p:sp>
      <p:sp>
        <p:nvSpPr>
          <p:cNvPr id="6" name="Text 4"/>
          <p:cNvSpPr/>
          <p:nvPr/>
        </p:nvSpPr>
        <p:spPr>
          <a:xfrm>
            <a:off x="548640" y="530352"/>
            <a:ext cx="8595360" cy="502920"/>
          </a:xfrm>
          <a:prstGeom prst="rect">
            <a:avLst/>
          </a:prstGeom>
          <a:noFill/>
          <a:ln/>
        </p:spPr>
        <p:txBody>
          <a:bodyPr wrap="square" lIns="0" tIns="0" rIns="0" bIns="0" rtlCol="0" anchor="ctr"/>
          <a:lstStyle/>
          <a:p>
            <a:pPr indent="0" marL="0">
              <a:buNone/>
            </a:pPr>
            <a:r>
              <a:rPr lang="en-US" sz="2400" b="1" dirty="0">
                <a:solidFill>
                  <a:srgbClr val="0B2545"/>
                </a:solidFill>
                <a:latin typeface="Arial" pitchFamily="34" charset="0"/>
                <a:ea typeface="Arial" pitchFamily="34" charset="-122"/>
                <a:cs typeface="Arial" pitchFamily="34" charset="-120"/>
              </a:rPr>
              <a:t>API Gateway Policy Layer</a:t>
            </a:r>
            <a:endParaRPr lang="en-US" sz="2400" dirty="0"/>
          </a:p>
        </p:txBody>
      </p:sp>
      <p:sp>
        <p:nvSpPr>
          <p:cNvPr id="7" name="Shape 5"/>
          <p:cNvSpPr/>
          <p:nvPr/>
        </p:nvSpPr>
        <p:spPr>
          <a:xfrm>
            <a:off x="10058400" y="603504"/>
            <a:ext cx="1371600" cy="292608"/>
          </a:xfrm>
          <a:prstGeom prst="roundRect">
            <a:avLst>
              <a:gd name="adj" fmla="val 50000"/>
            </a:avLst>
          </a:prstGeom>
          <a:solidFill>
            <a:srgbClr val="E7F5EC"/>
          </a:solidFill>
          <a:ln w="13970">
            <a:solidFill>
              <a:srgbClr val="1E8449"/>
            </a:solidFill>
            <a:prstDash val="solid"/>
          </a:ln>
        </p:spPr>
      </p:sp>
      <p:sp>
        <p:nvSpPr>
          <p:cNvPr id="8" name="Text 6"/>
          <p:cNvSpPr/>
          <p:nvPr/>
        </p:nvSpPr>
        <p:spPr>
          <a:xfrm>
            <a:off x="10058400" y="603504"/>
            <a:ext cx="1371600" cy="292608"/>
          </a:xfrm>
          <a:prstGeom prst="rect">
            <a:avLst/>
          </a:prstGeom>
          <a:noFill/>
          <a:ln/>
        </p:spPr>
        <p:txBody>
          <a:bodyPr wrap="square" lIns="0" tIns="0" rIns="0" bIns="0" rtlCol="0" anchor="ctr"/>
          <a:lstStyle/>
          <a:p>
            <a:pPr algn="ctr" indent="0" marL="0">
              <a:buNone/>
            </a:pPr>
            <a:r>
              <a:rPr lang="en-US" sz="1100" b="1" dirty="0">
                <a:solidFill>
                  <a:srgbClr val="1E8449"/>
                </a:solidFill>
                <a:latin typeface="Arial" pitchFamily="34" charset="0"/>
                <a:ea typeface="Arial" pitchFamily="34" charset="-122"/>
                <a:cs typeface="Arial" pitchFamily="34" charset="-120"/>
              </a:rPr>
              <a:t>APPLIED</a:t>
            </a:r>
            <a:endParaRPr lang="en-US" sz="1100" dirty="0"/>
          </a:p>
        </p:txBody>
      </p:sp>
      <p:sp>
        <p:nvSpPr>
          <p:cNvPr id="9" name="Shape 7"/>
          <p:cNvSpPr/>
          <p:nvPr/>
        </p:nvSpPr>
        <p:spPr>
          <a:xfrm>
            <a:off x="566928" y="1298448"/>
            <a:ext cx="11064240" cy="0"/>
          </a:xfrm>
          <a:prstGeom prst="line">
            <a:avLst/>
          </a:prstGeom>
          <a:noFill/>
          <a:ln w="12700">
            <a:solidFill>
              <a:srgbClr val="D9E2EC"/>
            </a:solidFill>
            <a:prstDash val="solid"/>
          </a:ln>
        </p:spPr>
      </p:sp>
      <p:sp>
        <p:nvSpPr>
          <p:cNvPr id="10" name="Shape 8"/>
          <p:cNvSpPr/>
          <p:nvPr/>
        </p:nvSpPr>
        <p:spPr>
          <a:xfrm>
            <a:off x="548640" y="1444752"/>
            <a:ext cx="457200" cy="457200"/>
          </a:xfrm>
          <a:prstGeom prst="ellipse">
            <a:avLst/>
          </a:prstGeom>
          <a:solidFill>
            <a:srgbClr val="E7F5EC"/>
          </a:solidFill>
          <a:ln w="12700">
            <a:solidFill>
              <a:srgbClr val="1E8449"/>
            </a:solidFill>
            <a:prstDash val="solid"/>
          </a:ln>
        </p:spPr>
      </p:sp>
      <p:pic>
        <p:nvPicPr>
          <p:cNvPr id="11" name="Image 0" descr="preencoded.png">    </p:cNvPr>
          <p:cNvPicPr>
            <a:picLocks noChangeAspect="1"/>
          </p:cNvPicPr>
          <p:nvPr/>
        </p:nvPicPr>
        <p:blipFill>
          <a:blip r:embed="rId1"/>
          <a:stretch>
            <a:fillRect/>
          </a:stretch>
        </p:blipFill>
        <p:spPr>
          <a:xfrm>
            <a:off x="672084" y="1568196"/>
            <a:ext cx="210312" cy="210312"/>
          </a:xfrm>
          <a:prstGeom prst="rect">
            <a:avLst/>
          </a:prstGeom>
        </p:spPr>
      </p:pic>
      <p:sp>
        <p:nvSpPr>
          <p:cNvPr id="12" name="Shape 9"/>
          <p:cNvSpPr/>
          <p:nvPr/>
        </p:nvSpPr>
        <p:spPr>
          <a:xfrm>
            <a:off x="1170432" y="1499616"/>
            <a:ext cx="137160" cy="137160"/>
          </a:xfrm>
          <a:prstGeom prst="roundRect">
            <a:avLst>
              <a:gd name="adj" fmla="val 20000"/>
            </a:avLst>
          </a:prstGeom>
          <a:solidFill>
            <a:srgbClr val="1E8449"/>
          </a:solidFill>
          <a:ln/>
        </p:spPr>
      </p:sp>
      <p:sp>
        <p:nvSpPr>
          <p:cNvPr id="13" name="Text 10"/>
          <p:cNvSpPr/>
          <p:nvPr/>
        </p:nvSpPr>
        <p:spPr>
          <a:xfrm>
            <a:off x="1426464" y="1426464"/>
            <a:ext cx="4636008" cy="502920"/>
          </a:xfrm>
          <a:prstGeom prst="rect">
            <a:avLst/>
          </a:prstGeom>
          <a:noFill/>
          <a:ln/>
        </p:spPr>
        <p:txBody>
          <a:bodyPr wrap="square" lIns="0" tIns="0" rIns="0" bIns="0" rtlCol="0" anchor="t"/>
          <a:lstStyle/>
          <a:p>
            <a:pPr indent="0" marL="0">
              <a:lnSpc>
                <a:spcPts val="1550"/>
              </a:lnSpc>
              <a:buNone/>
            </a:pPr>
            <a:r>
              <a:rPr lang="en-US" sz="1150" dirty="0">
                <a:solidFill>
                  <a:srgbClr val="27364B"/>
                </a:solidFill>
                <a:latin typeface="Calibri" pitchFamily="34" charset="0"/>
                <a:ea typeface="Calibri" pitchFamily="34" charset="-122"/>
                <a:cs typeface="Calibri" pitchFamily="34" charset="-120"/>
              </a:rPr>
              <a:t>Multiple gateways are in place: the B2C Channel Gateway, the Kong DLZ Gateway, and Mule ESB.</a:t>
            </a:r>
            <a:endParaRPr lang="en-US" sz="1150" dirty="0"/>
          </a:p>
        </p:txBody>
      </p:sp>
      <p:sp>
        <p:nvSpPr>
          <p:cNvPr id="14" name="Shape 11"/>
          <p:cNvSpPr/>
          <p:nvPr/>
        </p:nvSpPr>
        <p:spPr>
          <a:xfrm>
            <a:off x="1170432" y="2114758"/>
            <a:ext cx="137160" cy="137160"/>
          </a:xfrm>
          <a:prstGeom prst="roundRect">
            <a:avLst>
              <a:gd name="adj" fmla="val 20000"/>
            </a:avLst>
          </a:prstGeom>
          <a:solidFill>
            <a:srgbClr val="1E8449"/>
          </a:solidFill>
          <a:ln/>
        </p:spPr>
      </p:sp>
      <p:sp>
        <p:nvSpPr>
          <p:cNvPr id="15" name="Text 12"/>
          <p:cNvSpPr/>
          <p:nvPr/>
        </p:nvSpPr>
        <p:spPr>
          <a:xfrm>
            <a:off x="1426464" y="2041606"/>
            <a:ext cx="4636008" cy="502920"/>
          </a:xfrm>
          <a:prstGeom prst="rect">
            <a:avLst/>
          </a:prstGeom>
          <a:noFill/>
          <a:ln/>
        </p:spPr>
        <p:txBody>
          <a:bodyPr wrap="square" lIns="0" tIns="0" rIns="0" bIns="0" rtlCol="0" anchor="t"/>
          <a:lstStyle/>
          <a:p>
            <a:pPr indent="0" marL="0">
              <a:lnSpc>
                <a:spcPts val="1550"/>
              </a:lnSpc>
              <a:buNone/>
            </a:pPr>
            <a:r>
              <a:rPr lang="en-US" sz="1150" dirty="0">
                <a:solidFill>
                  <a:srgbClr val="27364B"/>
                </a:solidFill>
                <a:latin typeface="Calibri" pitchFamily="34" charset="0"/>
                <a:ea typeface="Calibri" pitchFamily="34" charset="-122"/>
                <a:cs typeface="Calibri" pitchFamily="34" charset="-120"/>
              </a:rPr>
              <a:t>The Akamai CDN is correctly documented as a separate edge layer, not conflated with gateway policy.</a:t>
            </a:r>
            <a:endParaRPr lang="en-US" sz="1150" dirty="0"/>
          </a:p>
        </p:txBody>
      </p:sp>
      <p:sp>
        <p:nvSpPr>
          <p:cNvPr id="16" name="Shape 13"/>
          <p:cNvSpPr/>
          <p:nvPr/>
        </p:nvSpPr>
        <p:spPr>
          <a:xfrm>
            <a:off x="548640" y="2743200"/>
            <a:ext cx="5532120" cy="1051560"/>
          </a:xfrm>
          <a:prstGeom prst="roundRect">
            <a:avLst>
              <a:gd name="adj" fmla="val 4348"/>
            </a:avLst>
          </a:prstGeom>
          <a:solidFill>
            <a:srgbClr val="E7F5EC"/>
          </a:solidFill>
          <a:ln w="12700">
            <a:solidFill>
              <a:srgbClr val="1E8449"/>
            </a:solidFill>
            <a:prstDash val="solid"/>
          </a:ln>
        </p:spPr>
      </p:sp>
      <p:sp>
        <p:nvSpPr>
          <p:cNvPr id="17" name="Text 14"/>
          <p:cNvSpPr/>
          <p:nvPr/>
        </p:nvSpPr>
        <p:spPr>
          <a:xfrm>
            <a:off x="713232" y="2825496"/>
            <a:ext cx="5202936" cy="201168"/>
          </a:xfrm>
          <a:prstGeom prst="rect">
            <a:avLst/>
          </a:prstGeom>
          <a:noFill/>
          <a:ln/>
        </p:spPr>
        <p:txBody>
          <a:bodyPr wrap="square" lIns="0" tIns="0" rIns="0" bIns="0" rtlCol="0" anchor="ctr"/>
          <a:lstStyle/>
          <a:p>
            <a:pPr indent="0" marL="0">
              <a:buNone/>
            </a:pPr>
            <a:r>
              <a:rPr lang="en-US" sz="950" b="1" spc="100" kern="0" dirty="0">
                <a:solidFill>
                  <a:srgbClr val="1E8449"/>
                </a:solidFill>
                <a:latin typeface="Arial" pitchFamily="34" charset="0"/>
                <a:ea typeface="Arial" pitchFamily="34" charset="-122"/>
                <a:cs typeface="Arial" pitchFamily="34" charset="-120"/>
              </a:rPr>
              <a:t>ADVANTAGE</a:t>
            </a:r>
            <a:endParaRPr lang="en-US" sz="950" dirty="0"/>
          </a:p>
        </p:txBody>
      </p:sp>
      <p:sp>
        <p:nvSpPr>
          <p:cNvPr id="18" name="Text 15"/>
          <p:cNvSpPr/>
          <p:nvPr/>
        </p:nvSpPr>
        <p:spPr>
          <a:xfrm>
            <a:off x="713232" y="3035808"/>
            <a:ext cx="5202936" cy="685800"/>
          </a:xfrm>
          <a:prstGeom prst="rect">
            <a:avLst/>
          </a:prstGeom>
          <a:noFill/>
          <a:ln/>
        </p:spPr>
        <p:txBody>
          <a:bodyPr wrap="square" lIns="0" tIns="0" rIns="0" bIns="0" rtlCol="0" anchor="t"/>
          <a:lstStyle/>
          <a:p>
            <a:pPr indent="0" marL="0">
              <a:lnSpc>
                <a:spcPts val="1450"/>
              </a:lnSpc>
              <a:buNone/>
            </a:pPr>
            <a:r>
              <a:rPr lang="en-US" sz="1080" dirty="0">
                <a:solidFill>
                  <a:srgbClr val="27364B"/>
                </a:solidFill>
                <a:latin typeface="Calibri" pitchFamily="34" charset="0"/>
                <a:ea typeface="Calibri" pitchFamily="34" charset="-122"/>
                <a:cs typeface="Calibri" pitchFamily="34" charset="-120"/>
              </a:rPr>
              <a:t>Edge concerns (TLS, caching, DDoS) and policy concerns (auth, routing) are handled by different layers — each can scale and change independently.</a:t>
            </a:r>
            <a:endParaRPr lang="en-US" sz="1080" dirty="0"/>
          </a:p>
        </p:txBody>
      </p:sp>
      <p:sp>
        <p:nvSpPr>
          <p:cNvPr id="19" name="Shape 16"/>
          <p:cNvSpPr/>
          <p:nvPr/>
        </p:nvSpPr>
        <p:spPr>
          <a:xfrm>
            <a:off x="548640" y="4087368"/>
            <a:ext cx="5532120" cy="777240"/>
          </a:xfrm>
          <a:prstGeom prst="roundRect">
            <a:avLst>
              <a:gd name="adj" fmla="val 5882"/>
            </a:avLst>
          </a:prstGeom>
          <a:solidFill>
            <a:srgbClr val="FCF3DF"/>
          </a:solidFill>
          <a:ln w="12700">
            <a:solidFill>
              <a:srgbClr val="B7791F"/>
            </a:solidFill>
            <a:prstDash val="solid"/>
          </a:ln>
        </p:spPr>
      </p:sp>
      <p:sp>
        <p:nvSpPr>
          <p:cNvPr id="20" name="Text 17"/>
          <p:cNvSpPr/>
          <p:nvPr/>
        </p:nvSpPr>
        <p:spPr>
          <a:xfrm>
            <a:off x="713232" y="4169664"/>
            <a:ext cx="5202936" cy="201168"/>
          </a:xfrm>
          <a:prstGeom prst="rect">
            <a:avLst/>
          </a:prstGeom>
          <a:noFill/>
          <a:ln/>
        </p:spPr>
        <p:txBody>
          <a:bodyPr wrap="square" lIns="0" tIns="0" rIns="0" bIns="0" rtlCol="0" anchor="ctr"/>
          <a:lstStyle/>
          <a:p>
            <a:pPr indent="0" marL="0">
              <a:buNone/>
            </a:pPr>
            <a:r>
              <a:rPr lang="en-US" sz="950" b="1" spc="100" kern="0" dirty="0">
                <a:solidFill>
                  <a:srgbClr val="B7791F"/>
                </a:solidFill>
                <a:latin typeface="Arial" pitchFamily="34" charset="0"/>
                <a:ea typeface="Arial" pitchFamily="34" charset="-122"/>
                <a:cs typeface="Arial" pitchFamily="34" charset="-120"/>
              </a:rPr>
              <a:t>REFINEMENT</a:t>
            </a:r>
            <a:endParaRPr lang="en-US" sz="950" dirty="0"/>
          </a:p>
        </p:txBody>
      </p:sp>
      <p:sp>
        <p:nvSpPr>
          <p:cNvPr id="21" name="Text 18"/>
          <p:cNvSpPr/>
          <p:nvPr/>
        </p:nvSpPr>
        <p:spPr>
          <a:xfrm>
            <a:off x="713232" y="4379976"/>
            <a:ext cx="5202936" cy="411480"/>
          </a:xfrm>
          <a:prstGeom prst="rect">
            <a:avLst/>
          </a:prstGeom>
          <a:noFill/>
          <a:ln/>
        </p:spPr>
        <p:txBody>
          <a:bodyPr wrap="square" lIns="0" tIns="0" rIns="0" bIns="0" rtlCol="0" anchor="t"/>
          <a:lstStyle/>
          <a:p>
            <a:pPr indent="0" marL="0">
              <a:lnSpc>
                <a:spcPts val="1450"/>
              </a:lnSpc>
              <a:buNone/>
            </a:pPr>
            <a:r>
              <a:rPr lang="en-US" sz="1080" dirty="0">
                <a:solidFill>
                  <a:srgbClr val="27364B"/>
                </a:solidFill>
                <a:latin typeface="Calibri" pitchFamily="34" charset="0"/>
                <a:ea typeface="Calibri" pitchFamily="34" charset="-122"/>
                <a:cs typeface="Calibri" pitchFamily="34" charset="-120"/>
              </a:rPr>
              <a:t>No unified rate-limiting or versioning policy across the three gateways yet.</a:t>
            </a:r>
            <a:endParaRPr lang="en-US" sz="1080" dirty="0"/>
          </a:p>
        </p:txBody>
      </p:sp>
      <p:sp>
        <p:nvSpPr>
          <p:cNvPr id="22" name="Text 19"/>
          <p:cNvSpPr/>
          <p:nvPr/>
        </p:nvSpPr>
        <p:spPr>
          <a:xfrm>
            <a:off x="548640" y="6263640"/>
            <a:ext cx="5486400" cy="219456"/>
          </a:xfrm>
          <a:prstGeom prst="rect">
            <a:avLst/>
          </a:prstGeom>
          <a:noFill/>
          <a:ln/>
        </p:spPr>
        <p:txBody>
          <a:bodyPr wrap="square" lIns="0" tIns="0" rIns="0" bIns="0"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SOURCE  ·  AD: Account Home (pg. 708936606)</a:t>
            </a:r>
            <a:endParaRPr lang="en-US" sz="900" dirty="0"/>
          </a:p>
        </p:txBody>
      </p:sp>
      <p:sp>
        <p:nvSpPr>
          <p:cNvPr id="23" name="Shape 20"/>
          <p:cNvSpPr/>
          <p:nvPr/>
        </p:nvSpPr>
        <p:spPr>
          <a:xfrm>
            <a:off x="6400800" y="1481328"/>
            <a:ext cx="5239512" cy="4828032"/>
          </a:xfrm>
          <a:prstGeom prst="roundRect">
            <a:avLst>
              <a:gd name="adj" fmla="val 1136"/>
            </a:avLst>
          </a:prstGeom>
          <a:solidFill>
            <a:srgbClr val="F5F9FE"/>
          </a:solidFill>
          <a:ln w="12700">
            <a:solidFill>
              <a:srgbClr val="D9E2EC"/>
            </a:solidFill>
            <a:prstDash val="solid"/>
          </a:ln>
        </p:spPr>
      </p:sp>
      <p:sp>
        <p:nvSpPr>
          <p:cNvPr id="24" name="Text 21"/>
          <p:cNvSpPr/>
          <p:nvPr/>
        </p:nvSpPr>
        <p:spPr>
          <a:xfrm>
            <a:off x="6583680" y="1627632"/>
            <a:ext cx="4873752" cy="219456"/>
          </a:xfrm>
          <a:prstGeom prst="rect">
            <a:avLst/>
          </a:prstGeom>
          <a:noFill/>
          <a:ln/>
        </p:spPr>
        <p:txBody>
          <a:bodyPr wrap="square" lIns="0" tIns="0" rIns="0" bIns="0" rtlCol="0" anchor="ctr"/>
          <a:lstStyle/>
          <a:p>
            <a:pPr indent="0" marL="0">
              <a:buNone/>
            </a:pPr>
            <a:r>
              <a:rPr lang="en-US" sz="950" b="1" spc="140" kern="0" dirty="0">
                <a:solidFill>
                  <a:srgbClr val="1B4F8C"/>
                </a:solidFill>
                <a:latin typeface="Arial" pitchFamily="34" charset="0"/>
                <a:ea typeface="Arial" pitchFamily="34" charset="-122"/>
                <a:cs typeface="Arial" pitchFamily="34" charset="-120"/>
              </a:rPr>
              <a:t>HOW IT WORKS</a:t>
            </a:r>
            <a:endParaRPr lang="en-US" sz="950" dirty="0"/>
          </a:p>
        </p:txBody>
      </p:sp>
      <p:sp>
        <p:nvSpPr>
          <p:cNvPr id="25" name="Shape 22"/>
          <p:cNvSpPr/>
          <p:nvPr/>
        </p:nvSpPr>
        <p:spPr>
          <a:xfrm>
            <a:off x="6583680" y="1920240"/>
            <a:ext cx="4873752" cy="0"/>
          </a:xfrm>
          <a:prstGeom prst="line">
            <a:avLst/>
          </a:prstGeom>
          <a:noFill/>
          <a:ln w="12700">
            <a:solidFill>
              <a:srgbClr val="D9E2EC"/>
            </a:solidFill>
            <a:prstDash val="solid"/>
          </a:ln>
        </p:spPr>
      </p:sp>
      <p:sp>
        <p:nvSpPr>
          <p:cNvPr id="26" name="Shape 23"/>
          <p:cNvSpPr/>
          <p:nvPr/>
        </p:nvSpPr>
        <p:spPr>
          <a:xfrm>
            <a:off x="7374636" y="1920240"/>
            <a:ext cx="3291840" cy="502920"/>
          </a:xfrm>
          <a:prstGeom prst="roundRect">
            <a:avLst>
              <a:gd name="adj" fmla="val 10909"/>
            </a:avLst>
          </a:prstGeom>
          <a:solidFill>
            <a:srgbClr val="EAF2FC"/>
          </a:solidFill>
          <a:ln w="17780">
            <a:solidFill>
              <a:srgbClr val="1B4F8C"/>
            </a:solidFill>
            <a:prstDash val="solid"/>
          </a:ln>
        </p:spPr>
      </p:sp>
      <p:sp>
        <p:nvSpPr>
          <p:cNvPr id="27" name="Text 24"/>
          <p:cNvSpPr/>
          <p:nvPr/>
        </p:nvSpPr>
        <p:spPr>
          <a:xfrm>
            <a:off x="7447788" y="1920240"/>
            <a:ext cx="3145536" cy="502920"/>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Client</a:t>
            </a:r>
            <a:endParaRPr lang="en-US" sz="1050" dirty="0"/>
          </a:p>
        </p:txBody>
      </p:sp>
      <p:sp>
        <p:nvSpPr>
          <p:cNvPr id="28" name="Shape 25"/>
          <p:cNvSpPr/>
          <p:nvPr/>
        </p:nvSpPr>
        <p:spPr>
          <a:xfrm>
            <a:off x="9020556" y="2441448"/>
            <a:ext cx="0" cy="292608"/>
          </a:xfrm>
          <a:prstGeom prst="line">
            <a:avLst/>
          </a:prstGeom>
          <a:noFill/>
          <a:ln w="19050">
            <a:solidFill>
              <a:srgbClr val="1B4F8C"/>
            </a:solidFill>
            <a:prstDash val="solid"/>
            <a:tailEnd type="triangle"/>
          </a:ln>
        </p:spPr>
      </p:sp>
      <p:sp>
        <p:nvSpPr>
          <p:cNvPr id="29" name="Shape 26"/>
          <p:cNvSpPr/>
          <p:nvPr/>
        </p:nvSpPr>
        <p:spPr>
          <a:xfrm>
            <a:off x="7374636" y="2761488"/>
            <a:ext cx="3291840" cy="502920"/>
          </a:xfrm>
          <a:prstGeom prst="roundRect">
            <a:avLst>
              <a:gd name="adj" fmla="val 10909"/>
            </a:avLst>
          </a:prstGeom>
          <a:solidFill>
            <a:srgbClr val="FFFFFF"/>
          </a:solidFill>
          <a:ln w="17780">
            <a:solidFill>
              <a:srgbClr val="1B4F8C"/>
            </a:solidFill>
            <a:prstDash val="solid"/>
          </a:ln>
        </p:spPr>
      </p:sp>
      <p:sp>
        <p:nvSpPr>
          <p:cNvPr id="30" name="Text 27"/>
          <p:cNvSpPr/>
          <p:nvPr/>
        </p:nvSpPr>
        <p:spPr>
          <a:xfrm>
            <a:off x="7447788" y="2761488"/>
            <a:ext cx="3145536" cy="502920"/>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Akamai CDN — edge layer</a:t>
            </a:r>
            <a:endParaRPr lang="en-US" sz="1050" dirty="0"/>
          </a:p>
        </p:txBody>
      </p:sp>
      <p:sp>
        <p:nvSpPr>
          <p:cNvPr id="31" name="Shape 28"/>
          <p:cNvSpPr/>
          <p:nvPr/>
        </p:nvSpPr>
        <p:spPr>
          <a:xfrm>
            <a:off x="9020556" y="3291840"/>
            <a:ext cx="0" cy="292608"/>
          </a:xfrm>
          <a:prstGeom prst="line">
            <a:avLst/>
          </a:prstGeom>
          <a:noFill/>
          <a:ln w="19050">
            <a:solidFill>
              <a:srgbClr val="1B4F8C"/>
            </a:solidFill>
            <a:prstDash val="solid"/>
            <a:tailEnd type="triangle"/>
          </a:ln>
        </p:spPr>
      </p:sp>
      <p:sp>
        <p:nvSpPr>
          <p:cNvPr id="32" name="Shape 29"/>
          <p:cNvSpPr/>
          <p:nvPr/>
        </p:nvSpPr>
        <p:spPr>
          <a:xfrm>
            <a:off x="7374636" y="3611880"/>
            <a:ext cx="3291840" cy="685800"/>
          </a:xfrm>
          <a:prstGeom prst="roundRect">
            <a:avLst>
              <a:gd name="adj" fmla="val 8000"/>
            </a:avLst>
          </a:prstGeom>
          <a:solidFill>
            <a:srgbClr val="FFFFFF"/>
          </a:solidFill>
          <a:ln w="17780">
            <a:solidFill>
              <a:srgbClr val="1B4F8C"/>
            </a:solidFill>
            <a:prstDash val="solid"/>
          </a:ln>
        </p:spPr>
      </p:sp>
      <p:sp>
        <p:nvSpPr>
          <p:cNvPr id="33" name="Text 30"/>
          <p:cNvSpPr/>
          <p:nvPr/>
        </p:nvSpPr>
        <p:spPr>
          <a:xfrm>
            <a:off x="7447788" y="3666744"/>
            <a:ext cx="3145536" cy="377190"/>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Gateway — policy layer</a:t>
            </a:r>
            <a:endParaRPr lang="en-US" sz="1050" dirty="0"/>
          </a:p>
        </p:txBody>
      </p:sp>
      <p:sp>
        <p:nvSpPr>
          <p:cNvPr id="34" name="Text 31"/>
          <p:cNvSpPr/>
          <p:nvPr/>
        </p:nvSpPr>
        <p:spPr>
          <a:xfrm>
            <a:off x="7447788" y="3968496"/>
            <a:ext cx="3145536" cy="288036"/>
          </a:xfrm>
          <a:prstGeom prst="rect">
            <a:avLst/>
          </a:prstGeom>
          <a:noFill/>
          <a:ln/>
        </p:spPr>
        <p:txBody>
          <a:bodyPr wrap="square" lIns="0" tIns="0" rIns="0" bIns="0" rtlCol="0" anchor="ctr"/>
          <a:lstStyle/>
          <a:p>
            <a:pPr algn="ctr" indent="0" marL="0">
              <a:buNone/>
            </a:pPr>
            <a:r>
              <a:rPr lang="en-US" sz="830" dirty="0">
                <a:solidFill>
                  <a:srgbClr val="1B4F8C"/>
                </a:solidFill>
                <a:latin typeface="Calibri" pitchFamily="34" charset="0"/>
                <a:ea typeface="Calibri" pitchFamily="34" charset="-122"/>
                <a:cs typeface="Calibri" pitchFamily="34" charset="-120"/>
              </a:rPr>
              <a:t>B2C Channel · Kong DLZ · Mule ESB</a:t>
            </a:r>
            <a:endParaRPr lang="en-US" sz="830" dirty="0"/>
          </a:p>
        </p:txBody>
      </p:sp>
      <p:sp>
        <p:nvSpPr>
          <p:cNvPr id="35" name="Shape 32"/>
          <p:cNvSpPr/>
          <p:nvPr/>
        </p:nvSpPr>
        <p:spPr>
          <a:xfrm>
            <a:off x="9020556" y="4325112"/>
            <a:ext cx="0" cy="292608"/>
          </a:xfrm>
          <a:prstGeom prst="line">
            <a:avLst/>
          </a:prstGeom>
          <a:noFill/>
          <a:ln w="19050">
            <a:solidFill>
              <a:srgbClr val="1E8449"/>
            </a:solidFill>
            <a:prstDash val="solid"/>
            <a:tailEnd type="triangle"/>
          </a:ln>
        </p:spPr>
      </p:sp>
      <p:sp>
        <p:nvSpPr>
          <p:cNvPr id="36" name="Shape 33"/>
          <p:cNvSpPr/>
          <p:nvPr/>
        </p:nvSpPr>
        <p:spPr>
          <a:xfrm>
            <a:off x="7374636" y="4645152"/>
            <a:ext cx="3291840" cy="502920"/>
          </a:xfrm>
          <a:prstGeom prst="roundRect">
            <a:avLst>
              <a:gd name="adj" fmla="val 10909"/>
            </a:avLst>
          </a:prstGeom>
          <a:solidFill>
            <a:srgbClr val="E7F5EC"/>
          </a:solidFill>
          <a:ln w="17780">
            <a:solidFill>
              <a:srgbClr val="1E8449"/>
            </a:solidFill>
            <a:prstDash val="solid"/>
          </a:ln>
        </p:spPr>
      </p:sp>
      <p:sp>
        <p:nvSpPr>
          <p:cNvPr id="37" name="Text 34"/>
          <p:cNvSpPr/>
          <p:nvPr/>
        </p:nvSpPr>
        <p:spPr>
          <a:xfrm>
            <a:off x="7447788" y="4645152"/>
            <a:ext cx="3145536" cy="502920"/>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Backend services</a:t>
            </a:r>
            <a:endParaRPr lang="en-US" sz="1050" dirty="0"/>
          </a:p>
        </p:txBody>
      </p:sp>
      <p:sp>
        <p:nvSpPr>
          <p:cNvPr id="38" name="Text 35"/>
          <p:cNvSpPr/>
          <p:nvPr/>
        </p:nvSpPr>
        <p:spPr>
          <a:xfrm>
            <a:off x="6675120" y="5303520"/>
            <a:ext cx="4690872" cy="502920"/>
          </a:xfrm>
          <a:prstGeom prst="rect">
            <a:avLst/>
          </a:prstGeom>
          <a:noFill/>
          <a:ln/>
        </p:spPr>
        <p:txBody>
          <a:bodyPr wrap="square" lIns="0" tIns="0" rIns="0" bIns="0" rtlCol="0" anchor="ctr"/>
          <a:lstStyle/>
          <a:p>
            <a:pPr indent="0" marL="0">
              <a:buNone/>
            </a:pPr>
            <a:r>
              <a:rPr lang="en-US" sz="900" i="1" dirty="0">
                <a:solidFill>
                  <a:srgbClr val="5B6472"/>
                </a:solidFill>
                <a:latin typeface="Calibri" pitchFamily="34" charset="0"/>
                <a:ea typeface="Calibri" pitchFamily="34" charset="-122"/>
                <a:cs typeface="Calibri" pitchFamily="34" charset="-120"/>
              </a:rPr>
              <a:t>Two layers, two jobs: edge handles connections, gateway handles policy.</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1B4F8C"/>
          </a:solidFill>
          <a:ln/>
        </p:spPr>
      </p:sp>
      <p:sp>
        <p:nvSpPr>
          <p:cNvPr id="3" name="Text 1"/>
          <p:cNvSpPr/>
          <p:nvPr/>
        </p:nvSpPr>
        <p:spPr>
          <a:xfrm>
            <a:off x="11155680" y="6519672"/>
            <a:ext cx="822960" cy="256032"/>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10 / 13</a:t>
            </a:r>
            <a:endParaRPr lang="en-US" sz="950" dirty="0"/>
          </a:p>
        </p:txBody>
      </p:sp>
      <p:sp>
        <p:nvSpPr>
          <p:cNvPr id="4" name="Text 2"/>
          <p:cNvSpPr/>
          <p:nvPr/>
        </p:nvSpPr>
        <p:spPr>
          <a:xfrm>
            <a:off x="548640" y="6519672"/>
            <a:ext cx="4572000" cy="256032"/>
          </a:xfrm>
          <a:prstGeom prst="rect">
            <a:avLst/>
          </a:prstGeom>
          <a:noFill/>
          <a:ln/>
        </p:spPr>
        <p:txBody>
          <a:bodyPr wrap="square" lIns="0" tIns="0" rIns="0" bIns="0" rtlCol="0" anchor="ctr"/>
          <a:lstStyle/>
          <a:p>
            <a:pPr indent="0" marL="0">
              <a:buNone/>
            </a:pPr>
            <a:r>
              <a:rPr lang="en-US" sz="850" spc="100" kern="0" dirty="0">
                <a:solidFill>
                  <a:srgbClr val="94A3B8"/>
                </a:solidFill>
                <a:latin typeface="Calibri" pitchFamily="34" charset="0"/>
                <a:ea typeface="Calibri" pitchFamily="34" charset="-122"/>
                <a:cs typeface="Calibri" pitchFamily="34" charset="-120"/>
              </a:rPr>
              <a:t>ACCOUNT HOME PERFORMANCE PROGRAM</a:t>
            </a:r>
            <a:endParaRPr lang="en-US" sz="850" dirty="0"/>
          </a:p>
        </p:txBody>
      </p:sp>
      <p:sp>
        <p:nvSpPr>
          <p:cNvPr id="5" name="Text 3"/>
          <p:cNvSpPr/>
          <p:nvPr/>
        </p:nvSpPr>
        <p:spPr>
          <a:xfrm>
            <a:off x="566928" y="310896"/>
            <a:ext cx="10607040" cy="237744"/>
          </a:xfrm>
          <a:prstGeom prst="rect">
            <a:avLst/>
          </a:prstGeom>
          <a:noFill/>
          <a:ln/>
        </p:spPr>
        <p:txBody>
          <a:bodyPr wrap="square" lIns="0" tIns="0" rIns="0" bIns="0" rtlCol="0" anchor="ctr"/>
          <a:lstStyle/>
          <a:p>
            <a:pPr indent="0" marL="0">
              <a:buNone/>
            </a:pPr>
            <a:r>
              <a:rPr lang="en-US" sz="1050" b="1" spc="220" kern="0" dirty="0">
                <a:solidFill>
                  <a:srgbClr val="1B4F8C"/>
                </a:solidFill>
                <a:latin typeface="Arial" pitchFamily="34" charset="0"/>
                <a:ea typeface="Arial" pitchFamily="34" charset="-122"/>
                <a:cs typeface="Arial" pitchFamily="34" charset="-120"/>
              </a:rPr>
              <a:t>ADDITIONAL PERFORMANCE WORK</a:t>
            </a:r>
            <a:endParaRPr lang="en-US" sz="1050" dirty="0"/>
          </a:p>
        </p:txBody>
      </p:sp>
      <p:sp>
        <p:nvSpPr>
          <p:cNvPr id="6" name="Text 4"/>
          <p:cNvSpPr/>
          <p:nvPr/>
        </p:nvSpPr>
        <p:spPr>
          <a:xfrm>
            <a:off x="548640" y="530352"/>
            <a:ext cx="10881360" cy="502920"/>
          </a:xfrm>
          <a:prstGeom prst="rect">
            <a:avLst/>
          </a:prstGeom>
          <a:noFill/>
          <a:ln/>
        </p:spPr>
        <p:txBody>
          <a:bodyPr wrap="square" lIns="0" tIns="0" rIns="0" bIns="0" rtlCol="0" anchor="ctr"/>
          <a:lstStyle/>
          <a:p>
            <a:pPr indent="0" marL="0">
              <a:buNone/>
            </a:pPr>
            <a:r>
              <a:rPr lang="en-US" sz="2700" b="1" dirty="0">
                <a:solidFill>
                  <a:srgbClr val="0B2545"/>
                </a:solidFill>
                <a:latin typeface="Arial" pitchFamily="34" charset="0"/>
                <a:ea typeface="Arial" pitchFamily="34" charset="-122"/>
                <a:cs typeface="Arial" pitchFamily="34" charset="-120"/>
              </a:rPr>
              <a:t>Frontend &amp; Edge Optimizations</a:t>
            </a:r>
            <a:endParaRPr lang="en-US" sz="2700" dirty="0"/>
          </a:p>
        </p:txBody>
      </p:sp>
      <p:sp>
        <p:nvSpPr>
          <p:cNvPr id="7" name="Text 5"/>
          <p:cNvSpPr/>
          <p:nvPr/>
        </p:nvSpPr>
        <p:spPr>
          <a:xfrm>
            <a:off x="566928" y="1033272"/>
            <a:ext cx="10789920" cy="292608"/>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Two more improvements already live on Account Home, alongside the nine architecture patterns.</a:t>
            </a:r>
            <a:endParaRPr lang="en-US" sz="1250" dirty="0"/>
          </a:p>
        </p:txBody>
      </p:sp>
      <p:sp>
        <p:nvSpPr>
          <p:cNvPr id="8" name="Shape 6"/>
          <p:cNvSpPr/>
          <p:nvPr/>
        </p:nvSpPr>
        <p:spPr>
          <a:xfrm>
            <a:off x="566928" y="1371600"/>
            <a:ext cx="11064240" cy="0"/>
          </a:xfrm>
          <a:prstGeom prst="line">
            <a:avLst/>
          </a:prstGeom>
          <a:noFill/>
          <a:ln w="12700">
            <a:solidFill>
              <a:srgbClr val="D9E2EC"/>
            </a:solidFill>
            <a:prstDash val="solid"/>
          </a:ln>
        </p:spPr>
      </p:sp>
      <p:sp>
        <p:nvSpPr>
          <p:cNvPr id="9" name="Shape 7"/>
          <p:cNvSpPr/>
          <p:nvPr/>
        </p:nvSpPr>
        <p:spPr>
          <a:xfrm>
            <a:off x="548640" y="1517904"/>
            <a:ext cx="420624" cy="420624"/>
          </a:xfrm>
          <a:prstGeom prst="ellipse">
            <a:avLst/>
          </a:prstGeom>
          <a:solidFill>
            <a:srgbClr val="E7F5EC"/>
          </a:solidFill>
          <a:ln w="12700">
            <a:solidFill>
              <a:srgbClr val="1E8449"/>
            </a:solidFill>
            <a:prstDash val="solid"/>
          </a:ln>
        </p:spPr>
      </p:sp>
      <p:pic>
        <p:nvPicPr>
          <p:cNvPr id="10" name="Image 0" descr="preencoded.png">    </p:cNvPr>
          <p:cNvPicPr>
            <a:picLocks noChangeAspect="1"/>
          </p:cNvPicPr>
          <p:nvPr/>
        </p:nvPicPr>
        <p:blipFill>
          <a:blip r:embed="rId1"/>
          <a:stretch>
            <a:fillRect/>
          </a:stretch>
        </p:blipFill>
        <p:spPr>
          <a:xfrm>
            <a:off x="662208" y="1631472"/>
            <a:ext cx="193487" cy="193487"/>
          </a:xfrm>
          <a:prstGeom prst="rect">
            <a:avLst/>
          </a:prstGeom>
        </p:spPr>
      </p:pic>
      <p:sp>
        <p:nvSpPr>
          <p:cNvPr id="11" name="Text 8"/>
          <p:cNvSpPr/>
          <p:nvPr/>
        </p:nvSpPr>
        <p:spPr>
          <a:xfrm>
            <a:off x="1097280" y="1517904"/>
            <a:ext cx="3840480" cy="420624"/>
          </a:xfrm>
          <a:prstGeom prst="rect">
            <a:avLst/>
          </a:prstGeom>
          <a:noFill/>
          <a:ln/>
        </p:spPr>
        <p:txBody>
          <a:bodyPr wrap="square" lIns="0" tIns="0" rIns="0" bIns="0" rtlCol="0" anchor="ctr"/>
          <a:lstStyle/>
          <a:p>
            <a:pPr indent="0" marL="0">
              <a:buNone/>
            </a:pPr>
            <a:r>
              <a:rPr lang="en-US" sz="1500" b="1" dirty="0">
                <a:solidFill>
                  <a:srgbClr val="0B2545"/>
                </a:solidFill>
                <a:latin typeface="Arial" pitchFamily="34" charset="0"/>
                <a:ea typeface="Arial" pitchFamily="34" charset="-122"/>
                <a:cs typeface="Arial" pitchFamily="34" charset="-120"/>
              </a:rPr>
              <a:t>Akamai Edge Caching (JS / CSS)</a:t>
            </a:r>
            <a:endParaRPr lang="en-US" sz="1500" dirty="0"/>
          </a:p>
        </p:txBody>
      </p:sp>
      <p:sp>
        <p:nvSpPr>
          <p:cNvPr id="12" name="Shape 9"/>
          <p:cNvSpPr/>
          <p:nvPr/>
        </p:nvSpPr>
        <p:spPr>
          <a:xfrm>
            <a:off x="4754880" y="1554480"/>
            <a:ext cx="1371600" cy="292608"/>
          </a:xfrm>
          <a:prstGeom prst="roundRect">
            <a:avLst>
              <a:gd name="adj" fmla="val 50000"/>
            </a:avLst>
          </a:prstGeom>
          <a:solidFill>
            <a:srgbClr val="E7F5EC"/>
          </a:solidFill>
          <a:ln w="13970">
            <a:solidFill>
              <a:srgbClr val="1E8449"/>
            </a:solidFill>
            <a:prstDash val="solid"/>
          </a:ln>
        </p:spPr>
      </p:sp>
      <p:sp>
        <p:nvSpPr>
          <p:cNvPr id="13" name="Text 10"/>
          <p:cNvSpPr/>
          <p:nvPr/>
        </p:nvSpPr>
        <p:spPr>
          <a:xfrm>
            <a:off x="4754880" y="1554480"/>
            <a:ext cx="1371600" cy="292608"/>
          </a:xfrm>
          <a:prstGeom prst="rect">
            <a:avLst/>
          </a:prstGeom>
          <a:noFill/>
          <a:ln/>
        </p:spPr>
        <p:txBody>
          <a:bodyPr wrap="square" lIns="0" tIns="0" rIns="0" bIns="0" rtlCol="0" anchor="ctr"/>
          <a:lstStyle/>
          <a:p>
            <a:pPr algn="ctr" indent="0" marL="0">
              <a:buNone/>
            </a:pPr>
            <a:r>
              <a:rPr lang="en-US" sz="900" b="1" dirty="0">
                <a:solidFill>
                  <a:srgbClr val="1E8449"/>
                </a:solidFill>
                <a:latin typeface="Arial" pitchFamily="34" charset="0"/>
                <a:ea typeface="Arial" pitchFamily="34" charset="-122"/>
                <a:cs typeface="Arial" pitchFamily="34" charset="-120"/>
              </a:rPr>
              <a:t>APPLIED</a:t>
            </a:r>
            <a:endParaRPr lang="en-US" sz="900" dirty="0"/>
          </a:p>
        </p:txBody>
      </p:sp>
      <p:sp>
        <p:nvSpPr>
          <p:cNvPr id="14" name="Shape 11"/>
          <p:cNvSpPr/>
          <p:nvPr/>
        </p:nvSpPr>
        <p:spPr>
          <a:xfrm>
            <a:off x="548640" y="2066544"/>
            <a:ext cx="137160" cy="137160"/>
          </a:xfrm>
          <a:prstGeom prst="roundRect">
            <a:avLst>
              <a:gd name="adj" fmla="val 20000"/>
            </a:avLst>
          </a:prstGeom>
          <a:solidFill>
            <a:srgbClr val="1E8449"/>
          </a:solidFill>
          <a:ln/>
        </p:spPr>
      </p:sp>
      <p:sp>
        <p:nvSpPr>
          <p:cNvPr id="15" name="Text 12"/>
          <p:cNvSpPr/>
          <p:nvPr/>
        </p:nvSpPr>
        <p:spPr>
          <a:xfrm>
            <a:off x="804672" y="1993392"/>
            <a:ext cx="5184648" cy="502920"/>
          </a:xfrm>
          <a:prstGeom prst="rect">
            <a:avLst/>
          </a:prstGeom>
          <a:noFill/>
          <a:ln/>
        </p:spPr>
        <p:txBody>
          <a:bodyPr wrap="square" lIns="0" tIns="0" rIns="0" bIns="0" rtlCol="0" anchor="t"/>
          <a:lstStyle/>
          <a:p>
            <a:pPr indent="0" marL="0">
              <a:lnSpc>
                <a:spcPts val="1450"/>
              </a:lnSpc>
              <a:buNone/>
            </a:pPr>
            <a:r>
              <a:rPr lang="en-US" sz="1050" dirty="0">
                <a:solidFill>
                  <a:srgbClr val="27364B"/>
                </a:solidFill>
                <a:latin typeface="Calibri" pitchFamily="34" charset="0"/>
                <a:ea typeface="Calibri" pitchFamily="34" charset="-122"/>
                <a:cs typeface="Calibri" pitchFamily="34" charset="-120"/>
              </a:rPr>
              <a:t>Static JS and CSS are cached at the Akamai edge with configured ETags.</a:t>
            </a:r>
            <a:endParaRPr lang="en-US" sz="1050" dirty="0"/>
          </a:p>
        </p:txBody>
      </p:sp>
      <p:sp>
        <p:nvSpPr>
          <p:cNvPr id="16" name="Shape 13"/>
          <p:cNvSpPr/>
          <p:nvPr/>
        </p:nvSpPr>
        <p:spPr>
          <a:xfrm>
            <a:off x="548640" y="2421913"/>
            <a:ext cx="137160" cy="137160"/>
          </a:xfrm>
          <a:prstGeom prst="roundRect">
            <a:avLst>
              <a:gd name="adj" fmla="val 20000"/>
            </a:avLst>
          </a:prstGeom>
          <a:solidFill>
            <a:srgbClr val="1E8449"/>
          </a:solidFill>
          <a:ln/>
        </p:spPr>
      </p:sp>
      <p:sp>
        <p:nvSpPr>
          <p:cNvPr id="17" name="Text 14"/>
          <p:cNvSpPr/>
          <p:nvPr/>
        </p:nvSpPr>
        <p:spPr>
          <a:xfrm>
            <a:off x="804672" y="2348761"/>
            <a:ext cx="5184648" cy="502920"/>
          </a:xfrm>
          <a:prstGeom prst="rect">
            <a:avLst/>
          </a:prstGeom>
          <a:noFill/>
          <a:ln/>
        </p:spPr>
        <p:txBody>
          <a:bodyPr wrap="square" lIns="0" tIns="0" rIns="0" bIns="0" rtlCol="0" anchor="t"/>
          <a:lstStyle/>
          <a:p>
            <a:pPr indent="0" marL="0">
              <a:lnSpc>
                <a:spcPts val="1450"/>
              </a:lnSpc>
              <a:buNone/>
            </a:pPr>
            <a:r>
              <a:rPr lang="en-US" sz="1050" dirty="0">
                <a:solidFill>
                  <a:srgbClr val="27364B"/>
                </a:solidFill>
                <a:latin typeface="Calibri" pitchFamily="34" charset="0"/>
                <a:ea typeface="Calibri" pitchFamily="34" charset="-122"/>
                <a:cs typeface="Calibri" pitchFamily="34" charset="-120"/>
              </a:rPr>
              <a:t>Cache prefresh TTL keeps hot assets warm before they expire.</a:t>
            </a:r>
            <a:endParaRPr lang="en-US" sz="1050" dirty="0"/>
          </a:p>
        </p:txBody>
      </p:sp>
      <p:sp>
        <p:nvSpPr>
          <p:cNvPr id="18" name="Shape 15"/>
          <p:cNvSpPr/>
          <p:nvPr/>
        </p:nvSpPr>
        <p:spPr>
          <a:xfrm>
            <a:off x="548640" y="3035808"/>
            <a:ext cx="5440680" cy="2286000"/>
          </a:xfrm>
          <a:prstGeom prst="roundRect">
            <a:avLst>
              <a:gd name="adj" fmla="val 2400"/>
            </a:avLst>
          </a:prstGeom>
          <a:solidFill>
            <a:srgbClr val="F5F9FE"/>
          </a:solidFill>
          <a:ln w="12700">
            <a:solidFill>
              <a:srgbClr val="D9E2EC"/>
            </a:solidFill>
            <a:prstDash val="solid"/>
          </a:ln>
        </p:spPr>
      </p:sp>
      <p:sp>
        <p:nvSpPr>
          <p:cNvPr id="19" name="Text 16"/>
          <p:cNvSpPr/>
          <p:nvPr/>
        </p:nvSpPr>
        <p:spPr>
          <a:xfrm>
            <a:off x="731520" y="3182112"/>
            <a:ext cx="5074920" cy="219456"/>
          </a:xfrm>
          <a:prstGeom prst="rect">
            <a:avLst/>
          </a:prstGeom>
          <a:noFill/>
          <a:ln/>
        </p:spPr>
        <p:txBody>
          <a:bodyPr wrap="square" lIns="0" tIns="0" rIns="0" bIns="0" rtlCol="0" anchor="ctr"/>
          <a:lstStyle/>
          <a:p>
            <a:pPr indent="0" marL="0">
              <a:buNone/>
            </a:pPr>
            <a:r>
              <a:rPr lang="en-US" sz="950" b="1" spc="140" kern="0" dirty="0">
                <a:solidFill>
                  <a:srgbClr val="1B4F8C"/>
                </a:solidFill>
                <a:latin typeface="Arial" pitchFamily="34" charset="0"/>
                <a:ea typeface="Arial" pitchFamily="34" charset="-122"/>
                <a:cs typeface="Arial" pitchFamily="34" charset="-120"/>
              </a:rPr>
              <a:t>HOW IT WORKS</a:t>
            </a:r>
            <a:endParaRPr lang="en-US" sz="950" dirty="0"/>
          </a:p>
        </p:txBody>
      </p:sp>
      <p:sp>
        <p:nvSpPr>
          <p:cNvPr id="20" name="Shape 17"/>
          <p:cNvSpPr/>
          <p:nvPr/>
        </p:nvSpPr>
        <p:spPr>
          <a:xfrm>
            <a:off x="731520" y="3474720"/>
            <a:ext cx="5074920" cy="0"/>
          </a:xfrm>
          <a:prstGeom prst="line">
            <a:avLst/>
          </a:prstGeom>
          <a:noFill/>
          <a:ln w="12700">
            <a:solidFill>
              <a:srgbClr val="D9E2EC"/>
            </a:solidFill>
            <a:prstDash val="solid"/>
          </a:ln>
        </p:spPr>
      </p:sp>
      <p:sp>
        <p:nvSpPr>
          <p:cNvPr id="21" name="Shape 18"/>
          <p:cNvSpPr/>
          <p:nvPr/>
        </p:nvSpPr>
        <p:spPr>
          <a:xfrm>
            <a:off x="777240" y="3547872"/>
            <a:ext cx="4983480" cy="347472"/>
          </a:xfrm>
          <a:prstGeom prst="roundRect">
            <a:avLst>
              <a:gd name="adj" fmla="val 15789"/>
            </a:avLst>
          </a:prstGeom>
          <a:solidFill>
            <a:srgbClr val="EAF2FC"/>
          </a:solidFill>
          <a:ln w="17780">
            <a:solidFill>
              <a:srgbClr val="1B4F8C"/>
            </a:solidFill>
            <a:prstDash val="solid"/>
          </a:ln>
        </p:spPr>
      </p:sp>
      <p:sp>
        <p:nvSpPr>
          <p:cNvPr id="22" name="Text 19"/>
          <p:cNvSpPr/>
          <p:nvPr/>
        </p:nvSpPr>
        <p:spPr>
          <a:xfrm>
            <a:off x="850392" y="3547872"/>
            <a:ext cx="4837176" cy="347472"/>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Browser requests page assets</a:t>
            </a:r>
            <a:endParaRPr lang="en-US" sz="1050" dirty="0"/>
          </a:p>
        </p:txBody>
      </p:sp>
      <p:sp>
        <p:nvSpPr>
          <p:cNvPr id="23" name="Shape 20"/>
          <p:cNvSpPr/>
          <p:nvPr/>
        </p:nvSpPr>
        <p:spPr>
          <a:xfrm>
            <a:off x="3268980" y="3895344"/>
            <a:ext cx="0" cy="137160"/>
          </a:xfrm>
          <a:prstGeom prst="line">
            <a:avLst/>
          </a:prstGeom>
          <a:noFill/>
          <a:ln w="19050">
            <a:solidFill>
              <a:srgbClr val="94A3B8"/>
            </a:solidFill>
            <a:prstDash val="solid"/>
            <a:tailEnd type="triangle"/>
          </a:ln>
        </p:spPr>
      </p:sp>
      <p:sp>
        <p:nvSpPr>
          <p:cNvPr id="24" name="Shape 21"/>
          <p:cNvSpPr/>
          <p:nvPr/>
        </p:nvSpPr>
        <p:spPr>
          <a:xfrm>
            <a:off x="777240" y="4032504"/>
            <a:ext cx="4983480" cy="502920"/>
          </a:xfrm>
          <a:prstGeom prst="roundRect">
            <a:avLst>
              <a:gd name="adj" fmla="val 10909"/>
            </a:avLst>
          </a:prstGeom>
          <a:solidFill>
            <a:srgbClr val="FFFFFF"/>
          </a:solidFill>
          <a:ln w="17780">
            <a:solidFill>
              <a:srgbClr val="1B4F8C"/>
            </a:solidFill>
            <a:prstDash val="solid"/>
          </a:ln>
        </p:spPr>
      </p:sp>
      <p:sp>
        <p:nvSpPr>
          <p:cNvPr id="25" name="Text 22"/>
          <p:cNvSpPr/>
          <p:nvPr/>
        </p:nvSpPr>
        <p:spPr>
          <a:xfrm>
            <a:off x="850392" y="4087368"/>
            <a:ext cx="4837176" cy="276606"/>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Akamai edge cache</a:t>
            </a:r>
            <a:endParaRPr lang="en-US" sz="1050" dirty="0"/>
          </a:p>
        </p:txBody>
      </p:sp>
      <p:sp>
        <p:nvSpPr>
          <p:cNvPr id="26" name="Text 23"/>
          <p:cNvSpPr/>
          <p:nvPr/>
        </p:nvSpPr>
        <p:spPr>
          <a:xfrm>
            <a:off x="850392" y="4294022"/>
            <a:ext cx="4837176" cy="211226"/>
          </a:xfrm>
          <a:prstGeom prst="rect">
            <a:avLst/>
          </a:prstGeom>
          <a:noFill/>
          <a:ln/>
        </p:spPr>
        <p:txBody>
          <a:bodyPr wrap="square" lIns="0" tIns="0" rIns="0" bIns="0" rtlCol="0" anchor="ctr"/>
          <a:lstStyle/>
          <a:p>
            <a:pPr algn="ctr" indent="0" marL="0">
              <a:buNone/>
            </a:pPr>
            <a:r>
              <a:rPr lang="en-US" sz="830" dirty="0">
                <a:solidFill>
                  <a:srgbClr val="1B4F8C"/>
                </a:solidFill>
                <a:latin typeface="Calibri" pitchFamily="34" charset="0"/>
                <a:ea typeface="Calibri" pitchFamily="34" charset="-122"/>
                <a:cs typeface="Calibri" pitchFamily="34" charset="-120"/>
              </a:rPr>
              <a:t>ETag + prefresh TTL</a:t>
            </a:r>
            <a:endParaRPr lang="en-US" sz="830" dirty="0"/>
          </a:p>
        </p:txBody>
      </p:sp>
      <p:sp>
        <p:nvSpPr>
          <p:cNvPr id="27" name="Shape 24"/>
          <p:cNvSpPr/>
          <p:nvPr/>
        </p:nvSpPr>
        <p:spPr>
          <a:xfrm>
            <a:off x="3268980" y="4535424"/>
            <a:ext cx="0" cy="137160"/>
          </a:xfrm>
          <a:prstGeom prst="line">
            <a:avLst/>
          </a:prstGeom>
          <a:noFill/>
          <a:ln w="19050">
            <a:solidFill>
              <a:srgbClr val="94A3B8"/>
            </a:solidFill>
            <a:prstDash val="solid"/>
            <a:tailEnd type="triangle"/>
          </a:ln>
        </p:spPr>
      </p:sp>
      <p:sp>
        <p:nvSpPr>
          <p:cNvPr id="28" name="Shape 25"/>
          <p:cNvSpPr/>
          <p:nvPr/>
        </p:nvSpPr>
        <p:spPr>
          <a:xfrm>
            <a:off x="777240" y="4672584"/>
            <a:ext cx="4983480" cy="347472"/>
          </a:xfrm>
          <a:prstGeom prst="roundRect">
            <a:avLst>
              <a:gd name="adj" fmla="val 15789"/>
            </a:avLst>
          </a:prstGeom>
          <a:solidFill>
            <a:srgbClr val="E7F5EC"/>
          </a:solidFill>
          <a:ln w="17780">
            <a:solidFill>
              <a:srgbClr val="1E8449"/>
            </a:solidFill>
            <a:prstDash val="solid"/>
          </a:ln>
        </p:spPr>
      </p:sp>
      <p:sp>
        <p:nvSpPr>
          <p:cNvPr id="29" name="Text 26"/>
          <p:cNvSpPr/>
          <p:nvPr/>
        </p:nvSpPr>
        <p:spPr>
          <a:xfrm>
            <a:off x="850392" y="4672584"/>
            <a:ext cx="4837176" cy="347472"/>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Served from the edge — no origin round trip</a:t>
            </a:r>
            <a:endParaRPr lang="en-US" sz="1050" dirty="0"/>
          </a:p>
        </p:txBody>
      </p:sp>
      <p:sp>
        <p:nvSpPr>
          <p:cNvPr id="30" name="Shape 27"/>
          <p:cNvSpPr/>
          <p:nvPr/>
        </p:nvSpPr>
        <p:spPr>
          <a:xfrm>
            <a:off x="548640" y="5440680"/>
            <a:ext cx="5440680" cy="685800"/>
          </a:xfrm>
          <a:prstGeom prst="roundRect">
            <a:avLst>
              <a:gd name="adj" fmla="val 6667"/>
            </a:avLst>
          </a:prstGeom>
          <a:solidFill>
            <a:srgbClr val="E7F5EC"/>
          </a:solidFill>
          <a:ln w="12700">
            <a:solidFill>
              <a:srgbClr val="1E8449"/>
            </a:solidFill>
            <a:prstDash val="solid"/>
          </a:ln>
        </p:spPr>
      </p:sp>
      <p:sp>
        <p:nvSpPr>
          <p:cNvPr id="31" name="Text 28"/>
          <p:cNvSpPr/>
          <p:nvPr/>
        </p:nvSpPr>
        <p:spPr>
          <a:xfrm>
            <a:off x="713232" y="5522976"/>
            <a:ext cx="5111496" cy="201168"/>
          </a:xfrm>
          <a:prstGeom prst="rect">
            <a:avLst/>
          </a:prstGeom>
          <a:noFill/>
          <a:ln/>
        </p:spPr>
        <p:txBody>
          <a:bodyPr wrap="square" lIns="0" tIns="0" rIns="0" bIns="0" rtlCol="0" anchor="ctr"/>
          <a:lstStyle/>
          <a:p>
            <a:pPr indent="0" marL="0">
              <a:buNone/>
            </a:pPr>
            <a:r>
              <a:rPr lang="en-US" sz="950" b="1" spc="100" kern="0" dirty="0">
                <a:solidFill>
                  <a:srgbClr val="1E8449"/>
                </a:solidFill>
                <a:latin typeface="Arial" pitchFamily="34" charset="0"/>
                <a:ea typeface="Arial" pitchFamily="34" charset="-122"/>
                <a:cs typeface="Arial" pitchFamily="34" charset="-120"/>
              </a:rPr>
              <a:t>ADVANTAGE</a:t>
            </a:r>
            <a:endParaRPr lang="en-US" sz="950" dirty="0"/>
          </a:p>
        </p:txBody>
      </p:sp>
      <p:sp>
        <p:nvSpPr>
          <p:cNvPr id="32" name="Text 29"/>
          <p:cNvSpPr/>
          <p:nvPr/>
        </p:nvSpPr>
        <p:spPr>
          <a:xfrm>
            <a:off x="713232" y="5733288"/>
            <a:ext cx="5111496" cy="320040"/>
          </a:xfrm>
          <a:prstGeom prst="rect">
            <a:avLst/>
          </a:prstGeom>
          <a:noFill/>
          <a:ln/>
        </p:spPr>
        <p:txBody>
          <a:bodyPr wrap="square" lIns="0" tIns="0" rIns="0" bIns="0" rtlCol="0" anchor="t"/>
          <a:lstStyle/>
          <a:p>
            <a:pPr indent="0" marL="0">
              <a:lnSpc>
                <a:spcPts val="1450"/>
              </a:lnSpc>
              <a:buNone/>
            </a:pPr>
            <a:r>
              <a:rPr lang="en-US" sz="1080" dirty="0">
                <a:solidFill>
                  <a:srgbClr val="27364B"/>
                </a:solidFill>
                <a:latin typeface="Calibri" pitchFamily="34" charset="0"/>
                <a:ea typeface="Calibri" pitchFamily="34" charset="-122"/>
                <a:cs typeface="Calibri" pitchFamily="34" charset="-120"/>
              </a:rPr>
              <a:t>Returning visits load JS/CSS from a nearby edge node instead of origin — faster first paint, less origin load.</a:t>
            </a:r>
            <a:endParaRPr lang="en-US" sz="1080" dirty="0"/>
          </a:p>
        </p:txBody>
      </p:sp>
      <p:sp>
        <p:nvSpPr>
          <p:cNvPr id="33" name="Text 30"/>
          <p:cNvSpPr/>
          <p:nvPr/>
        </p:nvSpPr>
        <p:spPr>
          <a:xfrm>
            <a:off x="548640" y="6190488"/>
            <a:ext cx="5440680" cy="219456"/>
          </a:xfrm>
          <a:prstGeom prst="rect">
            <a:avLst/>
          </a:prstGeom>
          <a:noFill/>
          <a:ln/>
        </p:spPr>
        <p:txBody>
          <a:bodyPr wrap="square" lIns="0" tIns="0" rIns="0" bIns="0"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SOURCE  ·  LCP Optimization Tracker</a:t>
            </a:r>
            <a:endParaRPr lang="en-US" sz="900" dirty="0"/>
          </a:p>
        </p:txBody>
      </p:sp>
      <p:sp>
        <p:nvSpPr>
          <p:cNvPr id="34" name="Shape 31"/>
          <p:cNvSpPr/>
          <p:nvPr/>
        </p:nvSpPr>
        <p:spPr>
          <a:xfrm>
            <a:off x="6199632" y="1517904"/>
            <a:ext cx="420624" cy="420624"/>
          </a:xfrm>
          <a:prstGeom prst="ellipse">
            <a:avLst/>
          </a:prstGeom>
          <a:solidFill>
            <a:srgbClr val="E7F5EC"/>
          </a:solidFill>
          <a:ln w="12700">
            <a:solidFill>
              <a:srgbClr val="1E8449"/>
            </a:solidFill>
            <a:prstDash val="solid"/>
          </a:ln>
        </p:spPr>
      </p:sp>
      <p:pic>
        <p:nvPicPr>
          <p:cNvPr id="35" name="Image 1" descr="preencoded.png">    </p:cNvPr>
          <p:cNvPicPr>
            <a:picLocks noChangeAspect="1"/>
          </p:cNvPicPr>
          <p:nvPr/>
        </p:nvPicPr>
        <p:blipFill>
          <a:blip r:embed="rId2"/>
          <a:stretch>
            <a:fillRect/>
          </a:stretch>
        </p:blipFill>
        <p:spPr>
          <a:xfrm>
            <a:off x="6313200" y="1631472"/>
            <a:ext cx="193487" cy="193487"/>
          </a:xfrm>
          <a:prstGeom prst="rect">
            <a:avLst/>
          </a:prstGeom>
        </p:spPr>
      </p:pic>
      <p:sp>
        <p:nvSpPr>
          <p:cNvPr id="36" name="Text 32"/>
          <p:cNvSpPr/>
          <p:nvPr/>
        </p:nvSpPr>
        <p:spPr>
          <a:xfrm>
            <a:off x="6748272" y="1517904"/>
            <a:ext cx="3840480" cy="420624"/>
          </a:xfrm>
          <a:prstGeom prst="rect">
            <a:avLst/>
          </a:prstGeom>
          <a:noFill/>
          <a:ln/>
        </p:spPr>
        <p:txBody>
          <a:bodyPr wrap="square" lIns="0" tIns="0" rIns="0" bIns="0" rtlCol="0" anchor="ctr"/>
          <a:lstStyle/>
          <a:p>
            <a:pPr indent="0" marL="0">
              <a:buNone/>
            </a:pPr>
            <a:r>
              <a:rPr lang="en-US" sz="1500" b="1" dirty="0">
                <a:solidFill>
                  <a:srgbClr val="0B2545"/>
                </a:solidFill>
                <a:latin typeface="Arial" pitchFamily="34" charset="0"/>
                <a:ea typeface="Arial" pitchFamily="34" charset="-122"/>
                <a:cs typeface="Arial" pitchFamily="34" charset="-120"/>
              </a:rPr>
              <a:t>Third-Party Script Deferral</a:t>
            </a:r>
            <a:endParaRPr lang="en-US" sz="1500" dirty="0"/>
          </a:p>
        </p:txBody>
      </p:sp>
      <p:sp>
        <p:nvSpPr>
          <p:cNvPr id="37" name="Shape 33"/>
          <p:cNvSpPr/>
          <p:nvPr/>
        </p:nvSpPr>
        <p:spPr>
          <a:xfrm>
            <a:off x="10405872" y="1554480"/>
            <a:ext cx="1371600" cy="292608"/>
          </a:xfrm>
          <a:prstGeom prst="roundRect">
            <a:avLst>
              <a:gd name="adj" fmla="val 50000"/>
            </a:avLst>
          </a:prstGeom>
          <a:solidFill>
            <a:srgbClr val="E7F5EC"/>
          </a:solidFill>
          <a:ln w="13970">
            <a:solidFill>
              <a:srgbClr val="1E8449"/>
            </a:solidFill>
            <a:prstDash val="solid"/>
          </a:ln>
        </p:spPr>
      </p:sp>
      <p:sp>
        <p:nvSpPr>
          <p:cNvPr id="38" name="Text 34"/>
          <p:cNvSpPr/>
          <p:nvPr/>
        </p:nvSpPr>
        <p:spPr>
          <a:xfrm>
            <a:off x="10405872" y="1554480"/>
            <a:ext cx="1371600" cy="292608"/>
          </a:xfrm>
          <a:prstGeom prst="rect">
            <a:avLst/>
          </a:prstGeom>
          <a:noFill/>
          <a:ln/>
        </p:spPr>
        <p:txBody>
          <a:bodyPr wrap="square" lIns="0" tIns="0" rIns="0" bIns="0" rtlCol="0" anchor="ctr"/>
          <a:lstStyle/>
          <a:p>
            <a:pPr algn="ctr" indent="0" marL="0">
              <a:buNone/>
            </a:pPr>
            <a:r>
              <a:rPr lang="en-US" sz="900" b="1" dirty="0">
                <a:solidFill>
                  <a:srgbClr val="1E8449"/>
                </a:solidFill>
                <a:latin typeface="Arial" pitchFamily="34" charset="0"/>
                <a:ea typeface="Arial" pitchFamily="34" charset="-122"/>
                <a:cs typeface="Arial" pitchFamily="34" charset="-120"/>
              </a:rPr>
              <a:t>APPLIED</a:t>
            </a:r>
            <a:endParaRPr lang="en-US" sz="900" dirty="0"/>
          </a:p>
        </p:txBody>
      </p:sp>
      <p:sp>
        <p:nvSpPr>
          <p:cNvPr id="39" name="Shape 35"/>
          <p:cNvSpPr/>
          <p:nvPr/>
        </p:nvSpPr>
        <p:spPr>
          <a:xfrm>
            <a:off x="6199632" y="2066544"/>
            <a:ext cx="137160" cy="137160"/>
          </a:xfrm>
          <a:prstGeom prst="roundRect">
            <a:avLst>
              <a:gd name="adj" fmla="val 20000"/>
            </a:avLst>
          </a:prstGeom>
          <a:solidFill>
            <a:srgbClr val="1E8449"/>
          </a:solidFill>
          <a:ln/>
        </p:spPr>
      </p:sp>
      <p:sp>
        <p:nvSpPr>
          <p:cNvPr id="40" name="Text 36"/>
          <p:cNvSpPr/>
          <p:nvPr/>
        </p:nvSpPr>
        <p:spPr>
          <a:xfrm>
            <a:off x="6455664" y="1993392"/>
            <a:ext cx="5184648" cy="502920"/>
          </a:xfrm>
          <a:prstGeom prst="rect">
            <a:avLst/>
          </a:prstGeom>
          <a:noFill/>
          <a:ln/>
        </p:spPr>
        <p:txBody>
          <a:bodyPr wrap="square" lIns="0" tIns="0" rIns="0" bIns="0" rtlCol="0" anchor="t"/>
          <a:lstStyle/>
          <a:p>
            <a:pPr indent="0" marL="0">
              <a:lnSpc>
                <a:spcPts val="1450"/>
              </a:lnSpc>
              <a:buNone/>
            </a:pPr>
            <a:r>
              <a:rPr lang="en-US" sz="1050" dirty="0">
                <a:solidFill>
                  <a:srgbClr val="27364B"/>
                </a:solidFill>
                <a:latin typeface="Calibri" pitchFamily="34" charset="0"/>
                <a:ea typeface="Calibri" pitchFamily="34" charset="-122"/>
                <a:cs typeface="Calibri" pitchFamily="34" charset="-120"/>
              </a:rPr>
              <a:t>CoBrowse deferral is live in production.</a:t>
            </a:r>
            <a:endParaRPr lang="en-US" sz="1050" dirty="0"/>
          </a:p>
        </p:txBody>
      </p:sp>
      <p:sp>
        <p:nvSpPr>
          <p:cNvPr id="41" name="Shape 37"/>
          <p:cNvSpPr/>
          <p:nvPr/>
        </p:nvSpPr>
        <p:spPr>
          <a:xfrm>
            <a:off x="6199632" y="2421913"/>
            <a:ext cx="137160" cy="137160"/>
          </a:xfrm>
          <a:prstGeom prst="roundRect">
            <a:avLst>
              <a:gd name="adj" fmla="val 20000"/>
            </a:avLst>
          </a:prstGeom>
          <a:solidFill>
            <a:srgbClr val="1E8449"/>
          </a:solidFill>
          <a:ln/>
        </p:spPr>
      </p:sp>
      <p:sp>
        <p:nvSpPr>
          <p:cNvPr id="42" name="Text 38"/>
          <p:cNvSpPr/>
          <p:nvPr/>
        </p:nvSpPr>
        <p:spPr>
          <a:xfrm>
            <a:off x="6455664" y="2348761"/>
            <a:ext cx="5184648" cy="502920"/>
          </a:xfrm>
          <a:prstGeom prst="rect">
            <a:avLst/>
          </a:prstGeom>
          <a:noFill/>
          <a:ln/>
        </p:spPr>
        <p:txBody>
          <a:bodyPr wrap="square" lIns="0" tIns="0" rIns="0" bIns="0" rtlCol="0" anchor="t"/>
          <a:lstStyle/>
          <a:p>
            <a:pPr indent="0" marL="0">
              <a:lnSpc>
                <a:spcPts val="1450"/>
              </a:lnSpc>
              <a:buNone/>
            </a:pPr>
            <a:r>
              <a:rPr lang="en-US" sz="1050" dirty="0">
                <a:solidFill>
                  <a:srgbClr val="27364B"/>
                </a:solidFill>
                <a:latin typeface="Calibri" pitchFamily="34" charset="0"/>
                <a:ea typeface="Calibri" pitchFamily="34" charset="-122"/>
                <a:cs typeface="Calibri" pitchFamily="34" charset="-120"/>
              </a:rPr>
              <a:t>GTM, Evergage, and Adobe Target deferral is completing the same rollout.</a:t>
            </a:r>
            <a:endParaRPr lang="en-US" sz="1050" dirty="0"/>
          </a:p>
        </p:txBody>
      </p:sp>
      <p:sp>
        <p:nvSpPr>
          <p:cNvPr id="43" name="Shape 39"/>
          <p:cNvSpPr/>
          <p:nvPr/>
        </p:nvSpPr>
        <p:spPr>
          <a:xfrm>
            <a:off x="6199632" y="3035808"/>
            <a:ext cx="5440680" cy="2286000"/>
          </a:xfrm>
          <a:prstGeom prst="roundRect">
            <a:avLst>
              <a:gd name="adj" fmla="val 2400"/>
            </a:avLst>
          </a:prstGeom>
          <a:solidFill>
            <a:srgbClr val="F5F9FE"/>
          </a:solidFill>
          <a:ln w="12700">
            <a:solidFill>
              <a:srgbClr val="D9E2EC"/>
            </a:solidFill>
            <a:prstDash val="solid"/>
          </a:ln>
        </p:spPr>
      </p:sp>
      <p:sp>
        <p:nvSpPr>
          <p:cNvPr id="44" name="Text 40"/>
          <p:cNvSpPr/>
          <p:nvPr/>
        </p:nvSpPr>
        <p:spPr>
          <a:xfrm>
            <a:off x="6382512" y="3182112"/>
            <a:ext cx="5074920" cy="219456"/>
          </a:xfrm>
          <a:prstGeom prst="rect">
            <a:avLst/>
          </a:prstGeom>
          <a:noFill/>
          <a:ln/>
        </p:spPr>
        <p:txBody>
          <a:bodyPr wrap="square" lIns="0" tIns="0" rIns="0" bIns="0" rtlCol="0" anchor="ctr"/>
          <a:lstStyle/>
          <a:p>
            <a:pPr indent="0" marL="0">
              <a:buNone/>
            </a:pPr>
            <a:r>
              <a:rPr lang="en-US" sz="950" b="1" spc="140" kern="0" dirty="0">
                <a:solidFill>
                  <a:srgbClr val="1B4F8C"/>
                </a:solidFill>
                <a:latin typeface="Arial" pitchFamily="34" charset="0"/>
                <a:ea typeface="Arial" pitchFamily="34" charset="-122"/>
                <a:cs typeface="Arial" pitchFamily="34" charset="-120"/>
              </a:rPr>
              <a:t>HOW IT WORKS</a:t>
            </a:r>
            <a:endParaRPr lang="en-US" sz="950" dirty="0"/>
          </a:p>
        </p:txBody>
      </p:sp>
      <p:sp>
        <p:nvSpPr>
          <p:cNvPr id="45" name="Shape 41"/>
          <p:cNvSpPr/>
          <p:nvPr/>
        </p:nvSpPr>
        <p:spPr>
          <a:xfrm>
            <a:off x="6382512" y="3474720"/>
            <a:ext cx="5074920" cy="0"/>
          </a:xfrm>
          <a:prstGeom prst="line">
            <a:avLst/>
          </a:prstGeom>
          <a:noFill/>
          <a:ln w="12700">
            <a:solidFill>
              <a:srgbClr val="D9E2EC"/>
            </a:solidFill>
            <a:prstDash val="solid"/>
          </a:ln>
        </p:spPr>
      </p:sp>
      <p:sp>
        <p:nvSpPr>
          <p:cNvPr id="46" name="Shape 42"/>
          <p:cNvSpPr/>
          <p:nvPr/>
        </p:nvSpPr>
        <p:spPr>
          <a:xfrm>
            <a:off x="6428232" y="3547872"/>
            <a:ext cx="4983480" cy="347472"/>
          </a:xfrm>
          <a:prstGeom prst="roundRect">
            <a:avLst>
              <a:gd name="adj" fmla="val 15789"/>
            </a:avLst>
          </a:prstGeom>
          <a:solidFill>
            <a:srgbClr val="EAF2FC"/>
          </a:solidFill>
          <a:ln w="17780">
            <a:solidFill>
              <a:srgbClr val="1B4F8C"/>
            </a:solidFill>
            <a:prstDash val="solid"/>
          </a:ln>
        </p:spPr>
      </p:sp>
      <p:sp>
        <p:nvSpPr>
          <p:cNvPr id="47" name="Text 43"/>
          <p:cNvSpPr/>
          <p:nvPr/>
        </p:nvSpPr>
        <p:spPr>
          <a:xfrm>
            <a:off x="6501384" y="3547872"/>
            <a:ext cx="4837176" cy="347472"/>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Page load begins</a:t>
            </a:r>
            <a:endParaRPr lang="en-US" sz="1050" dirty="0"/>
          </a:p>
        </p:txBody>
      </p:sp>
      <p:sp>
        <p:nvSpPr>
          <p:cNvPr id="48" name="Shape 44"/>
          <p:cNvSpPr/>
          <p:nvPr/>
        </p:nvSpPr>
        <p:spPr>
          <a:xfrm>
            <a:off x="8919972" y="3895344"/>
            <a:ext cx="0" cy="137160"/>
          </a:xfrm>
          <a:prstGeom prst="line">
            <a:avLst/>
          </a:prstGeom>
          <a:noFill/>
          <a:ln w="19050">
            <a:solidFill>
              <a:srgbClr val="94A3B8"/>
            </a:solidFill>
            <a:prstDash val="solid"/>
            <a:tailEnd type="triangle"/>
          </a:ln>
        </p:spPr>
      </p:sp>
      <p:sp>
        <p:nvSpPr>
          <p:cNvPr id="49" name="Shape 45"/>
          <p:cNvSpPr/>
          <p:nvPr/>
        </p:nvSpPr>
        <p:spPr>
          <a:xfrm>
            <a:off x="6428232" y="4032504"/>
            <a:ext cx="4983480" cy="502920"/>
          </a:xfrm>
          <a:prstGeom prst="roundRect">
            <a:avLst>
              <a:gd name="adj" fmla="val 10909"/>
            </a:avLst>
          </a:prstGeom>
          <a:solidFill>
            <a:srgbClr val="FFFFFF"/>
          </a:solidFill>
          <a:ln w="17780">
            <a:solidFill>
              <a:srgbClr val="1B4F8C"/>
            </a:solidFill>
            <a:prstDash val="solid"/>
          </a:ln>
        </p:spPr>
      </p:sp>
      <p:sp>
        <p:nvSpPr>
          <p:cNvPr id="50" name="Text 46"/>
          <p:cNvSpPr/>
          <p:nvPr/>
        </p:nvSpPr>
        <p:spPr>
          <a:xfrm>
            <a:off x="6501384" y="4087368"/>
            <a:ext cx="4837176" cy="276606"/>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Critical path renders first</a:t>
            </a:r>
            <a:endParaRPr lang="en-US" sz="1050" dirty="0"/>
          </a:p>
        </p:txBody>
      </p:sp>
      <p:sp>
        <p:nvSpPr>
          <p:cNvPr id="51" name="Text 47"/>
          <p:cNvSpPr/>
          <p:nvPr/>
        </p:nvSpPr>
        <p:spPr>
          <a:xfrm>
            <a:off x="6501384" y="4294022"/>
            <a:ext cx="4837176" cy="211226"/>
          </a:xfrm>
          <a:prstGeom prst="rect">
            <a:avLst/>
          </a:prstGeom>
          <a:noFill/>
          <a:ln/>
        </p:spPr>
        <p:txBody>
          <a:bodyPr wrap="square" lIns="0" tIns="0" rIns="0" bIns="0" rtlCol="0" anchor="ctr"/>
          <a:lstStyle/>
          <a:p>
            <a:pPr algn="ctr" indent="0" marL="0">
              <a:buNone/>
            </a:pPr>
            <a:r>
              <a:rPr lang="en-US" sz="830" dirty="0">
                <a:solidFill>
                  <a:srgbClr val="1B4F8C"/>
                </a:solidFill>
                <a:latin typeface="Calibri" pitchFamily="34" charset="0"/>
                <a:ea typeface="Calibri" pitchFamily="34" charset="-122"/>
                <a:cs typeface="Calibri" pitchFamily="34" charset="-120"/>
              </a:rPr>
              <a:t>HTML · CSS · core JS</a:t>
            </a:r>
            <a:endParaRPr lang="en-US" sz="830" dirty="0"/>
          </a:p>
        </p:txBody>
      </p:sp>
      <p:sp>
        <p:nvSpPr>
          <p:cNvPr id="52" name="Shape 48"/>
          <p:cNvSpPr/>
          <p:nvPr/>
        </p:nvSpPr>
        <p:spPr>
          <a:xfrm>
            <a:off x="8919972" y="4535424"/>
            <a:ext cx="0" cy="137160"/>
          </a:xfrm>
          <a:prstGeom prst="line">
            <a:avLst/>
          </a:prstGeom>
          <a:noFill/>
          <a:ln w="19050">
            <a:solidFill>
              <a:srgbClr val="94A3B8"/>
            </a:solidFill>
            <a:prstDash val="solid"/>
            <a:tailEnd type="triangle"/>
          </a:ln>
        </p:spPr>
      </p:sp>
      <p:sp>
        <p:nvSpPr>
          <p:cNvPr id="53" name="Shape 49"/>
          <p:cNvSpPr/>
          <p:nvPr/>
        </p:nvSpPr>
        <p:spPr>
          <a:xfrm>
            <a:off x="6428232" y="4672584"/>
            <a:ext cx="4983480" cy="502920"/>
          </a:xfrm>
          <a:prstGeom prst="roundRect">
            <a:avLst>
              <a:gd name="adj" fmla="val 10909"/>
            </a:avLst>
          </a:prstGeom>
          <a:solidFill>
            <a:srgbClr val="E7F5EC"/>
          </a:solidFill>
          <a:ln w="17780">
            <a:solidFill>
              <a:srgbClr val="1E8449"/>
            </a:solidFill>
            <a:prstDash val="solid"/>
          </a:ln>
        </p:spPr>
      </p:sp>
      <p:sp>
        <p:nvSpPr>
          <p:cNvPr id="54" name="Text 50"/>
          <p:cNvSpPr/>
          <p:nvPr/>
        </p:nvSpPr>
        <p:spPr>
          <a:xfrm>
            <a:off x="6501384" y="4727448"/>
            <a:ext cx="4837176" cy="276606"/>
          </a:xfrm>
          <a:prstGeom prst="rect">
            <a:avLst/>
          </a:prstGeom>
          <a:noFill/>
          <a:ln/>
        </p:spPr>
        <p:txBody>
          <a:bodyPr wrap="square" lIns="0" tIns="0" rIns="0" bIns="0"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Third-party scripts load after</a:t>
            </a:r>
            <a:endParaRPr lang="en-US" sz="1050" dirty="0"/>
          </a:p>
        </p:txBody>
      </p:sp>
      <p:sp>
        <p:nvSpPr>
          <p:cNvPr id="55" name="Text 51"/>
          <p:cNvSpPr/>
          <p:nvPr/>
        </p:nvSpPr>
        <p:spPr>
          <a:xfrm>
            <a:off x="6501384" y="4934102"/>
            <a:ext cx="4837176" cy="211226"/>
          </a:xfrm>
          <a:prstGeom prst="rect">
            <a:avLst/>
          </a:prstGeom>
          <a:noFill/>
          <a:ln/>
        </p:spPr>
        <p:txBody>
          <a:bodyPr wrap="square" lIns="0" tIns="0" rIns="0" bIns="0" rtlCol="0" anchor="ctr"/>
          <a:lstStyle/>
          <a:p>
            <a:pPr algn="ctr" indent="0" marL="0">
              <a:buNone/>
            </a:pPr>
            <a:r>
              <a:rPr lang="en-US" sz="830" dirty="0">
                <a:solidFill>
                  <a:srgbClr val="1E8449"/>
                </a:solidFill>
                <a:latin typeface="Calibri" pitchFamily="34" charset="0"/>
                <a:ea typeface="Calibri" pitchFamily="34" charset="-122"/>
                <a:cs typeface="Calibri" pitchFamily="34" charset="-120"/>
              </a:rPr>
              <a:t>Dynatrace · Adobe Target · Evergage · GTM</a:t>
            </a:r>
            <a:endParaRPr lang="en-US" sz="830" dirty="0"/>
          </a:p>
        </p:txBody>
      </p:sp>
      <p:sp>
        <p:nvSpPr>
          <p:cNvPr id="56" name="Shape 52"/>
          <p:cNvSpPr/>
          <p:nvPr/>
        </p:nvSpPr>
        <p:spPr>
          <a:xfrm>
            <a:off x="6199632" y="5440680"/>
            <a:ext cx="5440680" cy="685800"/>
          </a:xfrm>
          <a:prstGeom prst="roundRect">
            <a:avLst>
              <a:gd name="adj" fmla="val 6667"/>
            </a:avLst>
          </a:prstGeom>
          <a:solidFill>
            <a:srgbClr val="E7F5EC"/>
          </a:solidFill>
          <a:ln w="12700">
            <a:solidFill>
              <a:srgbClr val="1E8449"/>
            </a:solidFill>
            <a:prstDash val="solid"/>
          </a:ln>
        </p:spPr>
      </p:sp>
      <p:sp>
        <p:nvSpPr>
          <p:cNvPr id="57" name="Text 53"/>
          <p:cNvSpPr/>
          <p:nvPr/>
        </p:nvSpPr>
        <p:spPr>
          <a:xfrm>
            <a:off x="6364224" y="5522976"/>
            <a:ext cx="5111496" cy="201168"/>
          </a:xfrm>
          <a:prstGeom prst="rect">
            <a:avLst/>
          </a:prstGeom>
          <a:noFill/>
          <a:ln/>
        </p:spPr>
        <p:txBody>
          <a:bodyPr wrap="square" lIns="0" tIns="0" rIns="0" bIns="0" rtlCol="0" anchor="ctr"/>
          <a:lstStyle/>
          <a:p>
            <a:pPr indent="0" marL="0">
              <a:buNone/>
            </a:pPr>
            <a:r>
              <a:rPr lang="en-US" sz="950" b="1" spc="100" kern="0" dirty="0">
                <a:solidFill>
                  <a:srgbClr val="1E8449"/>
                </a:solidFill>
                <a:latin typeface="Arial" pitchFamily="34" charset="0"/>
                <a:ea typeface="Arial" pitchFamily="34" charset="-122"/>
                <a:cs typeface="Arial" pitchFamily="34" charset="-120"/>
              </a:rPr>
              <a:t>ADVANTAGE</a:t>
            </a:r>
            <a:endParaRPr lang="en-US" sz="950" dirty="0"/>
          </a:p>
        </p:txBody>
      </p:sp>
      <p:sp>
        <p:nvSpPr>
          <p:cNvPr id="58" name="Text 54"/>
          <p:cNvSpPr/>
          <p:nvPr/>
        </p:nvSpPr>
        <p:spPr>
          <a:xfrm>
            <a:off x="6364224" y="5733288"/>
            <a:ext cx="5111496" cy="320040"/>
          </a:xfrm>
          <a:prstGeom prst="rect">
            <a:avLst/>
          </a:prstGeom>
          <a:noFill/>
          <a:ln/>
        </p:spPr>
        <p:txBody>
          <a:bodyPr wrap="square" lIns="0" tIns="0" rIns="0" bIns="0" rtlCol="0" anchor="t"/>
          <a:lstStyle/>
          <a:p>
            <a:pPr indent="0" marL="0">
              <a:lnSpc>
                <a:spcPts val="1450"/>
              </a:lnSpc>
              <a:buNone/>
            </a:pPr>
            <a:r>
              <a:rPr lang="en-US" sz="1080" dirty="0">
                <a:solidFill>
                  <a:srgbClr val="27364B"/>
                </a:solidFill>
                <a:latin typeface="Calibri" pitchFamily="34" charset="0"/>
                <a:ea typeface="Calibri" pitchFamily="34" charset="-122"/>
                <a:cs typeface="Calibri" pitchFamily="34" charset="-120"/>
              </a:rPr>
              <a:t>The page becomes interactive before third-party trackers and personalisation scripts compete for the same render budget.</a:t>
            </a:r>
            <a:endParaRPr lang="en-US" sz="1080" dirty="0"/>
          </a:p>
        </p:txBody>
      </p:sp>
      <p:sp>
        <p:nvSpPr>
          <p:cNvPr id="59" name="Text 55"/>
          <p:cNvSpPr/>
          <p:nvPr/>
        </p:nvSpPr>
        <p:spPr>
          <a:xfrm>
            <a:off x="6199632" y="6190488"/>
            <a:ext cx="5440680" cy="219456"/>
          </a:xfrm>
          <a:prstGeom prst="rect">
            <a:avLst/>
          </a:prstGeom>
          <a:noFill/>
          <a:ln/>
        </p:spPr>
        <p:txBody>
          <a:bodyPr wrap="square" lIns="0" tIns="0" rIns="0" bIns="0"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SOURCE  ·  AD: Account Home + 2026 Improvements (pg. 709830164)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1B4F8C"/>
          </a:solidFill>
          <a:ln/>
        </p:spPr>
      </p:sp>
      <p:sp>
        <p:nvSpPr>
          <p:cNvPr id="3" name="Text 1"/>
          <p:cNvSpPr/>
          <p:nvPr/>
        </p:nvSpPr>
        <p:spPr>
          <a:xfrm>
            <a:off x="11155680" y="6519672"/>
            <a:ext cx="822960" cy="256032"/>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11 / 13</a:t>
            </a:r>
            <a:endParaRPr lang="en-US" sz="950" dirty="0"/>
          </a:p>
        </p:txBody>
      </p:sp>
      <p:sp>
        <p:nvSpPr>
          <p:cNvPr id="4" name="Text 2"/>
          <p:cNvSpPr/>
          <p:nvPr/>
        </p:nvSpPr>
        <p:spPr>
          <a:xfrm>
            <a:off x="548640" y="6519672"/>
            <a:ext cx="4572000" cy="256032"/>
          </a:xfrm>
          <a:prstGeom prst="rect">
            <a:avLst/>
          </a:prstGeom>
          <a:noFill/>
          <a:ln/>
        </p:spPr>
        <p:txBody>
          <a:bodyPr wrap="square" lIns="0" tIns="0" rIns="0" bIns="0" rtlCol="0" anchor="ctr"/>
          <a:lstStyle/>
          <a:p>
            <a:pPr indent="0" marL="0">
              <a:buNone/>
            </a:pPr>
            <a:r>
              <a:rPr lang="en-US" sz="850" spc="100" kern="0" dirty="0">
                <a:solidFill>
                  <a:srgbClr val="94A3B8"/>
                </a:solidFill>
                <a:latin typeface="Calibri" pitchFamily="34" charset="0"/>
                <a:ea typeface="Calibri" pitchFamily="34" charset="-122"/>
                <a:cs typeface="Calibri" pitchFamily="34" charset="-120"/>
              </a:rPr>
              <a:t>ACCOUNT HOME PERFORMANCE PROGRAM</a:t>
            </a:r>
            <a:endParaRPr lang="en-US" sz="850" dirty="0"/>
          </a:p>
        </p:txBody>
      </p:sp>
      <p:sp>
        <p:nvSpPr>
          <p:cNvPr id="5" name="Text 3"/>
          <p:cNvSpPr/>
          <p:nvPr/>
        </p:nvSpPr>
        <p:spPr>
          <a:xfrm>
            <a:off x="566928" y="310896"/>
            <a:ext cx="10607040" cy="237744"/>
          </a:xfrm>
          <a:prstGeom prst="rect">
            <a:avLst/>
          </a:prstGeom>
          <a:noFill/>
          <a:ln/>
        </p:spPr>
        <p:txBody>
          <a:bodyPr wrap="square" lIns="0" tIns="0" rIns="0" bIns="0" rtlCol="0" anchor="ctr"/>
          <a:lstStyle/>
          <a:p>
            <a:pPr indent="0" marL="0">
              <a:buNone/>
            </a:pPr>
            <a:r>
              <a:rPr lang="en-US" sz="1050" b="1" spc="220" kern="0" dirty="0">
                <a:solidFill>
                  <a:srgbClr val="1B4F8C"/>
                </a:solidFill>
                <a:latin typeface="Arial" pitchFamily="34" charset="0"/>
                <a:ea typeface="Arial" pitchFamily="34" charset="-122"/>
                <a:cs typeface="Arial" pitchFamily="34" charset="-120"/>
              </a:rPr>
              <a:t>LCP TRACKER CROSS-REFERENCE</a:t>
            </a:r>
            <a:endParaRPr lang="en-US" sz="1050" dirty="0"/>
          </a:p>
        </p:txBody>
      </p:sp>
      <p:sp>
        <p:nvSpPr>
          <p:cNvPr id="6" name="Text 4"/>
          <p:cNvSpPr/>
          <p:nvPr/>
        </p:nvSpPr>
        <p:spPr>
          <a:xfrm>
            <a:off x="548640" y="530352"/>
            <a:ext cx="10881360" cy="502920"/>
          </a:xfrm>
          <a:prstGeom prst="rect">
            <a:avLst/>
          </a:prstGeom>
          <a:noFill/>
          <a:ln/>
        </p:spPr>
        <p:txBody>
          <a:bodyPr wrap="square" lIns="0" tIns="0" rIns="0" bIns="0" rtlCol="0" anchor="ctr"/>
          <a:lstStyle/>
          <a:p>
            <a:pPr indent="0" marL="0">
              <a:buNone/>
            </a:pPr>
            <a:r>
              <a:rPr lang="en-US" sz="2700" b="1" dirty="0">
                <a:solidFill>
                  <a:srgbClr val="0B2545"/>
                </a:solidFill>
                <a:latin typeface="Arial" pitchFamily="34" charset="0"/>
                <a:ea typeface="Arial" pitchFamily="34" charset="-122"/>
                <a:cs typeface="Arial" pitchFamily="34" charset="-120"/>
              </a:rPr>
              <a:t>What the active tracker already watches</a:t>
            </a:r>
            <a:endParaRPr lang="en-US" sz="2700" dirty="0"/>
          </a:p>
        </p:txBody>
      </p:sp>
      <p:sp>
        <p:nvSpPr>
          <p:cNvPr id="7" name="Text 5"/>
          <p:cNvSpPr/>
          <p:nvPr/>
        </p:nvSpPr>
        <p:spPr>
          <a:xfrm>
            <a:off x="566928" y="1033272"/>
            <a:ext cx="10789920" cy="292608"/>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The Performance - Analysis tracker is the team's live source of truth — here's how it lines up with what's implemented.</a:t>
            </a:r>
            <a:endParaRPr lang="en-US" sz="1250" dirty="0"/>
          </a:p>
        </p:txBody>
      </p:sp>
      <p:sp>
        <p:nvSpPr>
          <p:cNvPr id="8" name="Shape 6"/>
          <p:cNvSpPr/>
          <p:nvPr/>
        </p:nvSpPr>
        <p:spPr>
          <a:xfrm>
            <a:off x="566928" y="1371600"/>
            <a:ext cx="11064240" cy="0"/>
          </a:xfrm>
          <a:prstGeom prst="line">
            <a:avLst/>
          </a:prstGeom>
          <a:noFill/>
          <a:ln w="12700">
            <a:solidFill>
              <a:srgbClr val="D9E2EC"/>
            </a:solidFill>
            <a:prstDash val="solid"/>
          </a:ln>
        </p:spPr>
      </p:sp>
      <p:sp>
        <p:nvSpPr>
          <p:cNvPr id="9" name="Shape 7"/>
          <p:cNvSpPr/>
          <p:nvPr/>
        </p:nvSpPr>
        <p:spPr>
          <a:xfrm>
            <a:off x="548640" y="1572768"/>
            <a:ext cx="5120640" cy="3017520"/>
          </a:xfrm>
          <a:prstGeom prst="roundRect">
            <a:avLst>
              <a:gd name="adj" fmla="val 1818"/>
            </a:avLst>
          </a:prstGeom>
          <a:solidFill>
            <a:srgbClr val="F5F9FE"/>
          </a:solidFill>
          <a:ln w="12700">
            <a:solidFill>
              <a:srgbClr val="D9E2EC"/>
            </a:solidFill>
            <a:prstDash val="solid"/>
          </a:ln>
        </p:spPr>
      </p:sp>
      <p:sp>
        <p:nvSpPr>
          <p:cNvPr id="10" name="Text 8"/>
          <p:cNvSpPr/>
          <p:nvPr/>
        </p:nvSpPr>
        <p:spPr>
          <a:xfrm>
            <a:off x="804672" y="1773936"/>
            <a:ext cx="4572000" cy="237744"/>
          </a:xfrm>
          <a:prstGeom prst="rect">
            <a:avLst/>
          </a:prstGeom>
          <a:noFill/>
          <a:ln/>
        </p:spPr>
        <p:txBody>
          <a:bodyPr wrap="square" lIns="0" tIns="0" rIns="0" bIns="0" rtlCol="0" anchor="ctr"/>
          <a:lstStyle/>
          <a:p>
            <a:pPr indent="0" marL="0">
              <a:buNone/>
            </a:pPr>
            <a:r>
              <a:rPr lang="en-US" sz="1000" b="1" spc="140" kern="0" dirty="0">
                <a:solidFill>
                  <a:srgbClr val="1B4F8C"/>
                </a:solidFill>
                <a:latin typeface="Arial" pitchFamily="34" charset="0"/>
                <a:ea typeface="Arial" pitchFamily="34" charset="-122"/>
                <a:cs typeface="Arial" pitchFamily="34" charset="-120"/>
              </a:rPr>
              <a:t>ACTIVE TRACKER</a:t>
            </a:r>
            <a:endParaRPr lang="en-US" sz="1000" dirty="0"/>
          </a:p>
        </p:txBody>
      </p:sp>
      <p:sp>
        <p:nvSpPr>
          <p:cNvPr id="11" name="Text 9"/>
          <p:cNvSpPr/>
          <p:nvPr/>
        </p:nvSpPr>
        <p:spPr>
          <a:xfrm>
            <a:off x="804672" y="2048256"/>
            <a:ext cx="4572000" cy="329184"/>
          </a:xfrm>
          <a:prstGeom prst="rect">
            <a:avLst/>
          </a:prstGeom>
          <a:noFill/>
          <a:ln/>
        </p:spPr>
        <p:txBody>
          <a:bodyPr wrap="square" lIns="0" tIns="0" rIns="0" bIns="0" rtlCol="0" anchor="ctr"/>
          <a:lstStyle/>
          <a:p>
            <a:pPr indent="0" marL="0">
              <a:buNone/>
            </a:pPr>
            <a:r>
              <a:rPr lang="en-US" sz="1700" b="1" dirty="0">
                <a:solidFill>
                  <a:srgbClr val="0B2545"/>
                </a:solidFill>
                <a:latin typeface="Arial" pitchFamily="34" charset="0"/>
                <a:ea typeface="Arial" pitchFamily="34" charset="-122"/>
                <a:cs typeface="Arial" pitchFamily="34" charset="-120"/>
              </a:rPr>
              <a:t>Performance - Analysis</a:t>
            </a:r>
            <a:endParaRPr lang="en-US" sz="1700" dirty="0"/>
          </a:p>
        </p:txBody>
      </p:sp>
      <p:sp>
        <p:nvSpPr>
          <p:cNvPr id="12" name="Text 10"/>
          <p:cNvSpPr/>
          <p:nvPr/>
        </p:nvSpPr>
        <p:spPr>
          <a:xfrm>
            <a:off x="804672" y="2377440"/>
            <a:ext cx="4572000" cy="256032"/>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15 findings  ·  last updated 2026-07-31</a:t>
            </a:r>
            <a:endParaRPr lang="en-US" sz="1100" dirty="0"/>
          </a:p>
        </p:txBody>
      </p:sp>
      <p:sp>
        <p:nvSpPr>
          <p:cNvPr id="13" name="Shape 11"/>
          <p:cNvSpPr/>
          <p:nvPr/>
        </p:nvSpPr>
        <p:spPr>
          <a:xfrm>
            <a:off x="804672" y="2743200"/>
            <a:ext cx="4572000" cy="0"/>
          </a:xfrm>
          <a:prstGeom prst="line">
            <a:avLst/>
          </a:prstGeom>
          <a:noFill/>
          <a:ln w="12700">
            <a:solidFill>
              <a:srgbClr val="D9E2EC"/>
            </a:solidFill>
            <a:prstDash val="solid"/>
          </a:ln>
        </p:spPr>
      </p:sp>
      <p:sp>
        <p:nvSpPr>
          <p:cNvPr id="14" name="Shape 12"/>
          <p:cNvSpPr/>
          <p:nvPr/>
        </p:nvSpPr>
        <p:spPr>
          <a:xfrm>
            <a:off x="804672" y="2944368"/>
            <a:ext cx="137160" cy="137160"/>
          </a:xfrm>
          <a:prstGeom prst="roundRect">
            <a:avLst>
              <a:gd name="adj" fmla="val 20000"/>
            </a:avLst>
          </a:prstGeom>
          <a:solidFill>
            <a:srgbClr val="1B4F8C"/>
          </a:solidFill>
          <a:ln/>
        </p:spPr>
      </p:sp>
      <p:sp>
        <p:nvSpPr>
          <p:cNvPr id="15" name="Text 13"/>
          <p:cNvSpPr/>
          <p:nvPr/>
        </p:nvSpPr>
        <p:spPr>
          <a:xfrm>
            <a:off x="1060704" y="2871216"/>
            <a:ext cx="4315968" cy="502920"/>
          </a:xfrm>
          <a:prstGeom prst="rect">
            <a:avLst/>
          </a:prstGeom>
          <a:noFill/>
          <a:ln/>
        </p:spPr>
        <p:txBody>
          <a:bodyPr wrap="square" lIns="0" tIns="0" rIns="0" bIns="0" rtlCol="0" anchor="t"/>
          <a:lstStyle/>
          <a:p>
            <a:pPr indent="0" marL="0">
              <a:lnSpc>
                <a:spcPts val="1500"/>
              </a:lnSpc>
              <a:buNone/>
            </a:pPr>
            <a:r>
              <a:rPr lang="en-US" sz="1100" dirty="0">
                <a:solidFill>
                  <a:srgbClr val="27364B"/>
                </a:solidFill>
                <a:latin typeface="Calibri" pitchFamily="34" charset="0"/>
                <a:ea typeface="Calibri" pitchFamily="34" charset="-122"/>
                <a:cs typeface="Calibri" pitchFamily="34" charset="-120"/>
              </a:rPr>
              <a:t>Directly references Parallel Calls (indirectly) and Async Processing — with three deferred items.</a:t>
            </a:r>
            <a:endParaRPr lang="en-US" sz="1100" dirty="0"/>
          </a:p>
        </p:txBody>
      </p:sp>
      <p:sp>
        <p:nvSpPr>
          <p:cNvPr id="16" name="Shape 14"/>
          <p:cNvSpPr/>
          <p:nvPr/>
        </p:nvSpPr>
        <p:spPr>
          <a:xfrm>
            <a:off x="804672" y="3538728"/>
            <a:ext cx="137160" cy="137160"/>
          </a:xfrm>
          <a:prstGeom prst="roundRect">
            <a:avLst>
              <a:gd name="adj" fmla="val 20000"/>
            </a:avLst>
          </a:prstGeom>
          <a:solidFill>
            <a:srgbClr val="1B4F8C"/>
          </a:solidFill>
          <a:ln/>
        </p:spPr>
      </p:sp>
      <p:sp>
        <p:nvSpPr>
          <p:cNvPr id="17" name="Text 15"/>
          <p:cNvSpPr/>
          <p:nvPr/>
        </p:nvSpPr>
        <p:spPr>
          <a:xfrm>
            <a:off x="1060704" y="3465576"/>
            <a:ext cx="4315968" cy="502920"/>
          </a:xfrm>
          <a:prstGeom prst="rect">
            <a:avLst/>
          </a:prstGeom>
          <a:noFill/>
          <a:ln/>
        </p:spPr>
        <p:txBody>
          <a:bodyPr wrap="square" lIns="0" tIns="0" rIns="0" bIns="0" rtlCol="0" anchor="t"/>
          <a:lstStyle/>
          <a:p>
            <a:pPr indent="0" marL="0">
              <a:lnSpc>
                <a:spcPts val="1500"/>
              </a:lnSpc>
              <a:buNone/>
            </a:pPr>
            <a:r>
              <a:rPr lang="en-US" sz="1100" dirty="0">
                <a:solidFill>
                  <a:srgbClr val="27364B"/>
                </a:solidFill>
                <a:latin typeface="Calibri" pitchFamily="34" charset="0"/>
                <a:ea typeface="Calibri" pitchFamily="34" charset="-122"/>
                <a:cs typeface="Calibri" pitchFamily="34" charset="-120"/>
              </a:rPr>
              <a:t>Limited or no reference to the Resilience and Gateway refinements noted here, or to the three patterns recommended next.</a:t>
            </a:r>
            <a:endParaRPr lang="en-US" sz="1100" dirty="0"/>
          </a:p>
        </p:txBody>
      </p:sp>
      <p:sp>
        <p:nvSpPr>
          <p:cNvPr id="18" name="Shape 16"/>
          <p:cNvSpPr/>
          <p:nvPr/>
        </p:nvSpPr>
        <p:spPr>
          <a:xfrm>
            <a:off x="5852160" y="1572768"/>
            <a:ext cx="5788152" cy="3017520"/>
          </a:xfrm>
          <a:prstGeom prst="roundRect">
            <a:avLst>
              <a:gd name="adj" fmla="val 1818"/>
            </a:avLst>
          </a:prstGeom>
          <a:solidFill>
            <a:srgbClr val="FFFFFF"/>
          </a:solidFill>
          <a:ln w="12700">
            <a:solidFill>
              <a:srgbClr val="D9E2EC"/>
            </a:solidFill>
            <a:prstDash val="solid"/>
          </a:ln>
        </p:spPr>
      </p:sp>
      <p:sp>
        <p:nvSpPr>
          <p:cNvPr id="19" name="Text 17"/>
          <p:cNvSpPr/>
          <p:nvPr/>
        </p:nvSpPr>
        <p:spPr>
          <a:xfrm>
            <a:off x="6108192" y="1773936"/>
            <a:ext cx="5303520" cy="237744"/>
          </a:xfrm>
          <a:prstGeom prst="rect">
            <a:avLst/>
          </a:prstGeom>
          <a:noFill/>
          <a:ln/>
        </p:spPr>
        <p:txBody>
          <a:bodyPr wrap="square" lIns="0" tIns="0" rIns="0" bIns="0" rtlCol="0" anchor="ctr"/>
          <a:lstStyle/>
          <a:p>
            <a:pPr indent="0" marL="0">
              <a:buNone/>
            </a:pPr>
            <a:r>
              <a:rPr lang="en-US" sz="1000" b="1" spc="140" kern="0" dirty="0">
                <a:solidFill>
                  <a:srgbClr val="1B4F8C"/>
                </a:solidFill>
                <a:latin typeface="Arial" pitchFamily="34" charset="0"/>
                <a:ea typeface="Arial" pitchFamily="34" charset="-122"/>
                <a:cs typeface="Arial" pitchFamily="34" charset="-120"/>
              </a:rPr>
              <a:t>WHAT THIS MEANS</a:t>
            </a:r>
            <a:endParaRPr lang="en-US" sz="1000" dirty="0"/>
          </a:p>
        </p:txBody>
      </p:sp>
      <p:sp>
        <p:nvSpPr>
          <p:cNvPr id="20" name="Shape 18"/>
          <p:cNvSpPr/>
          <p:nvPr/>
        </p:nvSpPr>
        <p:spPr>
          <a:xfrm>
            <a:off x="6108192" y="2103120"/>
            <a:ext cx="137160" cy="137160"/>
          </a:xfrm>
          <a:prstGeom prst="roundRect">
            <a:avLst>
              <a:gd name="adj" fmla="val 20000"/>
            </a:avLst>
          </a:prstGeom>
          <a:solidFill>
            <a:srgbClr val="1B4F8C"/>
          </a:solidFill>
          <a:ln/>
        </p:spPr>
      </p:sp>
      <p:sp>
        <p:nvSpPr>
          <p:cNvPr id="21" name="Text 19"/>
          <p:cNvSpPr/>
          <p:nvPr/>
        </p:nvSpPr>
        <p:spPr>
          <a:xfrm>
            <a:off x="6364224" y="2029968"/>
            <a:ext cx="5138928" cy="502920"/>
          </a:xfrm>
          <a:prstGeom prst="rect">
            <a:avLst/>
          </a:prstGeom>
          <a:noFill/>
          <a:ln/>
        </p:spPr>
        <p:txBody>
          <a:bodyPr wrap="square" lIns="0" tIns="0" rIns="0" bIns="0" rtlCol="0" anchor="t"/>
          <a:lstStyle/>
          <a:p>
            <a:pPr indent="0" marL="0">
              <a:lnSpc>
                <a:spcPts val="1500"/>
              </a:lnSpc>
              <a:buNone/>
            </a:pPr>
            <a:r>
              <a:rPr lang="en-US" sz="1100" dirty="0">
                <a:solidFill>
                  <a:srgbClr val="27364B"/>
                </a:solidFill>
                <a:latin typeface="Calibri" pitchFamily="34" charset="0"/>
                <a:ea typeface="Calibri" pitchFamily="34" charset="-122"/>
                <a:cs typeface="Calibri" pitchFamily="34" charset="-120"/>
              </a:rPr>
              <a:t>Good tracking already exists for LCP specifically — it's just narrower than the full set of performance patterns covered in this deck.</a:t>
            </a:r>
            <a:endParaRPr lang="en-US" sz="1100" dirty="0"/>
          </a:p>
        </p:txBody>
      </p:sp>
      <p:sp>
        <p:nvSpPr>
          <p:cNvPr id="22" name="Shape 20"/>
          <p:cNvSpPr/>
          <p:nvPr/>
        </p:nvSpPr>
        <p:spPr>
          <a:xfrm>
            <a:off x="6108192" y="2697480"/>
            <a:ext cx="137160" cy="137160"/>
          </a:xfrm>
          <a:prstGeom prst="roundRect">
            <a:avLst>
              <a:gd name="adj" fmla="val 20000"/>
            </a:avLst>
          </a:prstGeom>
          <a:solidFill>
            <a:srgbClr val="1B4F8C"/>
          </a:solidFill>
          <a:ln/>
        </p:spPr>
      </p:sp>
      <p:sp>
        <p:nvSpPr>
          <p:cNvPr id="23" name="Text 21"/>
          <p:cNvSpPr/>
          <p:nvPr/>
        </p:nvSpPr>
        <p:spPr>
          <a:xfrm>
            <a:off x="6364224" y="2624328"/>
            <a:ext cx="5138928" cy="502920"/>
          </a:xfrm>
          <a:prstGeom prst="rect">
            <a:avLst/>
          </a:prstGeom>
          <a:noFill/>
          <a:ln/>
        </p:spPr>
        <p:txBody>
          <a:bodyPr wrap="square" lIns="0" tIns="0" rIns="0" bIns="0" rtlCol="0" anchor="t"/>
          <a:lstStyle/>
          <a:p>
            <a:pPr indent="0" marL="0">
              <a:lnSpc>
                <a:spcPts val="1500"/>
              </a:lnSpc>
              <a:buNone/>
            </a:pPr>
            <a:r>
              <a:rPr lang="en-US" sz="1100" dirty="0">
                <a:solidFill>
                  <a:srgbClr val="27364B"/>
                </a:solidFill>
                <a:latin typeface="Calibri" pitchFamily="34" charset="0"/>
                <a:ea typeface="Calibri" pitchFamily="34" charset="-122"/>
                <a:cs typeface="Calibri" pitchFamily="34" charset="-120"/>
              </a:rPr>
              <a:t>The remaining gaps and the three recommended patterns need a home somewhere, or they'll stay invisible to the team already doing the tracking.</a:t>
            </a:r>
            <a:endParaRPr lang="en-US" sz="1100" dirty="0"/>
          </a:p>
        </p:txBody>
      </p:sp>
      <p:sp>
        <p:nvSpPr>
          <p:cNvPr id="24" name="Shape 22"/>
          <p:cNvSpPr/>
          <p:nvPr/>
        </p:nvSpPr>
        <p:spPr>
          <a:xfrm>
            <a:off x="6108192" y="3291840"/>
            <a:ext cx="137160" cy="137160"/>
          </a:xfrm>
          <a:prstGeom prst="roundRect">
            <a:avLst>
              <a:gd name="adj" fmla="val 20000"/>
            </a:avLst>
          </a:prstGeom>
          <a:solidFill>
            <a:srgbClr val="1B4F8C"/>
          </a:solidFill>
          <a:ln/>
        </p:spPr>
      </p:sp>
      <p:sp>
        <p:nvSpPr>
          <p:cNvPr id="25" name="Text 23"/>
          <p:cNvSpPr/>
          <p:nvPr/>
        </p:nvSpPr>
        <p:spPr>
          <a:xfrm>
            <a:off x="6364224" y="3218688"/>
            <a:ext cx="5138928" cy="502920"/>
          </a:xfrm>
          <a:prstGeom prst="rect">
            <a:avLst/>
          </a:prstGeom>
          <a:noFill/>
          <a:ln/>
        </p:spPr>
        <p:txBody>
          <a:bodyPr wrap="square" lIns="0" tIns="0" rIns="0" bIns="0" rtlCol="0" anchor="t"/>
          <a:lstStyle/>
          <a:p>
            <a:pPr indent="0" marL="0">
              <a:lnSpc>
                <a:spcPts val="1500"/>
              </a:lnSpc>
              <a:buNone/>
            </a:pPr>
            <a:r>
              <a:rPr lang="en-US" sz="1100" dirty="0">
                <a:solidFill>
                  <a:srgbClr val="27364B"/>
                </a:solidFill>
                <a:latin typeface="Calibri" pitchFamily="34" charset="0"/>
                <a:ea typeface="Calibri" pitchFamily="34" charset="-122"/>
                <a:cs typeface="Calibri" pitchFamily="34" charset="-120"/>
              </a:rPr>
              <a:t>No standalone LCP budget decomposition framework was found in Confluence.</a:t>
            </a:r>
            <a:endParaRPr lang="en-US" sz="1100" dirty="0"/>
          </a:p>
        </p:txBody>
      </p:sp>
      <p:sp>
        <p:nvSpPr>
          <p:cNvPr id="26" name="Shape 24"/>
          <p:cNvSpPr/>
          <p:nvPr/>
        </p:nvSpPr>
        <p:spPr>
          <a:xfrm>
            <a:off x="548640" y="4800600"/>
            <a:ext cx="11091672" cy="777240"/>
          </a:xfrm>
          <a:prstGeom prst="roundRect">
            <a:avLst>
              <a:gd name="adj" fmla="val 5882"/>
            </a:avLst>
          </a:prstGeom>
          <a:solidFill>
            <a:srgbClr val="E7F5EC"/>
          </a:solidFill>
          <a:ln w="12700">
            <a:solidFill>
              <a:srgbClr val="1E8449"/>
            </a:solidFill>
            <a:prstDash val="solid"/>
          </a:ln>
        </p:spPr>
      </p:sp>
      <p:sp>
        <p:nvSpPr>
          <p:cNvPr id="27" name="Text 25"/>
          <p:cNvSpPr/>
          <p:nvPr/>
        </p:nvSpPr>
        <p:spPr>
          <a:xfrm>
            <a:off x="713232" y="4882896"/>
            <a:ext cx="10762488" cy="201168"/>
          </a:xfrm>
          <a:prstGeom prst="rect">
            <a:avLst/>
          </a:prstGeom>
          <a:noFill/>
          <a:ln/>
        </p:spPr>
        <p:txBody>
          <a:bodyPr wrap="square" lIns="0" tIns="0" rIns="0" bIns="0" rtlCol="0" anchor="ctr"/>
          <a:lstStyle/>
          <a:p>
            <a:pPr indent="0" marL="0">
              <a:buNone/>
            </a:pPr>
            <a:r>
              <a:rPr lang="en-US" sz="950" b="1" spc="100" kern="0" dirty="0">
                <a:solidFill>
                  <a:srgbClr val="1E8449"/>
                </a:solidFill>
                <a:latin typeface="Arial" pitchFamily="34" charset="0"/>
                <a:ea typeface="Arial" pitchFamily="34" charset="-122"/>
                <a:cs typeface="Arial" pitchFamily="34" charset="-120"/>
              </a:rPr>
              <a:t>RECOMMENDATION</a:t>
            </a:r>
            <a:endParaRPr lang="en-US" sz="950" dirty="0"/>
          </a:p>
        </p:txBody>
      </p:sp>
      <p:sp>
        <p:nvSpPr>
          <p:cNvPr id="28" name="Text 26"/>
          <p:cNvSpPr/>
          <p:nvPr/>
        </p:nvSpPr>
        <p:spPr>
          <a:xfrm>
            <a:off x="713232" y="5093208"/>
            <a:ext cx="10762488" cy="411480"/>
          </a:xfrm>
          <a:prstGeom prst="rect">
            <a:avLst/>
          </a:prstGeom>
          <a:noFill/>
          <a:ln/>
        </p:spPr>
        <p:txBody>
          <a:bodyPr wrap="square" lIns="0" tIns="0" rIns="0" bIns="0" rtlCol="0" anchor="t"/>
          <a:lstStyle/>
          <a:p>
            <a:pPr indent="0" marL="0">
              <a:lnSpc>
                <a:spcPts val="1450"/>
              </a:lnSpc>
              <a:buNone/>
            </a:pPr>
            <a:r>
              <a:rPr lang="en-US" sz="1080" dirty="0">
                <a:solidFill>
                  <a:srgbClr val="27364B"/>
                </a:solidFill>
                <a:latin typeface="Calibri" pitchFamily="34" charset="0"/>
                <a:ea typeface="Calibri" pitchFamily="34" charset="-122"/>
                <a:cs typeface="Calibri" pitchFamily="34" charset="-120"/>
              </a:rPr>
              <a:t>Either extend the Performance - Analysis tracker to explicitly cover the open gaps and the recommended patterns, or maintain this deck as a companion and re-run it quarterly against the same Confluence sources.</a:t>
            </a:r>
            <a:endParaRPr lang="en-US" sz="10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1B4F8C"/>
          </a:solidFill>
          <a:ln/>
        </p:spPr>
      </p:sp>
      <p:sp>
        <p:nvSpPr>
          <p:cNvPr id="3" name="Text 1"/>
          <p:cNvSpPr/>
          <p:nvPr/>
        </p:nvSpPr>
        <p:spPr>
          <a:xfrm>
            <a:off x="11155680" y="6519672"/>
            <a:ext cx="822960" cy="256032"/>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12 / 13</a:t>
            </a:r>
            <a:endParaRPr lang="en-US" sz="950" dirty="0"/>
          </a:p>
        </p:txBody>
      </p:sp>
      <p:sp>
        <p:nvSpPr>
          <p:cNvPr id="4" name="Text 2"/>
          <p:cNvSpPr/>
          <p:nvPr/>
        </p:nvSpPr>
        <p:spPr>
          <a:xfrm>
            <a:off x="548640" y="6519672"/>
            <a:ext cx="4572000" cy="256032"/>
          </a:xfrm>
          <a:prstGeom prst="rect">
            <a:avLst/>
          </a:prstGeom>
          <a:noFill/>
          <a:ln/>
        </p:spPr>
        <p:txBody>
          <a:bodyPr wrap="square" lIns="0" tIns="0" rIns="0" bIns="0" rtlCol="0" anchor="ctr"/>
          <a:lstStyle/>
          <a:p>
            <a:pPr indent="0" marL="0">
              <a:buNone/>
            </a:pPr>
            <a:r>
              <a:rPr lang="en-US" sz="850" spc="100" kern="0" dirty="0">
                <a:solidFill>
                  <a:srgbClr val="94A3B8"/>
                </a:solidFill>
                <a:latin typeface="Calibri" pitchFamily="34" charset="0"/>
                <a:ea typeface="Calibri" pitchFamily="34" charset="-122"/>
                <a:cs typeface="Calibri" pitchFamily="34" charset="-120"/>
              </a:rPr>
              <a:t>ACCOUNT HOME PERFORMANCE PROGRAM</a:t>
            </a:r>
            <a:endParaRPr lang="en-US" sz="850" dirty="0"/>
          </a:p>
        </p:txBody>
      </p:sp>
      <p:sp>
        <p:nvSpPr>
          <p:cNvPr id="5" name="Text 3"/>
          <p:cNvSpPr/>
          <p:nvPr/>
        </p:nvSpPr>
        <p:spPr>
          <a:xfrm>
            <a:off x="566928" y="310896"/>
            <a:ext cx="10607040" cy="237744"/>
          </a:xfrm>
          <a:prstGeom prst="rect">
            <a:avLst/>
          </a:prstGeom>
          <a:noFill/>
          <a:ln/>
        </p:spPr>
        <p:txBody>
          <a:bodyPr wrap="square" lIns="0" tIns="0" rIns="0" bIns="0" rtlCol="0" anchor="ctr"/>
          <a:lstStyle/>
          <a:p>
            <a:pPr indent="0" marL="0">
              <a:buNone/>
            </a:pPr>
            <a:r>
              <a:rPr lang="en-US" sz="1050" b="1" spc="220" kern="0" dirty="0">
                <a:solidFill>
                  <a:srgbClr val="B03A2E"/>
                </a:solidFill>
                <a:latin typeface="Arial" pitchFamily="34" charset="0"/>
                <a:ea typeface="Arial" pitchFamily="34" charset="-122"/>
                <a:cs typeface="Arial" pitchFamily="34" charset="-120"/>
              </a:rPr>
              <a:t>RECOMMENDED FOR THE ROADMAP</a:t>
            </a:r>
            <a:endParaRPr lang="en-US" sz="1050" dirty="0"/>
          </a:p>
        </p:txBody>
      </p:sp>
      <p:sp>
        <p:nvSpPr>
          <p:cNvPr id="6" name="Text 4"/>
          <p:cNvSpPr/>
          <p:nvPr/>
        </p:nvSpPr>
        <p:spPr>
          <a:xfrm>
            <a:off x="548640" y="530352"/>
            <a:ext cx="10881360" cy="502920"/>
          </a:xfrm>
          <a:prstGeom prst="rect">
            <a:avLst/>
          </a:prstGeom>
          <a:noFill/>
          <a:ln/>
        </p:spPr>
        <p:txBody>
          <a:bodyPr wrap="square" lIns="0" tIns="0" rIns="0" bIns="0" rtlCol="0" anchor="ctr"/>
          <a:lstStyle/>
          <a:p>
            <a:pPr indent="0" marL="0">
              <a:buNone/>
            </a:pPr>
            <a:r>
              <a:rPr lang="en-US" sz="2700" b="1" dirty="0">
                <a:solidFill>
                  <a:srgbClr val="0B2545"/>
                </a:solidFill>
                <a:latin typeface="Arial" pitchFamily="34" charset="0"/>
                <a:ea typeface="Arial" pitchFamily="34" charset="-122"/>
                <a:cs typeface="Arial" pitchFamily="34" charset="-120"/>
              </a:rPr>
              <a:t>Three patterns not yet started</a:t>
            </a:r>
            <a:endParaRPr lang="en-US" sz="2700" dirty="0"/>
          </a:p>
        </p:txBody>
      </p:sp>
      <p:sp>
        <p:nvSpPr>
          <p:cNvPr id="7" name="Text 5"/>
          <p:cNvSpPr/>
          <p:nvPr/>
        </p:nvSpPr>
        <p:spPr>
          <a:xfrm>
            <a:off x="566928" y="1033272"/>
            <a:ext cx="10789920" cy="292608"/>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Not gaps to apologise for — the next three items, each with a clear, scoped first step.</a:t>
            </a:r>
            <a:endParaRPr lang="en-US" sz="1250" dirty="0"/>
          </a:p>
        </p:txBody>
      </p:sp>
      <p:sp>
        <p:nvSpPr>
          <p:cNvPr id="8" name="Shape 6"/>
          <p:cNvSpPr/>
          <p:nvPr/>
        </p:nvSpPr>
        <p:spPr>
          <a:xfrm>
            <a:off x="566928" y="1371600"/>
            <a:ext cx="11064240" cy="0"/>
          </a:xfrm>
          <a:prstGeom prst="line">
            <a:avLst/>
          </a:prstGeom>
          <a:noFill/>
          <a:ln w="12700">
            <a:solidFill>
              <a:srgbClr val="D9E2EC"/>
            </a:solidFill>
            <a:prstDash val="solid"/>
          </a:ln>
        </p:spPr>
      </p:sp>
      <p:sp>
        <p:nvSpPr>
          <p:cNvPr id="9" name="Shape 7"/>
          <p:cNvSpPr/>
          <p:nvPr/>
        </p:nvSpPr>
        <p:spPr>
          <a:xfrm>
            <a:off x="548640" y="1572768"/>
            <a:ext cx="3566160" cy="4160520"/>
          </a:xfrm>
          <a:prstGeom prst="roundRect">
            <a:avLst>
              <a:gd name="adj" fmla="val 1538"/>
            </a:avLst>
          </a:prstGeom>
          <a:solidFill>
            <a:srgbClr val="FBEAE8"/>
          </a:solidFill>
          <a:ln w="12700">
            <a:solidFill>
              <a:srgbClr val="B03A2E"/>
            </a:solidFill>
            <a:prstDash val="solid"/>
          </a:ln>
        </p:spPr>
      </p:sp>
      <p:sp>
        <p:nvSpPr>
          <p:cNvPr id="10" name="Shape 8"/>
          <p:cNvSpPr/>
          <p:nvPr/>
        </p:nvSpPr>
        <p:spPr>
          <a:xfrm>
            <a:off x="2697480" y="1572768"/>
            <a:ext cx="1417320" cy="310896"/>
          </a:xfrm>
          <a:prstGeom prst="roundRect">
            <a:avLst>
              <a:gd name="adj" fmla="val 14706"/>
            </a:avLst>
          </a:prstGeom>
          <a:solidFill>
            <a:srgbClr val="1B4F8C"/>
          </a:solidFill>
          <a:ln/>
        </p:spPr>
      </p:sp>
      <p:sp>
        <p:nvSpPr>
          <p:cNvPr id="11" name="Text 9"/>
          <p:cNvSpPr/>
          <p:nvPr/>
        </p:nvSpPr>
        <p:spPr>
          <a:xfrm>
            <a:off x="2697480" y="1572768"/>
            <a:ext cx="141732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START HERE</a:t>
            </a:r>
            <a:endParaRPr lang="en-US" sz="900" dirty="0"/>
          </a:p>
        </p:txBody>
      </p:sp>
      <p:sp>
        <p:nvSpPr>
          <p:cNvPr id="12" name="Shape 10"/>
          <p:cNvSpPr/>
          <p:nvPr/>
        </p:nvSpPr>
        <p:spPr>
          <a:xfrm>
            <a:off x="749808" y="2011680"/>
            <a:ext cx="502920" cy="502920"/>
          </a:xfrm>
          <a:prstGeom prst="ellipse">
            <a:avLst/>
          </a:prstGeom>
          <a:solidFill>
            <a:srgbClr val="FFFFFF"/>
          </a:solidFill>
          <a:ln w="12700">
            <a:solidFill>
              <a:srgbClr val="B03A2E"/>
            </a:solidFill>
            <a:prstDash val="solid"/>
          </a:ln>
        </p:spPr>
      </p:sp>
      <p:pic>
        <p:nvPicPr>
          <p:cNvPr id="13" name="Image 0" descr="preencoded.png">    </p:cNvPr>
          <p:cNvPicPr>
            <a:picLocks noChangeAspect="1"/>
          </p:cNvPicPr>
          <p:nvPr/>
        </p:nvPicPr>
        <p:blipFill>
          <a:blip r:embed="rId1"/>
          <a:stretch>
            <a:fillRect/>
          </a:stretch>
        </p:blipFill>
        <p:spPr>
          <a:xfrm>
            <a:off x="885596" y="2147468"/>
            <a:ext cx="231343" cy="231343"/>
          </a:xfrm>
          <a:prstGeom prst="rect">
            <a:avLst/>
          </a:prstGeom>
        </p:spPr>
      </p:pic>
      <p:sp>
        <p:nvSpPr>
          <p:cNvPr id="14" name="Text 11"/>
          <p:cNvSpPr/>
          <p:nvPr/>
        </p:nvSpPr>
        <p:spPr>
          <a:xfrm>
            <a:off x="749808" y="2606040"/>
            <a:ext cx="3163824" cy="502920"/>
          </a:xfrm>
          <a:prstGeom prst="rect">
            <a:avLst/>
          </a:prstGeom>
          <a:noFill/>
          <a:ln/>
        </p:spPr>
        <p:txBody>
          <a:bodyPr wrap="square" lIns="0" tIns="0" rIns="0" bIns="0" rtlCol="0" anchor="ctr"/>
          <a:lstStyle/>
          <a:p>
            <a:pPr indent="0" marL="0">
              <a:buNone/>
            </a:pPr>
            <a:r>
              <a:rPr lang="en-US" sz="1450" b="1" dirty="0">
                <a:solidFill>
                  <a:srgbClr val="0B2545"/>
                </a:solidFill>
                <a:latin typeface="Arial" pitchFamily="34" charset="0"/>
                <a:ea typeface="Arial" pitchFamily="34" charset="-122"/>
                <a:cs typeface="Arial" pitchFamily="34" charset="-120"/>
              </a:rPr>
              <a:t>Bulkhead Isolation</a:t>
            </a:r>
            <a:endParaRPr lang="en-US" sz="1450" dirty="0"/>
          </a:p>
        </p:txBody>
      </p:sp>
      <p:sp>
        <p:nvSpPr>
          <p:cNvPr id="15" name="Text 12"/>
          <p:cNvSpPr/>
          <p:nvPr/>
        </p:nvSpPr>
        <p:spPr>
          <a:xfrm>
            <a:off x="749808" y="3127248"/>
            <a:ext cx="3163824" cy="1051560"/>
          </a:xfrm>
          <a:prstGeom prst="rect">
            <a:avLst/>
          </a:prstGeom>
          <a:noFill/>
          <a:ln/>
        </p:spPr>
        <p:txBody>
          <a:bodyPr wrap="square" lIns="0" tIns="0" rIns="0" bIns="0" rtlCol="0" anchor="ctr"/>
          <a:lstStyle/>
          <a:p>
            <a:pPr indent="0" marL="0">
              <a:lnSpc>
                <a:spcPts val="1350"/>
              </a:lnSpc>
              <a:buNone/>
            </a:pPr>
            <a:r>
              <a:rPr lang="en-US" sz="1000" dirty="0">
                <a:solidFill>
                  <a:srgbClr val="27364B"/>
                </a:solidFill>
                <a:latin typeface="Calibri" pitchFamily="34" charset="0"/>
                <a:ea typeface="Calibri" pitchFamily="34" charset="-122"/>
                <a:cs typeface="Calibri" pitchFamily="34" charset="-120"/>
              </a:rPr>
              <a:t>No separate thread pools or @Bulkhead configuration documented — only a circuit breaker exists today.</a:t>
            </a:r>
            <a:endParaRPr lang="en-US" sz="1000" dirty="0"/>
          </a:p>
        </p:txBody>
      </p:sp>
      <p:sp>
        <p:nvSpPr>
          <p:cNvPr id="16" name="Shape 13"/>
          <p:cNvSpPr/>
          <p:nvPr/>
        </p:nvSpPr>
        <p:spPr>
          <a:xfrm>
            <a:off x="749808" y="4343400"/>
            <a:ext cx="3163824" cy="1207008"/>
          </a:xfrm>
          <a:prstGeom prst="roundRect">
            <a:avLst>
              <a:gd name="adj" fmla="val 3788"/>
            </a:avLst>
          </a:prstGeom>
          <a:solidFill>
            <a:srgbClr val="FFFFFF"/>
          </a:solidFill>
          <a:ln w="12700">
            <a:solidFill>
              <a:srgbClr val="1B4F8C"/>
            </a:solidFill>
            <a:prstDash val="solid"/>
          </a:ln>
        </p:spPr>
      </p:sp>
      <p:sp>
        <p:nvSpPr>
          <p:cNvPr id="17" name="Text 14"/>
          <p:cNvSpPr/>
          <p:nvPr/>
        </p:nvSpPr>
        <p:spPr>
          <a:xfrm>
            <a:off x="877824" y="4434840"/>
            <a:ext cx="2926080" cy="182880"/>
          </a:xfrm>
          <a:prstGeom prst="rect">
            <a:avLst/>
          </a:prstGeom>
          <a:noFill/>
          <a:ln/>
        </p:spPr>
        <p:txBody>
          <a:bodyPr wrap="square" lIns="0" tIns="0" rIns="0" bIns="0" rtlCol="0" anchor="ctr"/>
          <a:lstStyle/>
          <a:p>
            <a:pPr indent="0" marL="0">
              <a:buNone/>
            </a:pPr>
            <a:r>
              <a:rPr lang="en-US" sz="850" b="1" spc="80" kern="0" dirty="0">
                <a:solidFill>
                  <a:srgbClr val="1B4F8C"/>
                </a:solidFill>
                <a:latin typeface="Arial" pitchFamily="34" charset="0"/>
                <a:ea typeface="Arial" pitchFamily="34" charset="-122"/>
                <a:cs typeface="Arial" pitchFamily="34" charset="-120"/>
              </a:rPr>
              <a:t>RECOMMENDATION</a:t>
            </a:r>
            <a:endParaRPr lang="en-US" sz="850" dirty="0"/>
          </a:p>
        </p:txBody>
      </p:sp>
      <p:sp>
        <p:nvSpPr>
          <p:cNvPr id="18" name="Text 15"/>
          <p:cNvSpPr/>
          <p:nvPr/>
        </p:nvSpPr>
        <p:spPr>
          <a:xfrm>
            <a:off x="877824" y="4608576"/>
            <a:ext cx="2926080" cy="914400"/>
          </a:xfrm>
          <a:prstGeom prst="rect">
            <a:avLst/>
          </a:prstGeom>
          <a:noFill/>
          <a:ln/>
        </p:spPr>
        <p:txBody>
          <a:bodyPr wrap="square" lIns="0" tIns="0" rIns="0" bIns="0" rtlCol="0" anchor="ctr"/>
          <a:lstStyle/>
          <a:p>
            <a:pPr indent="0" marL="0">
              <a:lnSpc>
                <a:spcPts val="1250"/>
              </a:lnSpc>
              <a:buNone/>
            </a:pPr>
            <a:r>
              <a:rPr lang="en-US" sz="930" dirty="0">
                <a:solidFill>
                  <a:srgbClr val="27364B"/>
                </a:solidFill>
                <a:latin typeface="Calibri" pitchFamily="34" charset="0"/>
                <a:ea typeface="Calibri" pitchFamily="34" charset="-122"/>
                <a:cs typeface="Calibri" pitchFamily="34" charset="-120"/>
              </a:rPr>
              <a:t>Add Resilience4j @Bulkhead per dependency. Pairs naturally with the resilience framework already in place.</a:t>
            </a:r>
            <a:endParaRPr lang="en-US" sz="930" dirty="0"/>
          </a:p>
        </p:txBody>
      </p:sp>
      <p:sp>
        <p:nvSpPr>
          <p:cNvPr id="19" name="Shape 16"/>
          <p:cNvSpPr/>
          <p:nvPr/>
        </p:nvSpPr>
        <p:spPr>
          <a:xfrm>
            <a:off x="4315968" y="1572768"/>
            <a:ext cx="3566160" cy="4160520"/>
          </a:xfrm>
          <a:prstGeom prst="roundRect">
            <a:avLst>
              <a:gd name="adj" fmla="val 1538"/>
            </a:avLst>
          </a:prstGeom>
          <a:solidFill>
            <a:srgbClr val="FBEAE8"/>
          </a:solidFill>
          <a:ln w="12700">
            <a:solidFill>
              <a:srgbClr val="B03A2E"/>
            </a:solidFill>
            <a:prstDash val="solid"/>
          </a:ln>
        </p:spPr>
      </p:sp>
      <p:sp>
        <p:nvSpPr>
          <p:cNvPr id="20" name="Shape 17"/>
          <p:cNvSpPr/>
          <p:nvPr/>
        </p:nvSpPr>
        <p:spPr>
          <a:xfrm>
            <a:off x="4517136" y="2011680"/>
            <a:ext cx="502920" cy="502920"/>
          </a:xfrm>
          <a:prstGeom prst="ellipse">
            <a:avLst/>
          </a:prstGeom>
          <a:solidFill>
            <a:srgbClr val="FFFFFF"/>
          </a:solidFill>
          <a:ln w="12700">
            <a:solidFill>
              <a:srgbClr val="B03A2E"/>
            </a:solidFill>
            <a:prstDash val="solid"/>
          </a:ln>
        </p:spPr>
      </p:sp>
      <p:pic>
        <p:nvPicPr>
          <p:cNvPr id="21" name="Image 1" descr="preencoded.png">    </p:cNvPr>
          <p:cNvPicPr>
            <a:picLocks noChangeAspect="1"/>
          </p:cNvPicPr>
          <p:nvPr/>
        </p:nvPicPr>
        <p:blipFill>
          <a:blip r:embed="rId2"/>
          <a:stretch>
            <a:fillRect/>
          </a:stretch>
        </p:blipFill>
        <p:spPr>
          <a:xfrm>
            <a:off x="4652924" y="2147468"/>
            <a:ext cx="231343" cy="231343"/>
          </a:xfrm>
          <a:prstGeom prst="rect">
            <a:avLst/>
          </a:prstGeom>
        </p:spPr>
      </p:pic>
      <p:sp>
        <p:nvSpPr>
          <p:cNvPr id="22" name="Text 18"/>
          <p:cNvSpPr/>
          <p:nvPr/>
        </p:nvSpPr>
        <p:spPr>
          <a:xfrm>
            <a:off x="4517136" y="2606040"/>
            <a:ext cx="3163824" cy="502920"/>
          </a:xfrm>
          <a:prstGeom prst="rect">
            <a:avLst/>
          </a:prstGeom>
          <a:noFill/>
          <a:ln/>
        </p:spPr>
        <p:txBody>
          <a:bodyPr wrap="square" lIns="0" tIns="0" rIns="0" bIns="0" rtlCol="0" anchor="ctr"/>
          <a:lstStyle/>
          <a:p>
            <a:pPr indent="0" marL="0">
              <a:buNone/>
            </a:pPr>
            <a:r>
              <a:rPr lang="en-US" sz="1450" b="1" dirty="0">
                <a:solidFill>
                  <a:srgbClr val="0B2545"/>
                </a:solidFill>
                <a:latin typeface="Arial" pitchFamily="34" charset="0"/>
                <a:ea typeface="Arial" pitchFamily="34" charset="-122"/>
                <a:cs typeface="Arial" pitchFamily="34" charset="-120"/>
              </a:rPr>
              <a:t>In-Process Caching</a:t>
            </a:r>
            <a:endParaRPr lang="en-US" sz="1450" dirty="0"/>
          </a:p>
        </p:txBody>
      </p:sp>
      <p:sp>
        <p:nvSpPr>
          <p:cNvPr id="23" name="Text 19"/>
          <p:cNvSpPr/>
          <p:nvPr/>
        </p:nvSpPr>
        <p:spPr>
          <a:xfrm>
            <a:off x="4517136" y="3127248"/>
            <a:ext cx="3163824" cy="1051560"/>
          </a:xfrm>
          <a:prstGeom prst="rect">
            <a:avLst/>
          </a:prstGeom>
          <a:noFill/>
          <a:ln/>
        </p:spPr>
        <p:txBody>
          <a:bodyPr wrap="square" lIns="0" tIns="0" rIns="0" bIns="0" rtlCol="0" anchor="ctr"/>
          <a:lstStyle/>
          <a:p>
            <a:pPr indent="0" marL="0">
              <a:lnSpc>
                <a:spcPts val="1350"/>
              </a:lnSpc>
              <a:buNone/>
            </a:pPr>
            <a:r>
              <a:rPr lang="en-US" sz="1000" dirty="0">
                <a:solidFill>
                  <a:srgbClr val="27364B"/>
                </a:solidFill>
                <a:latin typeface="Calibri" pitchFamily="34" charset="0"/>
                <a:ea typeface="Calibri" pitchFamily="34" charset="-122"/>
                <a:cs typeface="Calibri" pitchFamily="34" charset="-120"/>
              </a:rPr>
              <a:t>Only Redis and MongoDB are documented; there's no local tier in front of Redis, so reference data round-trips on every call.</a:t>
            </a:r>
            <a:endParaRPr lang="en-US" sz="1000" dirty="0"/>
          </a:p>
        </p:txBody>
      </p:sp>
      <p:sp>
        <p:nvSpPr>
          <p:cNvPr id="24" name="Shape 20"/>
          <p:cNvSpPr/>
          <p:nvPr/>
        </p:nvSpPr>
        <p:spPr>
          <a:xfrm>
            <a:off x="4517136" y="4343400"/>
            <a:ext cx="3163824" cy="1207008"/>
          </a:xfrm>
          <a:prstGeom prst="roundRect">
            <a:avLst>
              <a:gd name="adj" fmla="val 3788"/>
            </a:avLst>
          </a:prstGeom>
          <a:solidFill>
            <a:srgbClr val="FFFFFF"/>
          </a:solidFill>
          <a:ln w="12700">
            <a:solidFill>
              <a:srgbClr val="1B4F8C"/>
            </a:solidFill>
            <a:prstDash val="solid"/>
          </a:ln>
        </p:spPr>
      </p:sp>
      <p:sp>
        <p:nvSpPr>
          <p:cNvPr id="25" name="Text 21"/>
          <p:cNvSpPr/>
          <p:nvPr/>
        </p:nvSpPr>
        <p:spPr>
          <a:xfrm>
            <a:off x="4645152" y="4434840"/>
            <a:ext cx="2926080" cy="182880"/>
          </a:xfrm>
          <a:prstGeom prst="rect">
            <a:avLst/>
          </a:prstGeom>
          <a:noFill/>
          <a:ln/>
        </p:spPr>
        <p:txBody>
          <a:bodyPr wrap="square" lIns="0" tIns="0" rIns="0" bIns="0" rtlCol="0" anchor="ctr"/>
          <a:lstStyle/>
          <a:p>
            <a:pPr indent="0" marL="0">
              <a:buNone/>
            </a:pPr>
            <a:r>
              <a:rPr lang="en-US" sz="850" b="1" spc="80" kern="0" dirty="0">
                <a:solidFill>
                  <a:srgbClr val="1B4F8C"/>
                </a:solidFill>
                <a:latin typeface="Arial" pitchFamily="34" charset="0"/>
                <a:ea typeface="Arial" pitchFamily="34" charset="-122"/>
                <a:cs typeface="Arial" pitchFamily="34" charset="-120"/>
              </a:rPr>
              <a:t>RECOMMENDATION</a:t>
            </a:r>
            <a:endParaRPr lang="en-US" sz="850" dirty="0"/>
          </a:p>
        </p:txBody>
      </p:sp>
      <p:sp>
        <p:nvSpPr>
          <p:cNvPr id="26" name="Text 22"/>
          <p:cNvSpPr/>
          <p:nvPr/>
        </p:nvSpPr>
        <p:spPr>
          <a:xfrm>
            <a:off x="4645152" y="4608576"/>
            <a:ext cx="2926080" cy="914400"/>
          </a:xfrm>
          <a:prstGeom prst="rect">
            <a:avLst/>
          </a:prstGeom>
          <a:noFill/>
          <a:ln/>
        </p:spPr>
        <p:txBody>
          <a:bodyPr wrap="square" lIns="0" tIns="0" rIns="0" bIns="0" rtlCol="0" anchor="ctr"/>
          <a:lstStyle/>
          <a:p>
            <a:pPr indent="0" marL="0">
              <a:lnSpc>
                <a:spcPts val="1250"/>
              </a:lnSpc>
              <a:buNone/>
            </a:pPr>
            <a:r>
              <a:rPr lang="en-US" sz="930" dirty="0">
                <a:solidFill>
                  <a:srgbClr val="27364B"/>
                </a:solidFill>
                <a:latin typeface="Calibri" pitchFamily="34" charset="0"/>
                <a:ea typeface="Calibri" pitchFamily="34" charset="-122"/>
                <a:cs typeface="Calibri" pitchFamily="34" charset="-120"/>
              </a:rPr>
              <a:t>Add a local (e.g. Caffeine) tier for hot, rarely-changing keys — a small addition on top of the Redis layer already live.</a:t>
            </a:r>
            <a:endParaRPr lang="en-US" sz="930" dirty="0"/>
          </a:p>
        </p:txBody>
      </p:sp>
      <p:sp>
        <p:nvSpPr>
          <p:cNvPr id="27" name="Shape 23"/>
          <p:cNvSpPr/>
          <p:nvPr/>
        </p:nvSpPr>
        <p:spPr>
          <a:xfrm>
            <a:off x="8083296" y="1572768"/>
            <a:ext cx="3566160" cy="4160520"/>
          </a:xfrm>
          <a:prstGeom prst="roundRect">
            <a:avLst>
              <a:gd name="adj" fmla="val 1538"/>
            </a:avLst>
          </a:prstGeom>
          <a:solidFill>
            <a:srgbClr val="FBEAE8"/>
          </a:solidFill>
          <a:ln w="12700">
            <a:solidFill>
              <a:srgbClr val="B03A2E"/>
            </a:solidFill>
            <a:prstDash val="solid"/>
          </a:ln>
        </p:spPr>
      </p:sp>
      <p:sp>
        <p:nvSpPr>
          <p:cNvPr id="28" name="Shape 24"/>
          <p:cNvSpPr/>
          <p:nvPr/>
        </p:nvSpPr>
        <p:spPr>
          <a:xfrm>
            <a:off x="8284464" y="2011680"/>
            <a:ext cx="502920" cy="502920"/>
          </a:xfrm>
          <a:prstGeom prst="ellipse">
            <a:avLst/>
          </a:prstGeom>
          <a:solidFill>
            <a:srgbClr val="FFFFFF"/>
          </a:solidFill>
          <a:ln w="12700">
            <a:solidFill>
              <a:srgbClr val="B03A2E"/>
            </a:solidFill>
            <a:prstDash val="solid"/>
          </a:ln>
        </p:spPr>
      </p:sp>
      <p:pic>
        <p:nvPicPr>
          <p:cNvPr id="29" name="Image 2" descr="preencoded.png">    </p:cNvPr>
          <p:cNvPicPr>
            <a:picLocks noChangeAspect="1"/>
          </p:cNvPicPr>
          <p:nvPr/>
        </p:nvPicPr>
        <p:blipFill>
          <a:blip r:embed="rId3"/>
          <a:stretch>
            <a:fillRect/>
          </a:stretch>
        </p:blipFill>
        <p:spPr>
          <a:xfrm>
            <a:off x="8420252" y="2147468"/>
            <a:ext cx="231343" cy="231343"/>
          </a:xfrm>
          <a:prstGeom prst="rect">
            <a:avLst/>
          </a:prstGeom>
        </p:spPr>
      </p:pic>
      <p:sp>
        <p:nvSpPr>
          <p:cNvPr id="30" name="Text 25"/>
          <p:cNvSpPr/>
          <p:nvPr/>
        </p:nvSpPr>
        <p:spPr>
          <a:xfrm>
            <a:off x="8284464" y="2606040"/>
            <a:ext cx="3163824" cy="502920"/>
          </a:xfrm>
          <a:prstGeom prst="rect">
            <a:avLst/>
          </a:prstGeom>
          <a:noFill/>
          <a:ln/>
        </p:spPr>
        <p:txBody>
          <a:bodyPr wrap="square" lIns="0" tIns="0" rIns="0" bIns="0" rtlCol="0" anchor="ctr"/>
          <a:lstStyle/>
          <a:p>
            <a:pPr indent="0" marL="0">
              <a:buNone/>
            </a:pPr>
            <a:r>
              <a:rPr lang="en-US" sz="1450" b="1" dirty="0">
                <a:solidFill>
                  <a:srgbClr val="0B2545"/>
                </a:solidFill>
                <a:latin typeface="Arial" pitchFamily="34" charset="0"/>
                <a:ea typeface="Arial" pitchFamily="34" charset="-122"/>
                <a:cs typeface="Arial" pitchFamily="34" charset="-120"/>
              </a:rPr>
              <a:t>gRPC / Binary Protocol</a:t>
            </a:r>
            <a:endParaRPr lang="en-US" sz="1450" dirty="0"/>
          </a:p>
        </p:txBody>
      </p:sp>
      <p:sp>
        <p:nvSpPr>
          <p:cNvPr id="31" name="Text 26"/>
          <p:cNvSpPr/>
          <p:nvPr/>
        </p:nvSpPr>
        <p:spPr>
          <a:xfrm>
            <a:off x="8284464" y="3127248"/>
            <a:ext cx="3163824" cy="1051560"/>
          </a:xfrm>
          <a:prstGeom prst="rect">
            <a:avLst/>
          </a:prstGeom>
          <a:noFill/>
          <a:ln/>
        </p:spPr>
        <p:txBody>
          <a:bodyPr wrap="square" lIns="0" tIns="0" rIns="0" bIns="0" rtlCol="0" anchor="ctr"/>
          <a:lstStyle/>
          <a:p>
            <a:pPr indent="0" marL="0">
              <a:lnSpc>
                <a:spcPts val="1350"/>
              </a:lnSpc>
              <a:buNone/>
            </a:pPr>
            <a:r>
              <a:rPr lang="en-US" sz="1000" dirty="0">
                <a:solidFill>
                  <a:srgbClr val="27364B"/>
                </a:solidFill>
                <a:latin typeface="Calibri" pitchFamily="34" charset="0"/>
                <a:ea typeface="Calibri" pitchFamily="34" charset="-122"/>
                <a:cs typeface="Calibri" pitchFamily="34" charset="-120"/>
              </a:rPr>
              <a:t>All internal calls are REST/JSON, GraphQL, or legacy SOAP today; no gRPC or Protobuf anywhere in the docs.</a:t>
            </a:r>
            <a:endParaRPr lang="en-US" sz="1000" dirty="0"/>
          </a:p>
        </p:txBody>
      </p:sp>
      <p:sp>
        <p:nvSpPr>
          <p:cNvPr id="32" name="Shape 27"/>
          <p:cNvSpPr/>
          <p:nvPr/>
        </p:nvSpPr>
        <p:spPr>
          <a:xfrm>
            <a:off x="8284464" y="4343400"/>
            <a:ext cx="3163824" cy="1207008"/>
          </a:xfrm>
          <a:prstGeom prst="roundRect">
            <a:avLst>
              <a:gd name="adj" fmla="val 3788"/>
            </a:avLst>
          </a:prstGeom>
          <a:solidFill>
            <a:srgbClr val="FFFFFF"/>
          </a:solidFill>
          <a:ln w="12700">
            <a:solidFill>
              <a:srgbClr val="1B4F8C"/>
            </a:solidFill>
            <a:prstDash val="solid"/>
          </a:ln>
        </p:spPr>
      </p:sp>
      <p:sp>
        <p:nvSpPr>
          <p:cNvPr id="33" name="Text 28"/>
          <p:cNvSpPr/>
          <p:nvPr/>
        </p:nvSpPr>
        <p:spPr>
          <a:xfrm>
            <a:off x="8412480" y="4434840"/>
            <a:ext cx="2926080" cy="182880"/>
          </a:xfrm>
          <a:prstGeom prst="rect">
            <a:avLst/>
          </a:prstGeom>
          <a:noFill/>
          <a:ln/>
        </p:spPr>
        <p:txBody>
          <a:bodyPr wrap="square" lIns="0" tIns="0" rIns="0" bIns="0" rtlCol="0" anchor="ctr"/>
          <a:lstStyle/>
          <a:p>
            <a:pPr indent="0" marL="0">
              <a:buNone/>
            </a:pPr>
            <a:r>
              <a:rPr lang="en-US" sz="850" b="1" spc="80" kern="0" dirty="0">
                <a:solidFill>
                  <a:srgbClr val="1B4F8C"/>
                </a:solidFill>
                <a:latin typeface="Arial" pitchFamily="34" charset="0"/>
                <a:ea typeface="Arial" pitchFamily="34" charset="-122"/>
                <a:cs typeface="Arial" pitchFamily="34" charset="-120"/>
              </a:rPr>
              <a:t>RECOMMENDATION</a:t>
            </a:r>
            <a:endParaRPr lang="en-US" sz="850" dirty="0"/>
          </a:p>
        </p:txBody>
      </p:sp>
      <p:sp>
        <p:nvSpPr>
          <p:cNvPr id="34" name="Text 29"/>
          <p:cNvSpPr/>
          <p:nvPr/>
        </p:nvSpPr>
        <p:spPr>
          <a:xfrm>
            <a:off x="8412480" y="4608576"/>
            <a:ext cx="2926080" cy="914400"/>
          </a:xfrm>
          <a:prstGeom prst="rect">
            <a:avLst/>
          </a:prstGeom>
          <a:noFill/>
          <a:ln/>
        </p:spPr>
        <p:txBody>
          <a:bodyPr wrap="square" lIns="0" tIns="0" rIns="0" bIns="0" rtlCol="0" anchor="ctr"/>
          <a:lstStyle/>
          <a:p>
            <a:pPr indent="0" marL="0">
              <a:lnSpc>
                <a:spcPts val="1250"/>
              </a:lnSpc>
              <a:buNone/>
            </a:pPr>
            <a:r>
              <a:rPr lang="en-US" sz="930" dirty="0">
                <a:solidFill>
                  <a:srgbClr val="27364B"/>
                </a:solidFill>
                <a:latin typeface="Calibri" pitchFamily="34" charset="0"/>
                <a:ea typeface="Calibri" pitchFamily="34" charset="-122"/>
                <a:cs typeface="Calibri" pitchFamily="34" charset="-120"/>
              </a:rPr>
              <a:t>Defer until TTFB issues are resolved — a later-stage optimisation, not a current bottleneck.</a:t>
            </a:r>
            <a:endParaRPr lang="en-US" sz="93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1B4F8C"/>
          </a:solidFill>
          <a:ln/>
        </p:spPr>
      </p:sp>
      <p:sp>
        <p:nvSpPr>
          <p:cNvPr id="3" name="Text 1"/>
          <p:cNvSpPr/>
          <p:nvPr/>
        </p:nvSpPr>
        <p:spPr>
          <a:xfrm>
            <a:off x="11155680" y="6519672"/>
            <a:ext cx="822960" cy="256032"/>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13 / 13</a:t>
            </a:r>
            <a:endParaRPr lang="en-US" sz="950" dirty="0"/>
          </a:p>
        </p:txBody>
      </p:sp>
      <p:sp>
        <p:nvSpPr>
          <p:cNvPr id="4" name="Text 2"/>
          <p:cNvSpPr/>
          <p:nvPr/>
        </p:nvSpPr>
        <p:spPr>
          <a:xfrm>
            <a:off x="548640" y="6519672"/>
            <a:ext cx="4572000" cy="256032"/>
          </a:xfrm>
          <a:prstGeom prst="rect">
            <a:avLst/>
          </a:prstGeom>
          <a:noFill/>
          <a:ln/>
        </p:spPr>
        <p:txBody>
          <a:bodyPr wrap="square" lIns="0" tIns="0" rIns="0" bIns="0" rtlCol="0" anchor="ctr"/>
          <a:lstStyle/>
          <a:p>
            <a:pPr indent="0" marL="0">
              <a:buNone/>
            </a:pPr>
            <a:r>
              <a:rPr lang="en-US" sz="850" spc="100" kern="0" dirty="0">
                <a:solidFill>
                  <a:srgbClr val="94A3B8"/>
                </a:solidFill>
                <a:latin typeface="Calibri" pitchFamily="34" charset="0"/>
                <a:ea typeface="Calibri" pitchFamily="34" charset="-122"/>
                <a:cs typeface="Calibri" pitchFamily="34" charset="-120"/>
              </a:rPr>
              <a:t>ACCOUNT HOME PERFORMANCE PROGRAM</a:t>
            </a:r>
            <a:endParaRPr lang="en-US" sz="850" dirty="0"/>
          </a:p>
        </p:txBody>
      </p:sp>
      <p:sp>
        <p:nvSpPr>
          <p:cNvPr id="5" name="Text 3"/>
          <p:cNvSpPr/>
          <p:nvPr/>
        </p:nvSpPr>
        <p:spPr>
          <a:xfrm>
            <a:off x="566928" y="310896"/>
            <a:ext cx="10607040" cy="237744"/>
          </a:xfrm>
          <a:prstGeom prst="rect">
            <a:avLst/>
          </a:prstGeom>
          <a:noFill/>
          <a:ln/>
        </p:spPr>
        <p:txBody>
          <a:bodyPr wrap="square" lIns="0" tIns="0" rIns="0" bIns="0" rtlCol="0" anchor="ctr"/>
          <a:lstStyle/>
          <a:p>
            <a:pPr indent="0" marL="0">
              <a:buNone/>
            </a:pPr>
            <a:r>
              <a:rPr lang="en-US" sz="1050" b="1" spc="220" kern="0" dirty="0">
                <a:solidFill>
                  <a:srgbClr val="1B4F8C"/>
                </a:solidFill>
                <a:latin typeface="Arial" pitchFamily="34" charset="0"/>
                <a:ea typeface="Arial" pitchFamily="34" charset="-122"/>
                <a:cs typeface="Arial" pitchFamily="34" charset="-120"/>
              </a:rPr>
              <a:t>METHODOLOGY &amp; SOURCES</a:t>
            </a:r>
            <a:endParaRPr lang="en-US" sz="1050" dirty="0"/>
          </a:p>
        </p:txBody>
      </p:sp>
      <p:sp>
        <p:nvSpPr>
          <p:cNvPr id="6" name="Text 4"/>
          <p:cNvSpPr/>
          <p:nvPr/>
        </p:nvSpPr>
        <p:spPr>
          <a:xfrm>
            <a:off x="548640" y="530352"/>
            <a:ext cx="10881360" cy="502920"/>
          </a:xfrm>
          <a:prstGeom prst="rect">
            <a:avLst/>
          </a:prstGeom>
          <a:noFill/>
          <a:ln/>
        </p:spPr>
        <p:txBody>
          <a:bodyPr wrap="square" lIns="0" tIns="0" rIns="0" bIns="0" rtlCol="0" anchor="ctr"/>
          <a:lstStyle/>
          <a:p>
            <a:pPr indent="0" marL="0">
              <a:buNone/>
            </a:pPr>
            <a:r>
              <a:rPr lang="en-US" sz="2700" b="1" dirty="0">
                <a:solidFill>
                  <a:srgbClr val="0B2545"/>
                </a:solidFill>
                <a:latin typeface="Arial" pitchFamily="34" charset="0"/>
                <a:ea typeface="Arial" pitchFamily="34" charset="-122"/>
                <a:cs typeface="Arial" pitchFamily="34" charset="-120"/>
              </a:rPr>
              <a:t>How this was compiled</a:t>
            </a:r>
            <a:endParaRPr lang="en-US" sz="2700" dirty="0"/>
          </a:p>
        </p:txBody>
      </p:sp>
      <p:sp>
        <p:nvSpPr>
          <p:cNvPr id="7" name="Text 5"/>
          <p:cNvSpPr/>
          <p:nvPr/>
        </p:nvSpPr>
        <p:spPr>
          <a:xfrm>
            <a:off x="566928" y="1033272"/>
            <a:ext cx="10789920" cy="292608"/>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So every claim in this deck can be checked against its source.</a:t>
            </a:r>
            <a:endParaRPr lang="en-US" sz="1250" dirty="0"/>
          </a:p>
        </p:txBody>
      </p:sp>
      <p:sp>
        <p:nvSpPr>
          <p:cNvPr id="8" name="Shape 6"/>
          <p:cNvSpPr/>
          <p:nvPr/>
        </p:nvSpPr>
        <p:spPr>
          <a:xfrm>
            <a:off x="566928" y="1371600"/>
            <a:ext cx="11064240" cy="0"/>
          </a:xfrm>
          <a:prstGeom prst="line">
            <a:avLst/>
          </a:prstGeom>
          <a:noFill/>
          <a:ln w="12700">
            <a:solidFill>
              <a:srgbClr val="D9E2EC"/>
            </a:solidFill>
            <a:prstDash val="solid"/>
          </a:ln>
        </p:spPr>
      </p:sp>
      <p:sp>
        <p:nvSpPr>
          <p:cNvPr id="9" name="Shape 7"/>
          <p:cNvSpPr/>
          <p:nvPr/>
        </p:nvSpPr>
        <p:spPr>
          <a:xfrm>
            <a:off x="548640" y="1572768"/>
            <a:ext cx="5349240" cy="4023360"/>
          </a:xfrm>
          <a:prstGeom prst="roundRect">
            <a:avLst>
              <a:gd name="adj" fmla="val 1364"/>
            </a:avLst>
          </a:prstGeom>
          <a:solidFill>
            <a:srgbClr val="FFFFFF"/>
          </a:solidFill>
          <a:ln w="12700">
            <a:solidFill>
              <a:srgbClr val="D9E2EC"/>
            </a:solidFill>
            <a:prstDash val="solid"/>
          </a:ln>
        </p:spPr>
      </p:sp>
      <p:sp>
        <p:nvSpPr>
          <p:cNvPr id="10" name="Text 8"/>
          <p:cNvSpPr/>
          <p:nvPr/>
        </p:nvSpPr>
        <p:spPr>
          <a:xfrm>
            <a:off x="804672" y="1792224"/>
            <a:ext cx="4846320" cy="237744"/>
          </a:xfrm>
          <a:prstGeom prst="rect">
            <a:avLst/>
          </a:prstGeom>
          <a:noFill/>
          <a:ln/>
        </p:spPr>
        <p:txBody>
          <a:bodyPr wrap="square" lIns="0" tIns="0" rIns="0" bIns="0" rtlCol="0" anchor="ctr"/>
          <a:lstStyle/>
          <a:p>
            <a:pPr indent="0" marL="0">
              <a:buNone/>
            </a:pPr>
            <a:r>
              <a:rPr lang="en-US" sz="1000" b="1" spc="140" kern="0" dirty="0">
                <a:solidFill>
                  <a:srgbClr val="1B4F8C"/>
                </a:solidFill>
                <a:latin typeface="Arial" pitchFamily="34" charset="0"/>
                <a:ea typeface="Arial" pitchFamily="34" charset="-122"/>
                <a:cs typeface="Arial" pitchFamily="34" charset="-120"/>
              </a:rPr>
              <a:t>SEARCH SCOPE</a:t>
            </a:r>
            <a:endParaRPr lang="en-US" sz="1000" dirty="0"/>
          </a:p>
        </p:txBody>
      </p:sp>
      <p:sp>
        <p:nvSpPr>
          <p:cNvPr id="11" name="Shape 9"/>
          <p:cNvSpPr/>
          <p:nvPr/>
        </p:nvSpPr>
        <p:spPr>
          <a:xfrm>
            <a:off x="804672" y="2103120"/>
            <a:ext cx="137160" cy="137160"/>
          </a:xfrm>
          <a:prstGeom prst="roundRect">
            <a:avLst>
              <a:gd name="adj" fmla="val 20000"/>
            </a:avLst>
          </a:prstGeom>
          <a:solidFill>
            <a:srgbClr val="1B4F8C"/>
          </a:solidFill>
          <a:ln/>
        </p:spPr>
      </p:sp>
      <p:sp>
        <p:nvSpPr>
          <p:cNvPr id="12" name="Text 10"/>
          <p:cNvSpPr/>
          <p:nvPr/>
        </p:nvSpPr>
        <p:spPr>
          <a:xfrm>
            <a:off x="1060704" y="2029968"/>
            <a:ext cx="4590288" cy="502920"/>
          </a:xfrm>
          <a:prstGeom prst="rect">
            <a:avLst/>
          </a:prstGeom>
          <a:noFill/>
          <a:ln/>
        </p:spPr>
        <p:txBody>
          <a:bodyPr wrap="square" lIns="0" tIns="0" rIns="0" bIns="0" rtlCol="0" anchor="t"/>
          <a:lstStyle/>
          <a:p>
            <a:pPr indent="0" marL="0">
              <a:lnSpc>
                <a:spcPts val="1550"/>
              </a:lnSpc>
              <a:buNone/>
            </a:pPr>
            <a:r>
              <a:rPr lang="en-US" sz="1150" dirty="0">
                <a:solidFill>
                  <a:srgbClr val="27364B"/>
                </a:solidFill>
                <a:latin typeface="Calibri" pitchFamily="34" charset="0"/>
                <a:ea typeface="Calibri" pitchFamily="34" charset="-122"/>
                <a:cs typeface="Calibri" pitchFamily="34" charset="-120"/>
              </a:rPr>
              <a:t>Searched the MBS Confluence space for: Account Home, MyTIAA, LCP, cache, aggregation, and Redis.</a:t>
            </a:r>
            <a:endParaRPr lang="en-US" sz="1150" dirty="0"/>
          </a:p>
        </p:txBody>
      </p:sp>
      <p:sp>
        <p:nvSpPr>
          <p:cNvPr id="13" name="Shape 11"/>
          <p:cNvSpPr/>
          <p:nvPr/>
        </p:nvSpPr>
        <p:spPr>
          <a:xfrm>
            <a:off x="804672" y="2718262"/>
            <a:ext cx="137160" cy="137160"/>
          </a:xfrm>
          <a:prstGeom prst="roundRect">
            <a:avLst>
              <a:gd name="adj" fmla="val 20000"/>
            </a:avLst>
          </a:prstGeom>
          <a:solidFill>
            <a:srgbClr val="1B4F8C"/>
          </a:solidFill>
          <a:ln/>
        </p:spPr>
      </p:sp>
      <p:sp>
        <p:nvSpPr>
          <p:cNvPr id="14" name="Text 12"/>
          <p:cNvSpPr/>
          <p:nvPr/>
        </p:nvSpPr>
        <p:spPr>
          <a:xfrm>
            <a:off x="1060704" y="2645110"/>
            <a:ext cx="4590288" cy="502920"/>
          </a:xfrm>
          <a:prstGeom prst="rect">
            <a:avLst/>
          </a:prstGeom>
          <a:noFill/>
          <a:ln/>
        </p:spPr>
        <p:txBody>
          <a:bodyPr wrap="square" lIns="0" tIns="0" rIns="0" bIns="0" rtlCol="0" anchor="t"/>
          <a:lstStyle/>
          <a:p>
            <a:pPr indent="0" marL="0">
              <a:lnSpc>
                <a:spcPts val="1550"/>
              </a:lnSpc>
              <a:buNone/>
            </a:pPr>
            <a:r>
              <a:rPr lang="en-US" sz="1150" dirty="0">
                <a:solidFill>
                  <a:srgbClr val="27364B"/>
                </a:solidFill>
                <a:latin typeface="Calibri" pitchFamily="34" charset="0"/>
                <a:ea typeface="Calibri" pitchFamily="34" charset="-122"/>
                <a:cs typeface="Calibri" pitchFamily="34" charset="-120"/>
              </a:rPr>
              <a:t>Prioritised pages updated within the last 12 months.</a:t>
            </a:r>
            <a:endParaRPr lang="en-US" sz="1150" dirty="0"/>
          </a:p>
        </p:txBody>
      </p:sp>
      <p:sp>
        <p:nvSpPr>
          <p:cNvPr id="15" name="Shape 13"/>
          <p:cNvSpPr/>
          <p:nvPr/>
        </p:nvSpPr>
        <p:spPr>
          <a:xfrm>
            <a:off x="804672" y="3094413"/>
            <a:ext cx="137160" cy="137160"/>
          </a:xfrm>
          <a:prstGeom prst="roundRect">
            <a:avLst>
              <a:gd name="adj" fmla="val 20000"/>
            </a:avLst>
          </a:prstGeom>
          <a:solidFill>
            <a:srgbClr val="1B4F8C"/>
          </a:solidFill>
          <a:ln/>
        </p:spPr>
      </p:sp>
      <p:sp>
        <p:nvSpPr>
          <p:cNvPr id="16" name="Text 14"/>
          <p:cNvSpPr/>
          <p:nvPr/>
        </p:nvSpPr>
        <p:spPr>
          <a:xfrm>
            <a:off x="1060704" y="3021261"/>
            <a:ext cx="4590288" cy="502920"/>
          </a:xfrm>
          <a:prstGeom prst="rect">
            <a:avLst/>
          </a:prstGeom>
          <a:noFill/>
          <a:ln/>
        </p:spPr>
        <p:txBody>
          <a:bodyPr wrap="square" lIns="0" tIns="0" rIns="0" bIns="0" rtlCol="0" anchor="t"/>
          <a:lstStyle/>
          <a:p>
            <a:pPr indent="0" marL="0">
              <a:lnSpc>
                <a:spcPts val="1550"/>
              </a:lnSpc>
              <a:buNone/>
            </a:pPr>
            <a:r>
              <a:rPr lang="en-US" sz="1150" dirty="0">
                <a:solidFill>
                  <a:srgbClr val="27364B"/>
                </a:solidFill>
                <a:latin typeface="Calibri" pitchFamily="34" charset="0"/>
                <a:ea typeface="Calibri" pitchFamily="34" charset="-122"/>
                <a:cs typeface="Calibri" pitchFamily="34" charset="-120"/>
              </a:rPr>
              <a:t>Evidence restricted to Account Home–specific documentation only — nothing inferred from other applications' stacks.</a:t>
            </a:r>
            <a:endParaRPr lang="en-US" sz="1150" dirty="0"/>
          </a:p>
        </p:txBody>
      </p:sp>
      <p:sp>
        <p:nvSpPr>
          <p:cNvPr id="17" name="Shape 15"/>
          <p:cNvSpPr/>
          <p:nvPr/>
        </p:nvSpPr>
        <p:spPr>
          <a:xfrm>
            <a:off x="6108192" y="1572768"/>
            <a:ext cx="5532120" cy="4023360"/>
          </a:xfrm>
          <a:prstGeom prst="roundRect">
            <a:avLst>
              <a:gd name="adj" fmla="val 1364"/>
            </a:avLst>
          </a:prstGeom>
          <a:solidFill>
            <a:srgbClr val="F5F9FE"/>
          </a:solidFill>
          <a:ln w="12700">
            <a:solidFill>
              <a:srgbClr val="D9E2EC"/>
            </a:solidFill>
            <a:prstDash val="solid"/>
          </a:ln>
        </p:spPr>
      </p:sp>
      <p:sp>
        <p:nvSpPr>
          <p:cNvPr id="18" name="Text 16"/>
          <p:cNvSpPr/>
          <p:nvPr/>
        </p:nvSpPr>
        <p:spPr>
          <a:xfrm>
            <a:off x="6364224" y="1792224"/>
            <a:ext cx="5029200" cy="237744"/>
          </a:xfrm>
          <a:prstGeom prst="rect">
            <a:avLst/>
          </a:prstGeom>
          <a:noFill/>
          <a:ln/>
        </p:spPr>
        <p:txBody>
          <a:bodyPr wrap="square" lIns="0" tIns="0" rIns="0" bIns="0" rtlCol="0" anchor="ctr"/>
          <a:lstStyle/>
          <a:p>
            <a:pPr indent="0" marL="0">
              <a:buNone/>
            </a:pPr>
            <a:r>
              <a:rPr lang="en-US" sz="1000" b="1" spc="140" kern="0" dirty="0">
                <a:solidFill>
                  <a:srgbClr val="1B4F8C"/>
                </a:solidFill>
                <a:latin typeface="Arial" pitchFamily="34" charset="0"/>
                <a:ea typeface="Arial" pitchFamily="34" charset="-122"/>
                <a:cs typeface="Arial" pitchFamily="34" charset="-120"/>
              </a:rPr>
              <a:t>KEY SOURCE PAGES</a:t>
            </a:r>
            <a:endParaRPr lang="en-US" sz="1000" dirty="0"/>
          </a:p>
        </p:txBody>
      </p:sp>
      <p:sp>
        <p:nvSpPr>
          <p:cNvPr id="19" name="Shape 17"/>
          <p:cNvSpPr/>
          <p:nvPr/>
        </p:nvSpPr>
        <p:spPr>
          <a:xfrm>
            <a:off x="6364224" y="2148840"/>
            <a:ext cx="5029200" cy="512064"/>
          </a:xfrm>
          <a:prstGeom prst="roundRect">
            <a:avLst>
              <a:gd name="adj" fmla="val 8929"/>
            </a:avLst>
          </a:prstGeom>
          <a:solidFill>
            <a:srgbClr val="FFFFFF"/>
          </a:solidFill>
          <a:ln w="12700">
            <a:solidFill>
              <a:srgbClr val="D9E2EC"/>
            </a:solidFill>
            <a:prstDash val="solid"/>
          </a:ln>
        </p:spPr>
      </p:sp>
      <p:sp>
        <p:nvSpPr>
          <p:cNvPr id="20" name="Text 18"/>
          <p:cNvSpPr/>
          <p:nvPr/>
        </p:nvSpPr>
        <p:spPr>
          <a:xfrm>
            <a:off x="6528816" y="2148840"/>
            <a:ext cx="3291840" cy="512064"/>
          </a:xfrm>
          <a:prstGeom prst="rect">
            <a:avLst/>
          </a:prstGeom>
          <a:noFill/>
          <a:ln/>
        </p:spPr>
        <p:txBody>
          <a:bodyPr wrap="square" lIns="0" tIns="0" rIns="0" bIns="0" rtlCol="0" anchor="ctr"/>
          <a:lstStyle/>
          <a:p>
            <a:pPr indent="0" marL="0">
              <a:buNone/>
            </a:pPr>
            <a:r>
              <a:rPr lang="en-US" sz="1100" b="1" dirty="0">
                <a:solidFill>
                  <a:srgbClr val="27364B"/>
                </a:solidFill>
                <a:latin typeface="Calibri" pitchFamily="34" charset="0"/>
                <a:ea typeface="Calibri" pitchFamily="34" charset="-122"/>
                <a:cs typeface="Calibri" pitchFamily="34" charset="-120"/>
              </a:rPr>
              <a:t>AD: Account Home</a:t>
            </a:r>
            <a:endParaRPr lang="en-US" sz="1100" dirty="0"/>
          </a:p>
        </p:txBody>
      </p:sp>
      <p:sp>
        <p:nvSpPr>
          <p:cNvPr id="21" name="Text 19"/>
          <p:cNvSpPr/>
          <p:nvPr/>
        </p:nvSpPr>
        <p:spPr>
          <a:xfrm>
            <a:off x="9692640" y="2148840"/>
            <a:ext cx="1554480" cy="512064"/>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pg. 708936606</a:t>
            </a:r>
            <a:endParaRPr lang="en-US" sz="950" dirty="0"/>
          </a:p>
        </p:txBody>
      </p:sp>
      <p:sp>
        <p:nvSpPr>
          <p:cNvPr id="22" name="Shape 20"/>
          <p:cNvSpPr/>
          <p:nvPr/>
        </p:nvSpPr>
        <p:spPr>
          <a:xfrm>
            <a:off x="6364224" y="2770632"/>
            <a:ext cx="5029200" cy="512064"/>
          </a:xfrm>
          <a:prstGeom prst="roundRect">
            <a:avLst>
              <a:gd name="adj" fmla="val 8929"/>
            </a:avLst>
          </a:prstGeom>
          <a:solidFill>
            <a:srgbClr val="FFFFFF"/>
          </a:solidFill>
          <a:ln w="12700">
            <a:solidFill>
              <a:srgbClr val="D9E2EC"/>
            </a:solidFill>
            <a:prstDash val="solid"/>
          </a:ln>
        </p:spPr>
      </p:sp>
      <p:sp>
        <p:nvSpPr>
          <p:cNvPr id="23" name="Text 21"/>
          <p:cNvSpPr/>
          <p:nvPr/>
        </p:nvSpPr>
        <p:spPr>
          <a:xfrm>
            <a:off x="6528816" y="2770632"/>
            <a:ext cx="3291840" cy="512064"/>
          </a:xfrm>
          <a:prstGeom prst="rect">
            <a:avLst/>
          </a:prstGeom>
          <a:noFill/>
          <a:ln/>
        </p:spPr>
        <p:txBody>
          <a:bodyPr wrap="square" lIns="0" tIns="0" rIns="0" bIns="0" rtlCol="0" anchor="ctr"/>
          <a:lstStyle/>
          <a:p>
            <a:pPr indent="0" marL="0">
              <a:buNone/>
            </a:pPr>
            <a:r>
              <a:rPr lang="en-US" sz="1100" b="1" dirty="0">
                <a:solidFill>
                  <a:srgbClr val="27364B"/>
                </a:solidFill>
                <a:latin typeface="Calibri" pitchFamily="34" charset="0"/>
                <a:ea typeface="Calibri" pitchFamily="34" charset="-122"/>
                <a:cs typeface="Calibri" pitchFamily="34" charset="-120"/>
              </a:rPr>
              <a:t>Cache Implementation</a:t>
            </a:r>
            <a:endParaRPr lang="en-US" sz="1100" dirty="0"/>
          </a:p>
        </p:txBody>
      </p:sp>
      <p:sp>
        <p:nvSpPr>
          <p:cNvPr id="24" name="Text 22"/>
          <p:cNvSpPr/>
          <p:nvPr/>
        </p:nvSpPr>
        <p:spPr>
          <a:xfrm>
            <a:off x="9692640" y="2770632"/>
            <a:ext cx="1554480" cy="512064"/>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pg. 708940873</a:t>
            </a:r>
            <a:endParaRPr lang="en-US" sz="950" dirty="0"/>
          </a:p>
        </p:txBody>
      </p:sp>
      <p:sp>
        <p:nvSpPr>
          <p:cNvPr id="25" name="Shape 23"/>
          <p:cNvSpPr/>
          <p:nvPr/>
        </p:nvSpPr>
        <p:spPr>
          <a:xfrm>
            <a:off x="6364224" y="3392424"/>
            <a:ext cx="5029200" cy="512064"/>
          </a:xfrm>
          <a:prstGeom prst="roundRect">
            <a:avLst>
              <a:gd name="adj" fmla="val 8929"/>
            </a:avLst>
          </a:prstGeom>
          <a:solidFill>
            <a:srgbClr val="FFFFFF"/>
          </a:solidFill>
          <a:ln w="12700">
            <a:solidFill>
              <a:srgbClr val="D9E2EC"/>
            </a:solidFill>
            <a:prstDash val="solid"/>
          </a:ln>
        </p:spPr>
      </p:sp>
      <p:sp>
        <p:nvSpPr>
          <p:cNvPr id="26" name="Text 24"/>
          <p:cNvSpPr/>
          <p:nvPr/>
        </p:nvSpPr>
        <p:spPr>
          <a:xfrm>
            <a:off x="6528816" y="3392424"/>
            <a:ext cx="3291840" cy="512064"/>
          </a:xfrm>
          <a:prstGeom prst="rect">
            <a:avLst/>
          </a:prstGeom>
          <a:noFill/>
          <a:ln/>
        </p:spPr>
        <p:txBody>
          <a:bodyPr wrap="square" lIns="0" tIns="0" rIns="0" bIns="0" rtlCol="0" anchor="ctr"/>
          <a:lstStyle/>
          <a:p>
            <a:pPr indent="0" marL="0">
              <a:buNone/>
            </a:pPr>
            <a:r>
              <a:rPr lang="en-US" sz="1100" b="1" dirty="0">
                <a:solidFill>
                  <a:srgbClr val="27364B"/>
                </a:solidFill>
                <a:latin typeface="Calibri" pitchFamily="34" charset="0"/>
                <a:ea typeface="Calibri" pitchFamily="34" charset="-122"/>
                <a:cs typeface="Calibri" pitchFamily="34" charset="-120"/>
              </a:rPr>
              <a:t>AD: Account Home + 2026 Improvements</a:t>
            </a:r>
            <a:endParaRPr lang="en-US" sz="1100" dirty="0"/>
          </a:p>
        </p:txBody>
      </p:sp>
      <p:sp>
        <p:nvSpPr>
          <p:cNvPr id="27" name="Text 25"/>
          <p:cNvSpPr/>
          <p:nvPr/>
        </p:nvSpPr>
        <p:spPr>
          <a:xfrm>
            <a:off x="9692640" y="3392424"/>
            <a:ext cx="1554480" cy="512064"/>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pg. 709830164</a:t>
            </a:r>
            <a:endParaRPr lang="en-US" sz="950" dirty="0"/>
          </a:p>
        </p:txBody>
      </p:sp>
      <p:sp>
        <p:nvSpPr>
          <p:cNvPr id="28" name="Shape 26"/>
          <p:cNvSpPr/>
          <p:nvPr/>
        </p:nvSpPr>
        <p:spPr>
          <a:xfrm>
            <a:off x="6364224" y="4014216"/>
            <a:ext cx="5029200" cy="512064"/>
          </a:xfrm>
          <a:prstGeom prst="roundRect">
            <a:avLst>
              <a:gd name="adj" fmla="val 8929"/>
            </a:avLst>
          </a:prstGeom>
          <a:solidFill>
            <a:srgbClr val="FFFFFF"/>
          </a:solidFill>
          <a:ln w="12700">
            <a:solidFill>
              <a:srgbClr val="D9E2EC"/>
            </a:solidFill>
            <a:prstDash val="solid"/>
          </a:ln>
        </p:spPr>
      </p:sp>
      <p:sp>
        <p:nvSpPr>
          <p:cNvPr id="29" name="Text 27"/>
          <p:cNvSpPr/>
          <p:nvPr/>
        </p:nvSpPr>
        <p:spPr>
          <a:xfrm>
            <a:off x="6528816" y="4014216"/>
            <a:ext cx="3291840" cy="512064"/>
          </a:xfrm>
          <a:prstGeom prst="rect">
            <a:avLst/>
          </a:prstGeom>
          <a:noFill/>
          <a:ln/>
        </p:spPr>
        <p:txBody>
          <a:bodyPr wrap="square" lIns="0" tIns="0" rIns="0" bIns="0" rtlCol="0" anchor="ctr"/>
          <a:lstStyle/>
          <a:p>
            <a:pPr indent="0" marL="0">
              <a:buNone/>
            </a:pPr>
            <a:r>
              <a:rPr lang="en-US" sz="1100" b="1" dirty="0">
                <a:solidFill>
                  <a:srgbClr val="27364B"/>
                </a:solidFill>
                <a:latin typeface="Calibri" pitchFamily="34" charset="0"/>
                <a:ea typeface="Calibri" pitchFamily="34" charset="-122"/>
                <a:cs typeface="Calibri" pitchFamily="34" charset="-120"/>
              </a:rPr>
              <a:t>Performance - Analysis</a:t>
            </a:r>
            <a:endParaRPr lang="en-US" sz="1100" dirty="0"/>
          </a:p>
        </p:txBody>
      </p:sp>
      <p:sp>
        <p:nvSpPr>
          <p:cNvPr id="30" name="Text 28"/>
          <p:cNvSpPr/>
          <p:nvPr/>
        </p:nvSpPr>
        <p:spPr>
          <a:xfrm>
            <a:off x="9692640" y="4014216"/>
            <a:ext cx="1554480" cy="512064"/>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pg. 719633849</a:t>
            </a:r>
            <a:endParaRPr lang="en-US" sz="950" dirty="0"/>
          </a:p>
        </p:txBody>
      </p:sp>
      <p:sp>
        <p:nvSpPr>
          <p:cNvPr id="31" name="Shape 29"/>
          <p:cNvSpPr/>
          <p:nvPr/>
        </p:nvSpPr>
        <p:spPr>
          <a:xfrm>
            <a:off x="6364224" y="4681728"/>
            <a:ext cx="5029200" cy="0"/>
          </a:xfrm>
          <a:prstGeom prst="line">
            <a:avLst/>
          </a:prstGeom>
          <a:noFill/>
          <a:ln w="12700">
            <a:solidFill>
              <a:srgbClr val="D9E2EC"/>
            </a:solidFill>
            <a:prstDash val="solid"/>
          </a:ln>
        </p:spPr>
      </p:sp>
      <p:sp>
        <p:nvSpPr>
          <p:cNvPr id="32" name="Text 30"/>
          <p:cNvSpPr/>
          <p:nvPr/>
        </p:nvSpPr>
        <p:spPr>
          <a:xfrm>
            <a:off x="6364224" y="4818888"/>
            <a:ext cx="5029200" cy="777240"/>
          </a:xfrm>
          <a:prstGeom prst="rect">
            <a:avLst/>
          </a:prstGeom>
          <a:noFill/>
          <a:ln/>
        </p:spPr>
        <p:txBody>
          <a:bodyPr wrap="square" lIns="0" tIns="0" rIns="0" bIns="0" rtlCol="0" anchor="ctr"/>
          <a:lstStyle/>
          <a:p>
            <a:pPr indent="0" marL="0">
              <a:buNone/>
            </a:pPr>
            <a:r>
              <a:rPr lang="en-US" sz="1000" i="1" dirty="0">
                <a:solidFill>
                  <a:srgbClr val="5B6472"/>
                </a:solidFill>
                <a:latin typeface="Calibri" pitchFamily="34" charset="0"/>
                <a:ea typeface="Calibri" pitchFamily="34" charset="-122"/>
                <a:cs typeface="Calibri" pitchFamily="34" charset="-120"/>
              </a:rPr>
              <a:t>Eleven patterns were evaluated in total across the architecture audit and the frontend/edge review. This deck details the eight that are applied; the closing recommendations slide covers the remaining three.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 Home — Performance Improvements</dc:title>
  <dc:subject>PptxGenJS Presentation</dc:subject>
  <dc:creator>Rudra</dc:creator>
  <cp:lastModifiedBy>Rudra</cp:lastModifiedBy>
  <cp:revision>1</cp:revision>
  <dcterms:created xsi:type="dcterms:W3CDTF">2026-08-04T03:09:35Z</dcterms:created>
  <dcterms:modified xsi:type="dcterms:W3CDTF">2026-08-04T03:09:35Z</dcterms:modified>
</cp:coreProperties>
</file>